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02" y="6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heme" Target="theme/theme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767" y="274320"/>
            <a:ext cx="8246465" cy="849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1121" y="804443"/>
            <a:ext cx="8061756" cy="2586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5.jpg"/><Relationship Id="rId4" Type="http://schemas.openxmlformats.org/officeDocument/2006/relationships/image" Target="../media/image104.jp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jpg"/><Relationship Id="rId4" Type="http://schemas.openxmlformats.org/officeDocument/2006/relationships/image" Target="../media/image108.jp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jpg"/><Relationship Id="rId4" Type="http://schemas.openxmlformats.org/officeDocument/2006/relationships/image" Target="../media/image112.jp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jpg"/><Relationship Id="rId4" Type="http://schemas.openxmlformats.org/officeDocument/2006/relationships/image" Target="../media/image116.jp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jpg"/><Relationship Id="rId4" Type="http://schemas.openxmlformats.org/officeDocument/2006/relationships/image" Target="../media/image120.jp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jp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jp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5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g"/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0446" y="2443988"/>
            <a:ext cx="484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1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re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906" y="409504"/>
            <a:ext cx="7882890" cy="321246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722370">
              <a:lnSpc>
                <a:spcPct val="100000"/>
              </a:lnSpc>
              <a:spcBef>
                <a:spcPts val="1125"/>
              </a:spcBef>
            </a:pPr>
            <a:r>
              <a:rPr sz="1700" b="1" dirty="0">
                <a:latin typeface="Times New Roman"/>
                <a:cs typeface="Times New Roman"/>
              </a:rPr>
              <a:t>Tree</a:t>
            </a:r>
            <a:endParaRPr sz="17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spc="-5" dirty="0">
                <a:latin typeface="Times New Roman"/>
                <a:cs typeface="Times New Roman"/>
              </a:rPr>
              <a:t>Tree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hierarchical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data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structure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stores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information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naturally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form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hierarchy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style.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25"/>
              </a:spcBef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one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most powerful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 advanced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structures.</a:t>
            </a:r>
            <a:endParaRPr sz="17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50000"/>
              </a:lnSpc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tree</a:t>
            </a:r>
            <a:r>
              <a:rPr sz="1700" b="1" spc="3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nonlinear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data</a:t>
            </a:r>
            <a:r>
              <a:rPr sz="1700" b="1" spc="34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structure</a:t>
            </a:r>
            <a:r>
              <a:rPr sz="1700" spc="-5" dirty="0">
                <a:latin typeface="Times New Roman"/>
                <a:cs typeface="Times New Roman"/>
              </a:rPr>
              <a:t>,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compared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arrays,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linked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lists,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stacks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queues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linear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data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structures</a:t>
            </a:r>
            <a:r>
              <a:rPr sz="1700" spc="-5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50000"/>
              </a:lnSpc>
              <a:spcBef>
                <a:spcPts val="600"/>
              </a:spcBef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5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2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collection</a:t>
            </a:r>
            <a:r>
              <a:rPr sz="1700" spc="2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entities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called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nodes.</a:t>
            </a:r>
            <a:r>
              <a:rPr sz="1700" spc="2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Nodes</a:t>
            </a:r>
            <a:r>
              <a:rPr sz="1700" spc="2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are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connected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edges.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Each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contains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 data,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 have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758" y="102695"/>
            <a:ext cx="6949440" cy="430149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700" b="1" dirty="0">
                <a:latin typeface="Times New Roman"/>
                <a:cs typeface="Times New Roman"/>
              </a:rPr>
              <a:t>Important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Terms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Root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topmost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Edge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link </a:t>
            </a:r>
            <a:r>
              <a:rPr sz="1700" dirty="0">
                <a:latin typeface="Times New Roman"/>
                <a:cs typeface="Times New Roman"/>
              </a:rPr>
              <a:t>between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nodes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Child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parent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Parent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 node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has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edge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child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Leaf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 does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have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 </a:t>
            </a:r>
            <a:r>
              <a:rPr sz="1700" dirty="0">
                <a:latin typeface="Times New Roman"/>
                <a:cs typeface="Times New Roman"/>
              </a:rPr>
              <a:t>the tree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Height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length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longest</a:t>
            </a:r>
            <a:r>
              <a:rPr sz="1700" spc="-5" dirty="0">
                <a:latin typeface="Times New Roman"/>
                <a:cs typeface="Times New Roman"/>
              </a:rPr>
              <a:t> path to</a:t>
            </a:r>
            <a:r>
              <a:rPr sz="1700" dirty="0">
                <a:latin typeface="Times New Roman"/>
                <a:cs typeface="Times New Roman"/>
              </a:rPr>
              <a:t> 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leaf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Depth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length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path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its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Siblings</a:t>
            </a:r>
            <a:r>
              <a:rPr sz="1700" b="1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with</a:t>
            </a:r>
            <a:r>
              <a:rPr sz="1700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same </a:t>
            </a:r>
            <a:r>
              <a:rPr sz="1700" dirty="0">
                <a:latin typeface="Times New Roman"/>
                <a:cs typeface="Times New Roman"/>
              </a:rPr>
              <a:t>parent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called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Siblings.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Degree</a:t>
            </a:r>
            <a:r>
              <a:rPr sz="1700" b="1" spc="-4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Node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Degree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5" dirty="0">
                <a:latin typeface="Times New Roman"/>
                <a:cs typeface="Times New Roman"/>
              </a:rPr>
              <a:t> represents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 number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children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Visiting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refers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checking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control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node.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691" y="607314"/>
            <a:ext cx="8033384" cy="209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Times New Roman"/>
                <a:cs typeface="Times New Roman"/>
              </a:rPr>
              <a:t>Traversing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means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passing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specific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order.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100"/>
              </a:lnSpc>
              <a:spcBef>
                <a:spcPts val="5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Times New Roman"/>
                <a:cs typeface="Times New Roman"/>
              </a:rPr>
              <a:t>Level</a:t>
            </a:r>
            <a:r>
              <a:rPr sz="1800" b="1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represents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generation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node.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root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level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next child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-5" dirty="0">
                <a:latin typeface="Times New Roman"/>
                <a:cs typeface="Times New Roman"/>
              </a:rPr>
              <a:t> its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grandchild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 and </a:t>
            </a:r>
            <a:r>
              <a:rPr sz="1800" spc="-5" dirty="0">
                <a:latin typeface="Times New Roman"/>
                <a:cs typeface="Times New Roman"/>
              </a:rPr>
              <a:t>so</a:t>
            </a:r>
            <a:r>
              <a:rPr sz="1800" dirty="0">
                <a:latin typeface="Times New Roman"/>
                <a:cs typeface="Times New Roman"/>
              </a:rPr>
              <a:t> on.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Times New Roman"/>
                <a:cs typeface="Times New Roman"/>
              </a:rPr>
              <a:t>Key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represents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value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search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operation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carried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Times New Roman"/>
                <a:cs typeface="Times New Roman"/>
              </a:rPr>
              <a:t>out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node.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0672" y="2554722"/>
            <a:ext cx="3960371" cy="2185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758" y="382269"/>
            <a:ext cx="12242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Height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758" y="728096"/>
            <a:ext cx="8009890" cy="158940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Height</a:t>
            </a:r>
            <a:r>
              <a:rPr sz="1600" b="1" spc="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5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node</a:t>
            </a:r>
            <a:r>
              <a:rPr sz="1600" b="1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–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height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number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longest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downward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Height</a:t>
            </a:r>
            <a:r>
              <a:rPr sz="1600" b="1" spc="16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of</a:t>
            </a:r>
            <a:r>
              <a:rPr sz="1600" b="1" spc="1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tree</a:t>
            </a:r>
            <a:r>
              <a:rPr sz="1600" b="1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–The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height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number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longest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downward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root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198" y="2809665"/>
            <a:ext cx="4001521" cy="16287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17209" y="3668369"/>
            <a:ext cx="2684145" cy="815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5"/>
              </a:spcBef>
            </a:pPr>
            <a:r>
              <a:rPr sz="1500" spc="-5" dirty="0">
                <a:latin typeface="Times New Roman"/>
                <a:cs typeface="Times New Roman"/>
              </a:rPr>
              <a:t>Here,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Height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2,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 = 2, </a:t>
            </a:r>
            <a:r>
              <a:rPr sz="1500" spc="-5" dirty="0">
                <a:latin typeface="Times New Roman"/>
                <a:cs typeface="Times New Roman"/>
              </a:rPr>
              <a:t>D </a:t>
            </a:r>
            <a:r>
              <a:rPr sz="1500" dirty="0">
                <a:latin typeface="Times New Roman"/>
                <a:cs typeface="Times New Roman"/>
              </a:rPr>
              <a:t>= 0, E = 1, </a:t>
            </a:r>
            <a:r>
              <a:rPr sz="1500" spc="-5" dirty="0">
                <a:latin typeface="Times New Roman"/>
                <a:cs typeface="Times New Roman"/>
              </a:rPr>
              <a:t>F </a:t>
            </a:r>
            <a:r>
              <a:rPr sz="1500" dirty="0">
                <a:latin typeface="Times New Roman"/>
                <a:cs typeface="Times New Roman"/>
              </a:rPr>
              <a:t>= 0, </a:t>
            </a:r>
            <a:r>
              <a:rPr sz="1500" spc="-5" dirty="0">
                <a:latin typeface="Times New Roman"/>
                <a:cs typeface="Times New Roman"/>
              </a:rPr>
              <a:t>G </a:t>
            </a:r>
            <a:r>
              <a:rPr sz="1500" dirty="0">
                <a:latin typeface="Times New Roman"/>
                <a:cs typeface="Times New Roman"/>
              </a:rPr>
              <a:t>= 1, 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 </a:t>
            </a:r>
            <a:r>
              <a:rPr sz="1500" spc="-5" dirty="0">
                <a:latin typeface="Times New Roman"/>
                <a:cs typeface="Times New Roman"/>
              </a:rPr>
              <a:t>0,J </a:t>
            </a:r>
            <a:r>
              <a:rPr sz="1500" dirty="0">
                <a:latin typeface="Times New Roman"/>
                <a:cs typeface="Times New Roman"/>
              </a:rPr>
              <a:t>= 0,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K</a:t>
            </a:r>
            <a:r>
              <a:rPr sz="1500" dirty="0">
                <a:latin typeface="Times New Roman"/>
                <a:cs typeface="Times New Roman"/>
              </a:rPr>
              <a:t> 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202" y="562736"/>
            <a:ext cx="7496809" cy="147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Depth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tree</a:t>
            </a: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Total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dirty="0">
                <a:latin typeface="Times New Roman"/>
                <a:cs typeface="Times New Roman"/>
              </a:rPr>
              <a:t> of </a:t>
            </a:r>
            <a:r>
              <a:rPr sz="1500" spc="-5" dirty="0">
                <a:latin typeface="Times New Roman"/>
                <a:cs typeface="Times New Roman"/>
              </a:rPr>
              <a:t>edges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root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particular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called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depth</a:t>
            </a:r>
            <a:r>
              <a:rPr sz="1500" b="1" dirty="0">
                <a:latin typeface="Times New Roman"/>
                <a:cs typeface="Times New Roman"/>
              </a:rPr>
              <a:t> of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that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node</a:t>
            </a:r>
            <a:r>
              <a:rPr sz="1500" dirty="0">
                <a:latin typeface="Times New Roman"/>
                <a:cs typeface="Times New Roman"/>
              </a:rPr>
              <a:t>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Depth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 a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tree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 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total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root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longest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path.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Depth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root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003" y="2684232"/>
            <a:ext cx="3687489" cy="15180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66028" y="2833243"/>
            <a:ext cx="2631440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Here, Depth</a:t>
            </a:r>
            <a:r>
              <a:rPr sz="1500" dirty="0">
                <a:latin typeface="Times New Roman"/>
                <a:cs typeface="Times New Roman"/>
              </a:rPr>
              <a:t> 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1,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2,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500" spc="-5" dirty="0">
                <a:latin typeface="Times New Roman"/>
                <a:cs typeface="Times New Roman"/>
              </a:rPr>
              <a:t>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J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K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848" y="505460"/>
            <a:ext cx="8114030" cy="148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996430" algn="ct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Level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6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step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top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bottom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level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defined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connections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  <a:p>
            <a:pPr marR="7016115" algn="ctr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root.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594" y="2457780"/>
            <a:ext cx="3809362" cy="1881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780" y="521589"/>
            <a:ext cx="5943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D</a:t>
            </a:r>
            <a:r>
              <a:rPr sz="1500" b="1" spc="-15" dirty="0">
                <a:latin typeface="Times New Roman"/>
                <a:cs typeface="Times New Roman"/>
              </a:rPr>
              <a:t>e</a:t>
            </a:r>
            <a:r>
              <a:rPr sz="1500" b="1" dirty="0">
                <a:latin typeface="Times New Roman"/>
                <a:cs typeface="Times New Roman"/>
              </a:rPr>
              <a:t>g</a:t>
            </a:r>
            <a:r>
              <a:rPr sz="1500" b="1" spc="-10" dirty="0">
                <a:latin typeface="Times New Roman"/>
                <a:cs typeface="Times New Roman"/>
              </a:rPr>
              <a:t>re</a:t>
            </a:r>
            <a:r>
              <a:rPr sz="1500" b="1" dirty="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3780" y="902589"/>
            <a:ext cx="6441440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Degree</a:t>
            </a:r>
            <a:r>
              <a:rPr sz="1500" b="1" dirty="0">
                <a:latin typeface="Times New Roman"/>
                <a:cs typeface="Times New Roman"/>
              </a:rPr>
              <a:t> of a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node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dirty="0">
                <a:latin typeface="Times New Roman"/>
                <a:cs typeface="Times New Roman"/>
              </a:rPr>
              <a:t> 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total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children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Degree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 a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tree</a:t>
            </a:r>
            <a:r>
              <a:rPr sz="1500" b="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highest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degree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 node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among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all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31" y="2232660"/>
            <a:ext cx="4213956" cy="19324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01436" y="2658675"/>
            <a:ext cx="3152775" cy="76263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00" dirty="0">
                <a:latin typeface="Times New Roman"/>
                <a:cs typeface="Times New Roman"/>
              </a:rPr>
              <a:t>Here,Degree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 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 =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0,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dirty="0">
                <a:latin typeface="Times New Roman"/>
                <a:cs typeface="Times New Roman"/>
              </a:rPr>
              <a:t>K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417" y="413130"/>
            <a:ext cx="8074659" cy="39568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Applications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Trees</a:t>
            </a:r>
            <a:endParaRPr sz="1600" dirty="0">
              <a:latin typeface="Times New Roman"/>
              <a:cs typeface="Times New Roman"/>
            </a:endParaRPr>
          </a:p>
          <a:p>
            <a:pPr marL="354965" marR="7620" indent="-342900">
              <a:lnSpc>
                <a:spcPct val="150100"/>
              </a:lnSpc>
              <a:spcBef>
                <a:spcPts val="80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Binary </a:t>
            </a:r>
            <a:r>
              <a:rPr sz="1600" dirty="0">
                <a:latin typeface="Times New Roman"/>
                <a:cs typeface="Times New Roman"/>
              </a:rPr>
              <a:t>Search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Trees(BSTs)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quickly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check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whether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present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not.</a:t>
            </a: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Heap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 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kind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heap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sort.</a:t>
            </a:r>
            <a:endParaRPr sz="1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modified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version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lang="en-US" sz="1600" spc="10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Tries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modern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routers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store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routing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information.</a:t>
            </a:r>
            <a:endParaRPr sz="1600" dirty="0">
              <a:latin typeface="Times New Roman"/>
              <a:cs typeface="Times New Roman"/>
            </a:endParaRPr>
          </a:p>
          <a:p>
            <a:pPr marL="354965" marR="6985" indent="-342900">
              <a:lnSpc>
                <a:spcPct val="150000"/>
              </a:lnSpc>
              <a:spcBef>
                <a:spcPts val="5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Most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popular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databases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Times New Roman"/>
                <a:cs typeface="Times New Roman"/>
              </a:rPr>
              <a:t>B-trees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Times New Roman"/>
                <a:cs typeface="Times New Roman"/>
              </a:rPr>
              <a:t>T-trees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variants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structure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learned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above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store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their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endParaRPr sz="1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Compilers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syntax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validate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syntax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every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program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you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write.</a:t>
            </a:r>
            <a:endParaRPr sz="1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>
                <a:latin typeface="Times New Roman"/>
                <a:cs typeface="Times New Roman"/>
              </a:rPr>
              <a:t>Spanning</a:t>
            </a:r>
            <a:r>
              <a:rPr sz="1600" spc="475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shortest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path</a:t>
            </a:r>
            <a:r>
              <a:rPr sz="1600" spc="4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trees</a:t>
            </a:r>
            <a:r>
              <a:rPr sz="1600" spc="4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routers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bridges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respectively</a:t>
            </a:r>
            <a:r>
              <a:rPr sz="1600" spc="48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in</a:t>
            </a:r>
            <a:endParaRPr sz="1600" dirty="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965"/>
              </a:spcBef>
            </a:pPr>
            <a:r>
              <a:rPr sz="1600" spc="-10" dirty="0">
                <a:latin typeface="Times New Roman"/>
                <a:cs typeface="Times New Roman"/>
              </a:rPr>
              <a:t>computer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networks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3" y="529208"/>
            <a:ext cx="7746365" cy="3802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962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Times New Roman"/>
                <a:cs typeface="Times New Roman"/>
              </a:rPr>
              <a:t>Binary</a:t>
            </a:r>
            <a:r>
              <a:rPr sz="1700" b="1" spc="-4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Tree</a:t>
            </a:r>
            <a:endParaRPr sz="17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100"/>
              </a:lnSpc>
              <a:spcBef>
                <a:spcPts val="8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special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type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data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structure.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1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tree,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every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1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can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have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maximum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 </a:t>
            </a:r>
            <a:r>
              <a:rPr sz="1700" spc="-5" dirty="0">
                <a:latin typeface="Times New Roman"/>
                <a:cs typeface="Times New Roman"/>
              </a:rPr>
              <a:t>children,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as </a:t>
            </a:r>
            <a:r>
              <a:rPr sz="1700" b="1" dirty="0">
                <a:latin typeface="Times New Roman"/>
                <a:cs typeface="Times New Roman"/>
              </a:rPr>
              <a:t>Left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child</a:t>
            </a:r>
            <a:r>
              <a:rPr sz="1700" b="1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Right</a:t>
            </a:r>
            <a:r>
              <a:rPr sz="1700" b="1" spc="-5" dirty="0">
                <a:latin typeface="Times New Roman"/>
                <a:cs typeface="Times New Roman"/>
              </a:rPr>
              <a:t> Child</a:t>
            </a:r>
            <a:r>
              <a:rPr sz="1700" spc="-5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every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can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have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maximum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children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called</a:t>
            </a:r>
            <a:r>
              <a:rPr sz="1700" spc="2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Binary</a:t>
            </a:r>
            <a:endParaRPr sz="17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19"/>
              </a:spcBef>
            </a:pPr>
            <a:r>
              <a:rPr sz="1700" dirty="0">
                <a:latin typeface="Times New Roman"/>
                <a:cs typeface="Times New Roman"/>
              </a:rPr>
              <a:t>Tree.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terminology: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depth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edges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dirty="0">
                <a:latin typeface="Times New Roman"/>
                <a:cs typeface="Times New Roman"/>
              </a:rPr>
              <a:t> 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5" dirty="0">
                <a:latin typeface="Times New Roman"/>
                <a:cs typeface="Times New Roman"/>
              </a:rPr>
              <a:t> to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height 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edges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deepest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leaf.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height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height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root.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517" y="438150"/>
            <a:ext cx="8228965" cy="3647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Types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full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tree/Strictly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each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exactly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zero</a:t>
            </a:r>
            <a:endParaRPr sz="1600" dirty="0">
              <a:latin typeface="Times New Roman"/>
              <a:cs typeface="Times New Roman"/>
            </a:endParaRPr>
          </a:p>
          <a:p>
            <a:pPr marL="299085" algn="just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children.</a:t>
            </a:r>
            <a:endParaRPr sz="1600" dirty="0">
              <a:latin typeface="Times New Roman"/>
              <a:cs typeface="Times New Roman"/>
            </a:endParaRPr>
          </a:p>
          <a:p>
            <a:pPr marL="299085" marR="6350" indent="-287020" algn="just">
              <a:lnSpc>
                <a:spcPct val="115300"/>
              </a:lnSpc>
              <a:spcBef>
                <a:spcPts val="79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complete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 is</a:t>
            </a:r>
            <a:r>
              <a:rPr sz="1600" dirty="0">
                <a:latin typeface="Times New Roman"/>
                <a:cs typeface="Times New Roman"/>
              </a:rPr>
              <a:t> a </a:t>
            </a: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tree, which 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completely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filled, with</a:t>
            </a:r>
            <a:r>
              <a:rPr sz="1600" dirty="0">
                <a:latin typeface="Times New Roman"/>
                <a:cs typeface="Times New Roman"/>
              </a:rPr>
              <a:t> the </a:t>
            </a:r>
            <a:r>
              <a:rPr sz="1600" spc="-5" dirty="0">
                <a:latin typeface="Times New Roman"/>
                <a:cs typeface="Times New Roman"/>
              </a:rPr>
              <a:t>possible </a:t>
            </a:r>
            <a:r>
              <a:rPr sz="1600" dirty="0">
                <a:latin typeface="Times New Roman"/>
                <a:cs typeface="Times New Roman"/>
              </a:rPr>
              <a:t> exception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the</a:t>
            </a:r>
            <a:r>
              <a:rPr sz="1600" spc="-5" dirty="0">
                <a:latin typeface="Times New Roman"/>
                <a:cs typeface="Times New Roman"/>
              </a:rPr>
              <a:t> bottom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level,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filled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left</a:t>
            </a:r>
            <a:r>
              <a:rPr sz="1600" spc="-5" dirty="0">
                <a:latin typeface="Times New Roman"/>
                <a:cs typeface="Times New Roman"/>
              </a:rPr>
              <a:t> 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lang="en-US" sz="1600" spc="165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complete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levels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completely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filled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except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possibly</a:t>
            </a:r>
            <a:endParaRPr sz="1600" dirty="0">
              <a:latin typeface="Times New Roman"/>
              <a:cs typeface="Times New Roman"/>
            </a:endParaRPr>
          </a:p>
          <a:p>
            <a:pPr marL="299085" algn="just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 has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 </a:t>
            </a:r>
            <a:r>
              <a:rPr sz="1600" dirty="0">
                <a:latin typeface="Times New Roman"/>
                <a:cs typeface="Times New Roman"/>
              </a:rPr>
              <a:t>keys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left</a:t>
            </a:r>
            <a:r>
              <a:rPr sz="1600" spc="-5" dirty="0">
                <a:latin typeface="Times New Roman"/>
                <a:cs typeface="Times New Roman"/>
              </a:rPr>
              <a:t> 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possible.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14999"/>
              </a:lnSpc>
              <a:spcBef>
                <a:spcPts val="81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The height h of a </a:t>
            </a:r>
            <a:r>
              <a:rPr sz="1600" spc="-5" dirty="0">
                <a:latin typeface="Times New Roman"/>
                <a:cs typeface="Times New Roman"/>
              </a:rPr>
              <a:t>complete </a:t>
            </a:r>
            <a:r>
              <a:rPr sz="1600" dirty="0">
                <a:latin typeface="Times New Roman"/>
                <a:cs typeface="Times New Roman"/>
              </a:rPr>
              <a:t>binary tree </a:t>
            </a:r>
            <a:r>
              <a:rPr sz="1600" spc="-5" dirty="0">
                <a:latin typeface="Times New Roman"/>
                <a:cs typeface="Times New Roman"/>
              </a:rPr>
              <a:t>with </a:t>
            </a:r>
            <a:r>
              <a:rPr sz="1600" dirty="0">
                <a:latin typeface="Times New Roman"/>
                <a:cs typeface="Times New Roman"/>
              </a:rPr>
              <a:t>N </a:t>
            </a:r>
            <a:r>
              <a:rPr sz="1600" spc="-5" dirty="0">
                <a:latin typeface="Times New Roman"/>
                <a:cs typeface="Times New Roman"/>
              </a:rPr>
              <a:t>nodes is at </a:t>
            </a:r>
            <a:r>
              <a:rPr sz="1600" dirty="0">
                <a:latin typeface="Times New Roman"/>
                <a:cs typeface="Times New Roman"/>
              </a:rPr>
              <a:t>most O </a:t>
            </a:r>
            <a:r>
              <a:rPr sz="1600" spc="-5" dirty="0">
                <a:latin typeface="Times New Roman"/>
                <a:cs typeface="Times New Roman"/>
              </a:rPr>
              <a:t>(log </a:t>
            </a:r>
            <a:r>
              <a:rPr sz="1600" dirty="0">
                <a:latin typeface="Times New Roman"/>
                <a:cs typeface="Times New Roman"/>
              </a:rPr>
              <a:t>N). We </a:t>
            </a:r>
            <a:r>
              <a:rPr sz="1600" spc="-5" dirty="0">
                <a:latin typeface="Times New Roman"/>
                <a:cs typeface="Times New Roman"/>
              </a:rPr>
              <a:t>can easily </a:t>
            </a:r>
            <a:r>
              <a:rPr sz="1600" dirty="0">
                <a:latin typeface="Times New Roman"/>
                <a:cs typeface="Times New Roman"/>
              </a:rPr>
              <a:t> prove </a:t>
            </a:r>
            <a:r>
              <a:rPr sz="1600" spc="-5" dirty="0">
                <a:latin typeface="Times New Roman"/>
                <a:cs typeface="Times New Roman"/>
              </a:rPr>
              <a:t>this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5" dirty="0">
                <a:latin typeface="Times New Roman"/>
                <a:cs typeface="Times New Roman"/>
              </a:rPr>
              <a:t>counting nodes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5" dirty="0">
                <a:latin typeface="Times New Roman"/>
                <a:cs typeface="Times New Roman"/>
              </a:rPr>
              <a:t>each level, starting </a:t>
            </a:r>
            <a:r>
              <a:rPr sz="1600" dirty="0">
                <a:latin typeface="Times New Roman"/>
                <a:cs typeface="Times New Roman"/>
              </a:rPr>
              <a:t>with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root, </a:t>
            </a:r>
            <a:r>
              <a:rPr sz="1600" spc="-5" dirty="0">
                <a:latin typeface="Times New Roman"/>
                <a:cs typeface="Times New Roman"/>
              </a:rPr>
              <a:t>assuming that each </a:t>
            </a:r>
            <a:r>
              <a:rPr sz="1600" dirty="0">
                <a:latin typeface="Times New Roman"/>
                <a:cs typeface="Times New Roman"/>
              </a:rPr>
              <a:t>level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maximum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nodes:</a:t>
            </a:r>
          </a:p>
          <a:p>
            <a:pPr marL="469900">
              <a:lnSpc>
                <a:spcPct val="100000"/>
              </a:lnSpc>
              <a:spcBef>
                <a:spcPts val="1105"/>
              </a:spcBef>
            </a:pP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O(log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839" y="570357"/>
            <a:ext cx="79419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Strictly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also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called as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Full Binary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Tree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Proper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Binary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Tree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2-Tree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0216" y="1339850"/>
            <a:ext cx="1973728" cy="1317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1324" y="2829305"/>
            <a:ext cx="7358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Example: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Strictly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structure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mathematical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expressions.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813" y="3339082"/>
            <a:ext cx="3972236" cy="17663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054" y="631951"/>
            <a:ext cx="542290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Complete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also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called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as </a:t>
            </a:r>
            <a:r>
              <a:rPr sz="1700" b="1" dirty="0">
                <a:latin typeface="Times New Roman"/>
                <a:cs typeface="Times New Roman"/>
              </a:rPr>
              <a:t>Perfect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Binary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Tree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3054" y="2955518"/>
            <a:ext cx="7992745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Extended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Tree: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binary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can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be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converted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into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Full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Binary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adding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dummy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existing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wherever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required.</a:t>
            </a:r>
            <a:endParaRPr sz="1700">
              <a:latin typeface="Times New Roman"/>
              <a:cs typeface="Times New Roman"/>
            </a:endParaRPr>
          </a:p>
          <a:p>
            <a:pPr marL="299085" marR="635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full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obtained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adding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dummy</a:t>
            </a:r>
            <a:r>
              <a:rPr sz="1700" spc="3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nodes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3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called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as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Extended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Tree.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4410" y="1357304"/>
            <a:ext cx="2425811" cy="13245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791" y="605942"/>
            <a:ext cx="4646405" cy="12521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068" y="545033"/>
            <a:ext cx="2846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Binary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Tree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Representations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068" y="1057783"/>
            <a:ext cx="5690235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A </a:t>
            </a:r>
            <a:r>
              <a:rPr sz="1800" dirty="0">
                <a:latin typeface="Times New Roman"/>
                <a:cs typeface="Times New Roman"/>
              </a:rPr>
              <a:t>binary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 structure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represented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two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methods.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Sequential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using </a:t>
            </a:r>
            <a:r>
              <a:rPr sz="1800" spc="5" dirty="0">
                <a:latin typeface="Times New Roman"/>
                <a:cs typeface="Times New Roman"/>
              </a:rPr>
              <a:t>arrays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Linked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Representation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4388" y="2049779"/>
            <a:ext cx="3921252" cy="16809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6666" y="3816807"/>
            <a:ext cx="809942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We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one-dimensional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array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(1-D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Array)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represent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binary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tree.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Consider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above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example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 it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represented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follows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141" y="606612"/>
            <a:ext cx="4847748" cy="2025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8068" y="1293850"/>
            <a:ext cx="7767320" cy="1192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1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double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linked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list,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every</a:t>
            </a:r>
            <a:r>
              <a:rPr sz="1700" spc="1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consists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three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fields.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First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field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storing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left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address,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second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storing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actual data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5" dirty="0">
                <a:latin typeface="Times New Roman"/>
                <a:cs typeface="Times New Roman"/>
              </a:rPr>
              <a:t>storing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right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address.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linked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list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representation, </a:t>
            </a:r>
            <a:r>
              <a:rPr sz="1700" dirty="0">
                <a:latin typeface="Times New Roman"/>
                <a:cs typeface="Times New Roman"/>
              </a:rPr>
              <a:t>a node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 the</a:t>
            </a:r>
            <a:r>
              <a:rPr sz="1700" spc="-5" dirty="0">
                <a:latin typeface="Times New Roman"/>
                <a:cs typeface="Times New Roman"/>
              </a:rPr>
              <a:t> following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structure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6918" y="2826410"/>
            <a:ext cx="2103249" cy="2450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13907" y="2748072"/>
            <a:ext cx="4474020" cy="1744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896" y="36935"/>
            <a:ext cx="8143240" cy="478282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b="1" spc="-5" dirty="0">
                <a:latin typeface="Times New Roman"/>
                <a:cs typeface="Times New Roman"/>
              </a:rPr>
              <a:t>Applications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of binary trees</a:t>
            </a:r>
            <a:endParaRPr sz="1600">
              <a:latin typeface="Times New Roman"/>
              <a:cs typeface="Times New Roman"/>
            </a:endParaRPr>
          </a:p>
          <a:p>
            <a:pPr marL="299085" marR="762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Tree-Used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many</a:t>
            </a:r>
            <a:r>
              <a:rPr sz="1600" i="1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applications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constantly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entering/leaving,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map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objects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many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languages'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libraries.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Space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Partition-Used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almost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every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3D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video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game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determine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what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need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to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rendered.</a:t>
            </a:r>
            <a:endParaRPr sz="16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Tries-Used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almost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every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high-bandwidth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router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storing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router-tables.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Hash Trees-used </a:t>
            </a:r>
            <a:r>
              <a:rPr sz="1600" dirty="0">
                <a:latin typeface="Times New Roman"/>
                <a:cs typeface="Times New Roman"/>
              </a:rPr>
              <a:t>in p2p </a:t>
            </a:r>
            <a:r>
              <a:rPr sz="1600" spc="-5" dirty="0">
                <a:latin typeface="Times New Roman"/>
                <a:cs typeface="Times New Roman"/>
              </a:rPr>
              <a:t>programs and specialized image-signatures in </a:t>
            </a:r>
            <a:r>
              <a:rPr sz="1600" dirty="0">
                <a:latin typeface="Times New Roman"/>
                <a:cs typeface="Times New Roman"/>
              </a:rPr>
              <a:t>which </a:t>
            </a:r>
            <a:r>
              <a:rPr sz="1600" spc="-5" dirty="0">
                <a:latin typeface="Times New Roman"/>
                <a:cs typeface="Times New Roman"/>
              </a:rPr>
              <a:t>a hash </a:t>
            </a:r>
            <a:r>
              <a:rPr sz="1600" dirty="0">
                <a:latin typeface="Times New Roman"/>
                <a:cs typeface="Times New Roman"/>
              </a:rPr>
              <a:t>needs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be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verified,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whole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file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5" dirty="0">
                <a:latin typeface="Times New Roman"/>
                <a:cs typeface="Times New Roman"/>
              </a:rPr>
              <a:t> available.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ts val="2880"/>
              </a:lnSpc>
              <a:spcBef>
                <a:spcPts val="259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Heaps-Used in implementing </a:t>
            </a:r>
            <a:r>
              <a:rPr sz="1600" dirty="0">
                <a:latin typeface="Times New Roman"/>
                <a:cs typeface="Times New Roman"/>
              </a:rPr>
              <a:t>efficient </a:t>
            </a:r>
            <a:r>
              <a:rPr sz="1600" spc="-5" dirty="0">
                <a:latin typeface="Times New Roman"/>
                <a:cs typeface="Times New Roman"/>
              </a:rPr>
              <a:t>priority-queues, which in turn </a:t>
            </a:r>
            <a:r>
              <a:rPr sz="1600" dirty="0">
                <a:latin typeface="Times New Roman"/>
                <a:cs typeface="Times New Roman"/>
              </a:rPr>
              <a:t>are </a:t>
            </a:r>
            <a:r>
              <a:rPr sz="1600" spc="-5" dirty="0">
                <a:latin typeface="Times New Roman"/>
                <a:cs typeface="Times New Roman"/>
              </a:rPr>
              <a:t>used </a:t>
            </a:r>
            <a:r>
              <a:rPr sz="1600" dirty="0">
                <a:latin typeface="Times New Roman"/>
                <a:cs typeface="Times New Roman"/>
              </a:rPr>
              <a:t>for scheduling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processes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many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operating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systems,</a:t>
            </a:r>
            <a:r>
              <a:rPr sz="1600" dirty="0">
                <a:latin typeface="Times New Roman"/>
                <a:cs typeface="Times New Roman"/>
              </a:rPr>
              <a:t> Quality-of-Service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routers,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A*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(path-finding </a:t>
            </a:r>
            <a:r>
              <a:rPr sz="1600" i="1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algorithm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used</a:t>
            </a:r>
            <a:r>
              <a:rPr sz="1600" i="1" spc="3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in</a:t>
            </a:r>
            <a:r>
              <a:rPr sz="1600" i="1" spc="1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AI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applications,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including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robotics</a:t>
            </a:r>
            <a:r>
              <a:rPr sz="1600" i="1" spc="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and </a:t>
            </a:r>
            <a:r>
              <a:rPr sz="1600" i="1" spc="-5" dirty="0">
                <a:latin typeface="Times New Roman"/>
                <a:cs typeface="Times New Roman"/>
              </a:rPr>
              <a:t>video</a:t>
            </a:r>
            <a:r>
              <a:rPr sz="1600" i="1" spc="2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games)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Also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heap-sort.</a:t>
            </a:r>
            <a:endParaRPr sz="16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Huffman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Coding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Tree-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compression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algorithms,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such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those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.jpeg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Times New Roman"/>
                <a:cs typeface="Times New Roman"/>
              </a:rPr>
              <a:t>.mp3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file-formats.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758" y="348589"/>
            <a:ext cx="7960359" cy="235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6350" indent="-28702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GGM</a:t>
            </a:r>
            <a:r>
              <a:rPr sz="1700" spc="2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Trees-Used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cryptographic</a:t>
            </a:r>
            <a:r>
              <a:rPr sz="1700" spc="2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applications</a:t>
            </a:r>
            <a:r>
              <a:rPr sz="1700" spc="2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generate</a:t>
            </a:r>
            <a:r>
              <a:rPr sz="1700" spc="2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pseudo-random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numbers.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Syntax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Tree-Constructed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compilers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(implicitly)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calculators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parse expressions.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Treap-Randomized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data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structure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wireless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networking and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allocation.</a:t>
            </a:r>
            <a:endParaRPr sz="17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T-tree-Though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most</a:t>
            </a:r>
            <a:r>
              <a:rPr sz="1700" spc="3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databases</a:t>
            </a:r>
            <a:r>
              <a:rPr sz="1700" spc="3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3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some</a:t>
            </a:r>
            <a:r>
              <a:rPr sz="1700" spc="3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3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B-tree</a:t>
            </a:r>
            <a:r>
              <a:rPr sz="1700" spc="3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3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data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on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drive,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databases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keep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all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(most)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their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data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memory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often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T-trees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</a:t>
            </a:r>
            <a:r>
              <a:rPr sz="1700" spc="-5" dirty="0">
                <a:latin typeface="Times New Roman"/>
                <a:cs typeface="Times New Roman"/>
              </a:rPr>
              <a:t> so.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484" y="431140"/>
            <a:ext cx="7472045" cy="377888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00" b="1" dirty="0">
                <a:latin typeface="Times New Roman"/>
                <a:cs typeface="Times New Roman"/>
              </a:rPr>
              <a:t>Binary</a:t>
            </a:r>
            <a:r>
              <a:rPr sz="1700" b="1" spc="-3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Search</a:t>
            </a:r>
            <a:r>
              <a:rPr sz="1700" b="1" spc="-3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Trees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(BST)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special kind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each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contains-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700" dirty="0">
                <a:latin typeface="Times New Roman"/>
                <a:cs typeface="Times New Roman"/>
              </a:rPr>
              <a:t>larger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values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its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right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subtree.</a:t>
            </a:r>
            <a:endParaRPr sz="17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62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700" spc="-5" dirty="0">
                <a:latin typeface="Times New Roman"/>
                <a:cs typeface="Times New Roman"/>
              </a:rPr>
              <a:t>smaller</a:t>
            </a:r>
            <a:r>
              <a:rPr sz="1700" dirty="0">
                <a:latin typeface="Times New Roman"/>
                <a:cs typeface="Times New Roman"/>
              </a:rPr>
              <a:t> values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its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left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subtree.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BST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ordered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following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way: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Wingdings"/>
              <a:buChar char=""/>
              <a:tabLst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each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contains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(also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data)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Wingdings"/>
              <a:buChar char=""/>
              <a:tabLst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keys in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left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subtree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less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5" dirty="0">
                <a:latin typeface="Times New Roman"/>
                <a:cs typeface="Times New Roman"/>
              </a:rPr>
              <a:t> 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key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its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parent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short L &lt;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P;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25"/>
              </a:spcBef>
              <a:buFont typeface="Wingdings"/>
              <a:buChar char=""/>
              <a:tabLst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keys</a:t>
            </a:r>
            <a:r>
              <a:rPr sz="1700" spc="-5" dirty="0">
                <a:latin typeface="Times New Roman"/>
                <a:cs typeface="Times New Roman"/>
              </a:rPr>
              <a:t> 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right</a:t>
            </a:r>
            <a:r>
              <a:rPr sz="1700" dirty="0">
                <a:latin typeface="Times New Roman"/>
                <a:cs typeface="Times New Roman"/>
              </a:rPr>
              <a:t> subtree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greater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its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parent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short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&lt;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R;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19"/>
              </a:spcBef>
              <a:buFont typeface="Wingdings"/>
              <a:buChar char=""/>
              <a:tabLst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duplicate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 </a:t>
            </a:r>
            <a:r>
              <a:rPr sz="1700" spc="-5" dirty="0">
                <a:latin typeface="Times New Roman"/>
                <a:cs typeface="Times New Roman"/>
              </a:rPr>
              <a:t>allowed.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1716" y="399848"/>
            <a:ext cx="2558177" cy="16766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1848" y="2814376"/>
            <a:ext cx="8186420" cy="80391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above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tree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all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nodes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left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subtree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have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keys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&lt;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10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while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all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nodes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19"/>
              </a:spcBef>
            </a:pPr>
            <a:r>
              <a:rPr sz="1700" spc="-5" dirty="0">
                <a:latin typeface="Times New Roman"/>
                <a:cs typeface="Times New Roman"/>
              </a:rPr>
              <a:t>right</a:t>
            </a:r>
            <a:r>
              <a:rPr sz="1700" dirty="0">
                <a:latin typeface="Times New Roman"/>
                <a:cs typeface="Times New Roman"/>
              </a:rPr>
              <a:t> subtree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&gt;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10. Because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both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left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right</a:t>
            </a:r>
            <a:r>
              <a:rPr sz="1700" dirty="0">
                <a:latin typeface="Times New Roman"/>
                <a:cs typeface="Times New Roman"/>
              </a:rPr>
              <a:t> subtrees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BST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again </a:t>
            </a: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trees;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121" y="260427"/>
            <a:ext cx="8004175" cy="40195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00" b="1" dirty="0">
                <a:latin typeface="Times New Roman"/>
                <a:cs typeface="Times New Roman"/>
              </a:rPr>
              <a:t>Binary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Search</a:t>
            </a:r>
            <a:r>
              <a:rPr sz="1700" b="1" spc="-3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Tree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Operations: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Operation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Insertion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Operation</a:t>
            </a:r>
            <a:endParaRPr sz="17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700" spc="-5" dirty="0">
                <a:latin typeface="Times New Roman"/>
                <a:cs typeface="Times New Roman"/>
              </a:rPr>
              <a:t>Deletion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Operation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700" b="1" spc="-5" dirty="0">
                <a:latin typeface="Times New Roman"/>
                <a:cs typeface="Times New Roman"/>
              </a:rPr>
              <a:t>Search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Operation </a:t>
            </a:r>
            <a:r>
              <a:rPr sz="1700" b="1" spc="-5" dirty="0">
                <a:latin typeface="Times New Roman"/>
                <a:cs typeface="Times New Roman"/>
              </a:rPr>
              <a:t>:</a:t>
            </a:r>
            <a:r>
              <a:rPr sz="1700" spc="-5" dirty="0">
                <a:latin typeface="Times New Roman"/>
                <a:cs typeface="Times New Roman"/>
              </a:rPr>
              <a:t>Search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Operation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performed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particular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element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700" dirty="0">
                <a:latin typeface="Times New Roman"/>
                <a:cs typeface="Times New Roman"/>
              </a:rPr>
              <a:t>Binary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Tree.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700" b="1" spc="-5" dirty="0">
                <a:latin typeface="Times New Roman"/>
                <a:cs typeface="Times New Roman"/>
              </a:rPr>
              <a:t>Rules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searching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BST,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dirty="0">
                <a:latin typeface="Times New Roman"/>
                <a:cs typeface="Times New Roman"/>
              </a:rPr>
              <a:t>Compare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with</a:t>
            </a:r>
            <a:r>
              <a:rPr sz="1700" dirty="0">
                <a:latin typeface="Times New Roman"/>
                <a:cs typeface="Times New Roman"/>
              </a:rPr>
              <a:t> the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node.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present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return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root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node.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10"/>
              </a:spcBef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greater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than 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recur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node’s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right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subtree.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SzPct val="58823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5" dirty="0">
                <a:latin typeface="Times New Roman"/>
                <a:cs typeface="Times New Roman"/>
              </a:rPr>
              <a:t> 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smaller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5" dirty="0">
                <a:latin typeface="Times New Roman"/>
                <a:cs typeface="Times New Roman"/>
              </a:rPr>
              <a:t> value,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recur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 node’s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left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subtree.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8" y="1542288"/>
            <a:ext cx="3345179" cy="18943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6108" y="236957"/>
            <a:ext cx="7792084" cy="327850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400" b="1" spc="-5" dirty="0"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400" dirty="0">
                <a:latin typeface="Times New Roman"/>
                <a:cs typeface="Times New Roman"/>
              </a:rPr>
              <a:t>Consider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45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given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BST-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4471035" indent="-343535">
              <a:lnSpc>
                <a:spcPct val="100000"/>
              </a:lnSpc>
              <a:spcBef>
                <a:spcPts val="1220"/>
              </a:spcBef>
              <a:buSzPct val="71428"/>
              <a:buFont typeface="Symbol"/>
              <a:buChar char=""/>
              <a:tabLst>
                <a:tab pos="4470400" algn="l"/>
                <a:tab pos="4471035" algn="l"/>
              </a:tabLst>
            </a:pPr>
            <a:r>
              <a:rPr sz="1400" spc="-10" dirty="0">
                <a:latin typeface="Times New Roman"/>
                <a:cs typeface="Times New Roman"/>
              </a:rPr>
              <a:t>We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start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our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root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node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25.</a:t>
            </a:r>
            <a:endParaRPr sz="1400">
              <a:latin typeface="Times New Roman"/>
              <a:cs typeface="Times New Roman"/>
            </a:endParaRPr>
          </a:p>
          <a:p>
            <a:pPr marL="4471035" indent="-343535">
              <a:lnSpc>
                <a:spcPct val="100000"/>
              </a:lnSpc>
              <a:spcBef>
                <a:spcPts val="850"/>
              </a:spcBef>
              <a:buSzPct val="71428"/>
              <a:buFont typeface="Symbol"/>
              <a:buChar char=""/>
              <a:tabLst>
                <a:tab pos="4470400" algn="l"/>
                <a:tab pos="4471035" algn="l"/>
              </a:tabLst>
            </a:pPr>
            <a:r>
              <a:rPr sz="1400" spc="-5" dirty="0">
                <a:latin typeface="Times New Roman"/>
                <a:cs typeface="Times New Roman"/>
              </a:rPr>
              <a:t>As</a:t>
            </a:r>
            <a:r>
              <a:rPr sz="1400" dirty="0">
                <a:latin typeface="Times New Roman"/>
                <a:cs typeface="Times New Roman"/>
              </a:rPr>
              <a:t> 45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&gt; </a:t>
            </a:r>
            <a:r>
              <a:rPr sz="1400" spc="5" dirty="0">
                <a:latin typeface="Times New Roman"/>
                <a:cs typeface="Times New Roman"/>
              </a:rPr>
              <a:t>25,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25’s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right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subtree.</a:t>
            </a:r>
            <a:endParaRPr sz="1400">
              <a:latin typeface="Times New Roman"/>
              <a:cs typeface="Times New Roman"/>
            </a:endParaRPr>
          </a:p>
          <a:p>
            <a:pPr marL="4471035" indent="-343535">
              <a:lnSpc>
                <a:spcPct val="100000"/>
              </a:lnSpc>
              <a:spcBef>
                <a:spcPts val="855"/>
              </a:spcBef>
              <a:buSzPct val="71428"/>
              <a:buFont typeface="Symbol"/>
              <a:buChar char=""/>
              <a:tabLst>
                <a:tab pos="4470400" algn="l"/>
                <a:tab pos="4471035" algn="l"/>
              </a:tabLst>
            </a:pPr>
            <a:r>
              <a:rPr sz="1400" spc="-5" dirty="0">
                <a:latin typeface="Times New Roman"/>
                <a:cs typeface="Times New Roman"/>
              </a:rPr>
              <a:t>As</a:t>
            </a:r>
            <a:r>
              <a:rPr sz="1400" dirty="0">
                <a:latin typeface="Times New Roman"/>
                <a:cs typeface="Times New Roman"/>
              </a:rPr>
              <a:t> 45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50,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50’s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left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subtree.</a:t>
            </a:r>
            <a:endParaRPr sz="1400">
              <a:latin typeface="Times New Roman"/>
              <a:cs typeface="Times New Roman"/>
            </a:endParaRPr>
          </a:p>
          <a:p>
            <a:pPr marL="4471035" indent="-343535">
              <a:lnSpc>
                <a:spcPct val="100000"/>
              </a:lnSpc>
              <a:spcBef>
                <a:spcPts val="850"/>
              </a:spcBef>
              <a:buSzPct val="71428"/>
              <a:buFont typeface="Symbol"/>
              <a:buChar char=""/>
              <a:tabLst>
                <a:tab pos="4470400" algn="l"/>
                <a:tab pos="4471035" algn="l"/>
              </a:tabLst>
            </a:pPr>
            <a:r>
              <a:rPr sz="1400" spc="-5" dirty="0">
                <a:latin typeface="Times New Roman"/>
                <a:cs typeface="Times New Roman"/>
              </a:rPr>
              <a:t>As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45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&gt;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35,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so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35’s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right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subtree.</a:t>
            </a:r>
            <a:endParaRPr sz="1400">
              <a:latin typeface="Times New Roman"/>
              <a:cs typeface="Times New Roman"/>
            </a:endParaRPr>
          </a:p>
          <a:p>
            <a:pPr marL="4470400" marR="50800" indent="-342900">
              <a:lnSpc>
                <a:spcPct val="114999"/>
              </a:lnSpc>
              <a:spcBef>
                <a:spcPts val="605"/>
              </a:spcBef>
              <a:buSzPct val="71428"/>
              <a:buFont typeface="Symbol"/>
              <a:buChar char=""/>
              <a:tabLst>
                <a:tab pos="4470400" algn="l"/>
                <a:tab pos="4471035" algn="l"/>
              </a:tabLst>
            </a:pPr>
            <a:r>
              <a:rPr sz="1400" spc="-5" dirty="0">
                <a:latin typeface="Times New Roman"/>
                <a:cs typeface="Times New Roman"/>
              </a:rPr>
              <a:t>As</a:t>
            </a:r>
            <a:r>
              <a:rPr sz="1400" dirty="0">
                <a:latin typeface="Times New Roman"/>
                <a:cs typeface="Times New Roman"/>
              </a:rPr>
              <a:t> 45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&gt;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44,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search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44’s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right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subtree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but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44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subtrees.</a:t>
            </a:r>
            <a:endParaRPr sz="1400">
              <a:latin typeface="Times New Roman"/>
              <a:cs typeface="Times New Roman"/>
            </a:endParaRPr>
          </a:p>
          <a:p>
            <a:pPr marL="4470400" marR="165100" indent="-342900">
              <a:lnSpc>
                <a:spcPct val="115100"/>
              </a:lnSpc>
              <a:spcBef>
                <a:spcPts val="595"/>
              </a:spcBef>
              <a:buSzPct val="71428"/>
              <a:buFont typeface="Symbol"/>
              <a:buChar char=""/>
              <a:tabLst>
                <a:tab pos="4470400" algn="l"/>
                <a:tab pos="4471035" algn="l"/>
              </a:tabLst>
            </a:pPr>
            <a:r>
              <a:rPr sz="1400" dirty="0">
                <a:latin typeface="Times New Roman"/>
                <a:cs typeface="Times New Roman"/>
              </a:rPr>
              <a:t>So,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conclude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45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not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present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BST.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301883"/>
            <a:ext cx="7926070" cy="30454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Times New Roman"/>
                <a:cs typeface="Times New Roman"/>
              </a:rPr>
              <a:t>Insertion</a:t>
            </a:r>
            <a:r>
              <a:rPr sz="1600" b="1" spc="6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Operation-</a:t>
            </a:r>
            <a:r>
              <a:rPr sz="1600" spc="-5" dirty="0">
                <a:latin typeface="Times New Roman"/>
                <a:cs typeface="Times New Roman"/>
              </a:rPr>
              <a:t>Insertion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Operation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performed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insert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element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00" spc="-5" dirty="0">
                <a:latin typeface="Times New Roman"/>
                <a:cs typeface="Times New Roman"/>
              </a:rPr>
              <a:t>Tree.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600" b="1" spc="-10" dirty="0">
                <a:latin typeface="Times New Roman"/>
                <a:cs typeface="Times New Roman"/>
              </a:rPr>
              <a:t>Rules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insertion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always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takes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place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 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10" dirty="0">
                <a:latin typeface="Times New Roman"/>
                <a:cs typeface="Times New Roman"/>
              </a:rPr>
              <a:t>some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suitable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node,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9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root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till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some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reached.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85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Once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reached,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that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b="1" spc="-5" dirty="0">
                <a:latin typeface="Times New Roman"/>
                <a:cs typeface="Times New Roman"/>
              </a:rPr>
              <a:t>Example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example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 40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given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BST-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8944" y="3416808"/>
            <a:ext cx="4315967" cy="15864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691" y="474725"/>
            <a:ext cx="7989570" cy="3828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SzPct val="62500"/>
              <a:buFont typeface="Symbol"/>
              <a:buChar char=""/>
              <a:tabLst>
                <a:tab pos="355600" algn="l"/>
                <a:tab pos="356235" algn="l"/>
              </a:tabLst>
            </a:pPr>
            <a:r>
              <a:rPr sz="1600" spc="-10" dirty="0">
                <a:latin typeface="Times New Roman"/>
                <a:cs typeface="Times New Roman"/>
              </a:rPr>
              <a:t>We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40</a:t>
            </a:r>
            <a:r>
              <a:rPr sz="1600" spc="-5" dirty="0">
                <a:latin typeface="Times New Roman"/>
                <a:cs typeface="Times New Roman"/>
              </a:rPr>
              <a:t> 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root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100.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SzPct val="62500"/>
              <a:buFont typeface="Symbol"/>
              <a:buChar char=""/>
              <a:tabLst>
                <a:tab pos="355600" algn="l"/>
                <a:tab pos="356235" algn="l"/>
              </a:tabLst>
            </a:pP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40 </a:t>
            </a:r>
            <a:r>
              <a:rPr sz="1600" spc="-5" dirty="0">
                <a:latin typeface="Times New Roman"/>
                <a:cs typeface="Times New Roman"/>
              </a:rPr>
              <a:t>&lt; </a:t>
            </a:r>
            <a:r>
              <a:rPr sz="1600" dirty="0">
                <a:latin typeface="Times New Roman"/>
                <a:cs typeface="Times New Roman"/>
              </a:rPr>
              <a:t>100,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100’s</a:t>
            </a:r>
            <a:r>
              <a:rPr sz="1600" spc="-5" dirty="0">
                <a:latin typeface="Times New Roman"/>
                <a:cs typeface="Times New Roman"/>
              </a:rPr>
              <a:t> left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SzPct val="62500"/>
              <a:buFont typeface="Symbol"/>
              <a:buChar char=""/>
              <a:tabLst>
                <a:tab pos="355600" algn="l"/>
                <a:tab pos="356235" algn="l"/>
              </a:tabLst>
            </a:pPr>
            <a:r>
              <a:rPr sz="1600" spc="-5" dirty="0">
                <a:latin typeface="Times New Roman"/>
                <a:cs typeface="Times New Roman"/>
              </a:rPr>
              <a:t>As </a:t>
            </a:r>
            <a:r>
              <a:rPr sz="1600" dirty="0">
                <a:latin typeface="Times New Roman"/>
                <a:cs typeface="Times New Roman"/>
              </a:rPr>
              <a:t>40 </a:t>
            </a:r>
            <a:r>
              <a:rPr sz="1600" spc="-5" dirty="0">
                <a:latin typeface="Times New Roman"/>
                <a:cs typeface="Times New Roman"/>
              </a:rPr>
              <a:t>&gt; </a:t>
            </a:r>
            <a:r>
              <a:rPr sz="1600" dirty="0">
                <a:latin typeface="Times New Roman"/>
                <a:cs typeface="Times New Roman"/>
              </a:rPr>
              <a:t>20,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20’s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SzPct val="62500"/>
              <a:buFont typeface="Symbol"/>
              <a:buChar char=""/>
              <a:tabLst>
                <a:tab pos="355600" algn="l"/>
                <a:tab pos="356235" algn="l"/>
              </a:tabLst>
            </a:pPr>
            <a:r>
              <a:rPr sz="1600" spc="-5" dirty="0">
                <a:latin typeface="Times New Roman"/>
                <a:cs typeface="Times New Roman"/>
              </a:rPr>
              <a:t>As 40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&gt; 30,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40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30’s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300"/>
              </a:spcBef>
            </a:pPr>
            <a:r>
              <a:rPr sz="1600" b="1" spc="-5" dirty="0">
                <a:latin typeface="Times New Roman"/>
                <a:cs typeface="Times New Roman"/>
              </a:rPr>
              <a:t>Deletion</a:t>
            </a:r>
            <a:r>
              <a:rPr sz="1600" b="1" spc="3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Operation-</a:t>
            </a:r>
            <a:r>
              <a:rPr sz="1600" spc="-5" dirty="0">
                <a:latin typeface="Times New Roman"/>
                <a:cs typeface="Times New Roman"/>
              </a:rPr>
              <a:t>Deletion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Operation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performed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delete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particular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Case-01: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Deletion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of A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Node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Having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No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Child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(Leaf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Node)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Just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remove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/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disconnect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latin typeface="Times New Roman"/>
                <a:cs typeface="Times New Roman"/>
              </a:rPr>
              <a:t>Example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example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20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BST-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3644" y="579119"/>
            <a:ext cx="4914900" cy="14782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3780" y="2781452"/>
            <a:ext cx="7028180" cy="13760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b="1" spc="-5" dirty="0">
                <a:latin typeface="Times New Roman"/>
                <a:cs typeface="Times New Roman"/>
              </a:rPr>
              <a:t>Case-02: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Deletion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Node Having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Only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One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Child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5" dirty="0">
                <a:latin typeface="Times New Roman"/>
                <a:cs typeface="Times New Roman"/>
              </a:rPr>
              <a:t>Just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make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grandparent.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b="1" spc="-10" dirty="0">
                <a:latin typeface="Times New Roman"/>
                <a:cs typeface="Times New Roman"/>
              </a:rPr>
              <a:t>Example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example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30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BST-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2609" y="387095"/>
            <a:ext cx="4917774" cy="15742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7982" y="2247036"/>
            <a:ext cx="7028180" cy="272669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b="1" spc="-5" dirty="0">
                <a:latin typeface="Times New Roman"/>
                <a:cs typeface="Times New Roman"/>
              </a:rPr>
              <a:t>Case-02: Deletion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Node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Having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Two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Children-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children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may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BST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ways-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b="1" spc="-5" dirty="0">
                <a:latin typeface="Times New Roman"/>
                <a:cs typeface="Times New Roman"/>
              </a:rPr>
              <a:t>Method-01: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9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85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Pluck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least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element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called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inorder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successor.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9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Replace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element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inorder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successor.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b="1" spc="-5" dirty="0">
                <a:latin typeface="Times New Roman"/>
                <a:cs typeface="Times New Roman"/>
              </a:rPr>
              <a:t>Example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example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15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BST-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475" y="379475"/>
            <a:ext cx="4640580" cy="16108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1484" y="2468067"/>
            <a:ext cx="7028180" cy="2365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Method-02: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65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left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Pluck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greatest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element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called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inorder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predecessor.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Replace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deleting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element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inorder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predecessor.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600" b="1" spc="-10" dirty="0">
                <a:latin typeface="Times New Roman"/>
                <a:cs typeface="Times New Roman"/>
              </a:rPr>
              <a:t>Example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example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15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BST-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772" y="451104"/>
            <a:ext cx="4352544" cy="15087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1484" y="3302082"/>
            <a:ext cx="8090534" cy="179323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time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complexity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operations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O(h),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height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tree.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Represents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longest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 we can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take.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case,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O(log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operations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take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time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O(log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n).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85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worst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case,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Θ(n)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some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operations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will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take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time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Θ(n).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135" y="444779"/>
            <a:ext cx="7866380" cy="433965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Traversals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Binary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Trees: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Since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nonlinear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structure,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unique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traversal.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will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several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traversal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we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group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kinds.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Depth-First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Breadth-First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three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different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types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Depth-First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Traversals,</a:t>
            </a:r>
            <a:endParaRPr sz="1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PreOrder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parent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left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right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children;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InOrder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left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parent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child;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PostOrder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-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lang="en-US" sz="1600" spc="35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left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child,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child</a:t>
            </a:r>
            <a:r>
              <a:rPr lang="en-US" sz="1600" spc="-5" dirty="0">
                <a:latin typeface="Times New Roman"/>
                <a:cs typeface="Times New Roman"/>
              </a:rPr>
              <a:t>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parent;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0531" y="407669"/>
            <a:ext cx="1600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Inorder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Traversal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0531" y="691035"/>
            <a:ext cx="3138170" cy="155257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1: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Left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2: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Root.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3: </a:t>
            </a:r>
            <a:r>
              <a:rPr sz="1600" spc="-5" dirty="0">
                <a:latin typeface="Times New Roman"/>
                <a:cs typeface="Times New Roman"/>
              </a:rPr>
              <a:t>Then,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 Subtree.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68" y="2727960"/>
            <a:ext cx="4204715" cy="20815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15154" y="583819"/>
            <a:ext cx="4230370" cy="250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Inorder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Traversal: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 </a:t>
            </a:r>
            <a:r>
              <a:rPr sz="1500" b="1" spc="-5" dirty="0">
                <a:latin typeface="Times New Roman"/>
                <a:cs typeface="Times New Roman"/>
              </a:rPr>
              <a:t>D</a:t>
            </a:r>
            <a:r>
              <a:rPr sz="1500" b="1" dirty="0">
                <a:latin typeface="Times New Roman"/>
                <a:cs typeface="Times New Roman"/>
              </a:rPr>
              <a:t> F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A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G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C</a:t>
            </a:r>
            <a:r>
              <a:rPr sz="1500" b="1" dirty="0">
                <a:latin typeface="Times New Roman"/>
                <a:cs typeface="Times New Roman"/>
              </a:rPr>
              <a:t> H</a:t>
            </a:r>
            <a:endParaRPr sz="1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4700"/>
              </a:lnSpc>
              <a:spcBef>
                <a:spcPts val="815"/>
              </a:spcBef>
            </a:pPr>
            <a:r>
              <a:rPr sz="1500" b="1" spc="-5" dirty="0">
                <a:latin typeface="Times New Roman"/>
                <a:cs typeface="Times New Roman"/>
              </a:rPr>
              <a:t>Following steps </a:t>
            </a:r>
            <a:r>
              <a:rPr sz="1500" b="1" spc="-10" dirty="0">
                <a:latin typeface="Times New Roman"/>
                <a:cs typeface="Times New Roman"/>
              </a:rPr>
              <a:t>can </a:t>
            </a:r>
            <a:r>
              <a:rPr sz="1500" b="1" dirty="0">
                <a:latin typeface="Times New Roman"/>
                <a:cs typeface="Times New Roman"/>
              </a:rPr>
              <a:t>be </a:t>
            </a:r>
            <a:r>
              <a:rPr sz="1500" b="1" spc="-5" dirty="0">
                <a:latin typeface="Times New Roman"/>
                <a:cs typeface="Times New Roman"/>
              </a:rPr>
              <a:t>defined </a:t>
            </a:r>
            <a:r>
              <a:rPr sz="1500" b="1" dirty="0">
                <a:latin typeface="Times New Roman"/>
                <a:cs typeface="Times New Roman"/>
              </a:rPr>
              <a:t>the </a:t>
            </a:r>
            <a:r>
              <a:rPr sz="1500" b="1" spc="-5" dirty="0">
                <a:latin typeface="Times New Roman"/>
                <a:cs typeface="Times New Roman"/>
              </a:rPr>
              <a:t>flow </a:t>
            </a:r>
            <a:r>
              <a:rPr sz="1500" b="1" dirty="0">
                <a:latin typeface="Times New Roman"/>
                <a:cs typeface="Times New Roman"/>
              </a:rPr>
              <a:t>of inorder 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traversal:</a:t>
            </a:r>
            <a:endParaRPr sz="1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5100"/>
              </a:lnSpc>
              <a:spcBef>
                <a:spcPts val="795"/>
              </a:spcBef>
            </a:pPr>
            <a:r>
              <a:rPr sz="1500" b="1" spc="-5" dirty="0">
                <a:latin typeface="Times New Roman"/>
                <a:cs typeface="Times New Roman"/>
              </a:rPr>
              <a:t>Step </a:t>
            </a:r>
            <a:r>
              <a:rPr sz="1500" b="1" dirty="0">
                <a:latin typeface="Times New Roman"/>
                <a:cs typeface="Times New Roman"/>
              </a:rPr>
              <a:t>1 : </a:t>
            </a:r>
            <a:r>
              <a:rPr sz="1500" dirty="0">
                <a:latin typeface="Times New Roman"/>
                <a:cs typeface="Times New Roman"/>
              </a:rPr>
              <a:t>B + (Inorder on </a:t>
            </a:r>
            <a:r>
              <a:rPr sz="1500" spc="-5" dirty="0">
                <a:latin typeface="Times New Roman"/>
                <a:cs typeface="Times New Roman"/>
              </a:rPr>
              <a:t>E) </a:t>
            </a:r>
            <a:r>
              <a:rPr sz="1500" dirty="0">
                <a:latin typeface="Times New Roman"/>
                <a:cs typeface="Times New Roman"/>
              </a:rPr>
              <a:t>+ </a:t>
            </a:r>
            <a:r>
              <a:rPr sz="1500" spc="-5" dirty="0">
                <a:latin typeface="Times New Roman"/>
                <a:cs typeface="Times New Roman"/>
              </a:rPr>
              <a:t>D </a:t>
            </a:r>
            <a:r>
              <a:rPr sz="1500" dirty="0">
                <a:latin typeface="Times New Roman"/>
                <a:cs typeface="Times New Roman"/>
              </a:rPr>
              <a:t>+ </a:t>
            </a:r>
            <a:r>
              <a:rPr sz="1500" spc="-5" dirty="0">
                <a:latin typeface="Times New Roman"/>
                <a:cs typeface="Times New Roman"/>
              </a:rPr>
              <a:t>(Inorder on </a:t>
            </a:r>
            <a:r>
              <a:rPr sz="1500" dirty="0">
                <a:latin typeface="Times New Roman"/>
                <a:cs typeface="Times New Roman"/>
              </a:rPr>
              <a:t>F) + 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(Root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)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(Inorder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3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G)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3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3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(Inorder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on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H) 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Step </a:t>
            </a:r>
            <a:r>
              <a:rPr sz="1500" b="1" dirty="0">
                <a:latin typeface="Times New Roman"/>
                <a:cs typeface="Times New Roman"/>
              </a:rPr>
              <a:t>2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: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(E) +</a:t>
            </a:r>
            <a:r>
              <a:rPr sz="1500" spc="-5" dirty="0">
                <a:latin typeface="Times New Roman"/>
                <a:cs typeface="Times New Roman"/>
              </a:rPr>
              <a:t> 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(F)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G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C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 </a:t>
            </a:r>
            <a:r>
              <a:rPr sz="1500" spc="-5" dirty="0">
                <a:latin typeface="Times New Roman"/>
                <a:cs typeface="Times New Roman"/>
              </a:rPr>
              <a:t>H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500" b="1" spc="-5" dirty="0">
                <a:latin typeface="Times New Roman"/>
                <a:cs typeface="Times New Roman"/>
              </a:rPr>
              <a:t>Step </a:t>
            </a:r>
            <a:r>
              <a:rPr sz="1500" b="1" dirty="0">
                <a:latin typeface="Times New Roman"/>
                <a:cs typeface="Times New Roman"/>
              </a:rPr>
              <a:t>3: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 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</a:t>
            </a:r>
            <a:r>
              <a:rPr sz="1500" spc="-5" dirty="0">
                <a:latin typeface="Times New Roman"/>
                <a:cs typeface="Times New Roman"/>
              </a:rPr>
              <a:t>D</a:t>
            </a:r>
            <a:r>
              <a:rPr sz="1500" dirty="0">
                <a:latin typeface="Times New Roman"/>
                <a:cs typeface="Times New Roman"/>
              </a:rPr>
              <a:t> + </a:t>
            </a:r>
            <a:r>
              <a:rPr sz="1500" spc="-5" dirty="0">
                <a:latin typeface="Times New Roman"/>
                <a:cs typeface="Times New Roman"/>
              </a:rPr>
              <a:t>F </a:t>
            </a:r>
            <a:r>
              <a:rPr sz="1500" dirty="0">
                <a:latin typeface="Times New Roman"/>
                <a:cs typeface="Times New Roman"/>
              </a:rPr>
              <a:t>+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 +</a:t>
            </a:r>
            <a:r>
              <a:rPr sz="1500" spc="-5" dirty="0">
                <a:latin typeface="Times New Roman"/>
                <a:cs typeface="Times New Roman"/>
              </a:rPr>
              <a:t> G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 +</a:t>
            </a:r>
            <a:r>
              <a:rPr sz="1500" spc="-5" dirty="0">
                <a:latin typeface="Times New Roman"/>
                <a:cs typeface="Times New Roman"/>
              </a:rPr>
              <a:t> H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latin typeface="Times New Roman"/>
                <a:cs typeface="Times New Roman"/>
              </a:rPr>
              <a:t>Inorder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Traversal: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 F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691" y="543890"/>
            <a:ext cx="17138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Preorder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Traversal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2691" y="827303"/>
            <a:ext cx="3138805" cy="155321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Times New Roman"/>
                <a:cs typeface="Times New Roman"/>
              </a:rPr>
              <a:t>Step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 the</a:t>
            </a:r>
            <a:r>
              <a:rPr sz="1600" dirty="0">
                <a:latin typeface="Times New Roman"/>
                <a:cs typeface="Times New Roman"/>
              </a:rPr>
              <a:t> Root.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2: </a:t>
            </a:r>
            <a:r>
              <a:rPr sz="1600" spc="-5" dirty="0">
                <a:latin typeface="Times New Roman"/>
                <a:cs typeface="Times New Roman"/>
              </a:rPr>
              <a:t>Then,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Left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3: </a:t>
            </a:r>
            <a:r>
              <a:rPr sz="1600" spc="-5" dirty="0">
                <a:latin typeface="Times New Roman"/>
                <a:cs typeface="Times New Roman"/>
              </a:rPr>
              <a:t>Then,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Subtree.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2706623"/>
            <a:ext cx="3848100" cy="19903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12690" y="635406"/>
            <a:ext cx="3836035" cy="316039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b="1" spc="-5" dirty="0">
                <a:latin typeface="Times New Roman"/>
                <a:cs typeface="Times New Roman"/>
              </a:rPr>
              <a:t>Preorder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Traversal: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 C D E 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H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4999"/>
              </a:lnSpc>
              <a:spcBef>
                <a:spcPts val="805"/>
              </a:spcBef>
            </a:pPr>
            <a:r>
              <a:rPr sz="1600" b="1" spc="-5" dirty="0">
                <a:latin typeface="Times New Roman"/>
                <a:cs typeface="Times New Roman"/>
              </a:rPr>
              <a:t>Following steps can be defined the flow </a:t>
            </a:r>
            <a:r>
              <a:rPr sz="1600" b="1" dirty="0">
                <a:latin typeface="Times New Roman"/>
                <a:cs typeface="Times New Roman"/>
              </a:rPr>
              <a:t>of 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preorder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traversal:</a:t>
            </a:r>
            <a:endParaRPr sz="16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15100"/>
              </a:lnSpc>
              <a:spcBef>
                <a:spcPts val="79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1: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dirty="0">
                <a:latin typeface="Times New Roman"/>
                <a:cs typeface="Times New Roman"/>
              </a:rPr>
              <a:t> (B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dirty="0">
                <a:latin typeface="Times New Roman"/>
                <a:cs typeface="Times New Roman"/>
              </a:rPr>
              <a:t> Preorder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Preorder on E and F)) + C (C + </a:t>
            </a:r>
            <a:r>
              <a:rPr sz="1600" dirty="0">
                <a:latin typeface="Times New Roman"/>
                <a:cs typeface="Times New Roman"/>
              </a:rPr>
              <a:t>Preorder </a:t>
            </a:r>
            <a:r>
              <a:rPr sz="1600" spc="-5" dirty="0">
                <a:latin typeface="Times New Roman"/>
                <a:cs typeface="Times New Roman"/>
              </a:rPr>
              <a:t>on G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10" dirty="0">
                <a:latin typeface="Times New Roman"/>
                <a:cs typeface="Times New Roman"/>
              </a:rPr>
              <a:t>H)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2: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 +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 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F) +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 (G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H)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3: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 +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 +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 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-5" dirty="0">
                <a:latin typeface="Times New Roman"/>
                <a:cs typeface="Times New Roman"/>
              </a:rPr>
              <a:t>Preorder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Traversal: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 C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 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 H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646" y="357327"/>
            <a:ext cx="15671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Postorder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Traversal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7646" y="741933"/>
            <a:ext cx="3394710" cy="1280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Algorithm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400" b="1" dirty="0">
                <a:latin typeface="Times New Roman"/>
                <a:cs typeface="Times New Roman"/>
              </a:rPr>
              <a:t>Step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Start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Left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Subtree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(Last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Leaf).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400" b="1" dirty="0">
                <a:latin typeface="Times New Roman"/>
                <a:cs typeface="Times New Roman"/>
              </a:rPr>
              <a:t>Step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Then,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Right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Subtree.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b="1" dirty="0">
                <a:latin typeface="Times New Roman"/>
                <a:cs typeface="Times New Roman"/>
              </a:rPr>
              <a:t>Step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Then,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Root.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980" y="2631948"/>
            <a:ext cx="3819525" cy="19907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51375" y="439928"/>
            <a:ext cx="32410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Postorder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Traversal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: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D</a:t>
            </a:r>
            <a:r>
              <a:rPr sz="1500" b="1" dirty="0">
                <a:latin typeface="Times New Roman"/>
                <a:cs typeface="Times New Roman"/>
              </a:rPr>
              <a:t> B G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H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C</a:t>
            </a:r>
            <a:r>
              <a:rPr sz="1500" b="1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1375" y="772413"/>
            <a:ext cx="4189729" cy="279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147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Following</a:t>
            </a:r>
            <a:r>
              <a:rPr sz="1500" b="1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steps</a:t>
            </a:r>
            <a:r>
              <a:rPr sz="1500" b="1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can</a:t>
            </a:r>
            <a:r>
              <a:rPr sz="1500" b="1" dirty="0">
                <a:latin typeface="Times New Roman"/>
                <a:cs typeface="Times New Roman"/>
              </a:rPr>
              <a:t> be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defined</a:t>
            </a:r>
            <a:r>
              <a:rPr sz="1500" b="1" dirty="0">
                <a:latin typeface="Times New Roman"/>
                <a:cs typeface="Times New Roman"/>
              </a:rPr>
              <a:t> the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flow</a:t>
            </a:r>
            <a:r>
              <a:rPr sz="1500" b="1" spc="37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of </a:t>
            </a:r>
            <a:r>
              <a:rPr sz="1500" b="1" spc="-5" dirty="0">
                <a:latin typeface="Times New Roman"/>
                <a:cs typeface="Times New Roman"/>
              </a:rPr>
              <a:t> postorder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traversal:</a:t>
            </a:r>
            <a:endParaRPr sz="1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5100"/>
              </a:lnSpc>
              <a:spcBef>
                <a:spcPts val="795"/>
              </a:spcBef>
            </a:pPr>
            <a:r>
              <a:rPr sz="1500" b="1" spc="-5" dirty="0">
                <a:latin typeface="Times New Roman"/>
                <a:cs typeface="Times New Roman"/>
              </a:rPr>
              <a:t>Step</a:t>
            </a:r>
            <a:r>
              <a:rPr sz="1500" b="1" spc="2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1:</a:t>
            </a:r>
            <a:r>
              <a:rPr sz="1500" b="1" spc="2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As</a:t>
            </a:r>
            <a:r>
              <a:rPr sz="1500" spc="2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know,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preorder</a:t>
            </a:r>
            <a:r>
              <a:rPr sz="1500" spc="2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traversal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starts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 </a:t>
            </a:r>
            <a:r>
              <a:rPr sz="1500" spc="-3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left subtree (last leaf) ((Postorder </a:t>
            </a:r>
            <a:r>
              <a:rPr sz="1500" dirty="0">
                <a:latin typeface="Times New Roman"/>
                <a:cs typeface="Times New Roman"/>
              </a:rPr>
              <a:t>on E + </a:t>
            </a:r>
            <a:r>
              <a:rPr sz="1500" spc="-5" dirty="0">
                <a:latin typeface="Times New Roman"/>
                <a:cs typeface="Times New Roman"/>
              </a:rPr>
              <a:t>Postorder </a:t>
            </a:r>
            <a:r>
              <a:rPr sz="1500" dirty="0">
                <a:latin typeface="Times New Roman"/>
                <a:cs typeface="Times New Roman"/>
              </a:rPr>
              <a:t>on 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F)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))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((Postorder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Postorder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on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H)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75"/>
              </a:spcBef>
            </a:pPr>
            <a:r>
              <a:rPr sz="1500" spc="-5" dirty="0">
                <a:latin typeface="Times New Roman"/>
                <a:cs typeface="Times New Roman"/>
              </a:rPr>
              <a:t>C)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(Root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500" b="1" spc="-5" dirty="0">
                <a:latin typeface="Times New Roman"/>
                <a:cs typeface="Times New Roman"/>
              </a:rPr>
              <a:t>Step </a:t>
            </a:r>
            <a:r>
              <a:rPr sz="1500" b="1" dirty="0">
                <a:latin typeface="Times New Roman"/>
                <a:cs typeface="Times New Roman"/>
              </a:rPr>
              <a:t>2: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F) +</a:t>
            </a:r>
            <a:r>
              <a:rPr sz="1500" spc="-5" dirty="0">
                <a:latin typeface="Times New Roman"/>
                <a:cs typeface="Times New Roman"/>
              </a:rPr>
              <a:t> 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 +</a:t>
            </a:r>
            <a:r>
              <a:rPr sz="1500" spc="-5" dirty="0">
                <a:latin typeface="Times New Roman"/>
                <a:cs typeface="Times New Roman"/>
              </a:rPr>
              <a:t> (G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H)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500" b="1" spc="-5" dirty="0">
                <a:latin typeface="Times New Roman"/>
                <a:cs typeface="Times New Roman"/>
              </a:rPr>
              <a:t>Step </a:t>
            </a:r>
            <a:r>
              <a:rPr sz="1500" b="1" dirty="0">
                <a:latin typeface="Times New Roman"/>
                <a:cs typeface="Times New Roman"/>
              </a:rPr>
              <a:t>3: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F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</a:t>
            </a:r>
            <a:r>
              <a:rPr sz="1500" spc="-5" dirty="0">
                <a:latin typeface="Times New Roman"/>
                <a:cs typeface="Times New Roman"/>
              </a:rPr>
              <a:t>G</a:t>
            </a:r>
            <a:r>
              <a:rPr sz="1500" dirty="0">
                <a:latin typeface="Times New Roman"/>
                <a:cs typeface="Times New Roman"/>
              </a:rPr>
              <a:t> +</a:t>
            </a:r>
            <a:r>
              <a:rPr sz="1500" spc="-5" dirty="0">
                <a:latin typeface="Times New Roman"/>
                <a:cs typeface="Times New Roman"/>
              </a:rPr>
              <a:t> H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 C +</a:t>
            </a:r>
            <a:r>
              <a:rPr sz="1500" spc="-5" dirty="0">
                <a:latin typeface="Times New Roman"/>
                <a:cs typeface="Times New Roman"/>
              </a:rPr>
              <a:t> A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500" spc="-5" dirty="0">
                <a:latin typeface="Times New Roman"/>
                <a:cs typeface="Times New Roman"/>
              </a:rPr>
              <a:t>Postorder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Traversal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: 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 </a:t>
            </a:r>
            <a:r>
              <a:rPr sz="1500" spc="-5" dirty="0">
                <a:latin typeface="Times New Roman"/>
                <a:cs typeface="Times New Roman"/>
              </a:rPr>
              <a:t>G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</a:t>
            </a:r>
            <a:r>
              <a:rPr sz="1500" dirty="0">
                <a:latin typeface="Times New Roman"/>
                <a:cs typeface="Times New Roman"/>
              </a:rPr>
              <a:t> 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6209" y="808545"/>
          <a:ext cx="8126730" cy="4037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881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Inorder:</a:t>
                      </a:r>
                      <a:r>
                        <a:rPr sz="1600" b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visit</a:t>
                      </a:r>
                      <a:r>
                        <a:rPr sz="16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sz="16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subtree,</a:t>
                      </a:r>
                      <a:r>
                        <a:rPr sz="16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visit</a:t>
                      </a:r>
                      <a:r>
                        <a:rPr sz="16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root,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visit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right subtree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078230" algn="l"/>
                          <a:tab pos="1646555" algn="l"/>
                        </a:tabLst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eorde</a:t>
                      </a:r>
                      <a:r>
                        <a:rPr sz="1600" b="1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:	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vi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	ro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visit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left,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visit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076960" algn="l"/>
                          <a:tab pos="1570990" algn="l"/>
                          <a:tab pos="2035810" algn="l"/>
                          <a:tab pos="2531110" algn="l"/>
                        </a:tabLst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Postord</a:t>
                      </a:r>
                      <a:r>
                        <a:rPr sz="160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r:	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	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t,	vi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	rig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visit root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851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private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Inorder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 marR="1465580">
                        <a:lnSpc>
                          <a:spcPct val="114999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(BSTNode root) {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if(root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!=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null)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Inorder(root.left);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Process(ro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; 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Inorder(root.right);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public void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Inorder()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{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9377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Inorder(root);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935"/>
                        </a:spcBef>
                        <a:tabLst>
                          <a:tab pos="773430" algn="l"/>
                          <a:tab pos="132334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Priv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te	void	P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eord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(BSTNode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root)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{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 marR="389255">
                        <a:lnSpc>
                          <a:spcPct val="114999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if(root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!=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null)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Process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; 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Preorder(root.left);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Preorder(root.right);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Preorder(){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Preorder(root);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87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0160" marR="1270">
                        <a:lnSpc>
                          <a:spcPct val="1151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private</a:t>
                      </a:r>
                      <a:r>
                        <a:rPr sz="16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6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Postorder</a:t>
                      </a:r>
                      <a:r>
                        <a:rPr sz="1600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(BTSNode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root){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 marR="1226185">
                        <a:lnSpc>
                          <a:spcPct val="114999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if(root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!=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null)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{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Postorder(root.left);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Postorder(root.right);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Process(root.value);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}}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Postorder(){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Postorder(root);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825" y="64389"/>
            <a:ext cx="8288655" cy="10547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5" dirty="0">
                <a:latin typeface="Times New Roman"/>
                <a:cs typeface="Times New Roman"/>
              </a:rPr>
              <a:t>Breadth-First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Traversal: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Depth-first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not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only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way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go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through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elements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Another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way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go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through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them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i="1" spc="-5" dirty="0">
                <a:latin typeface="Times New Roman"/>
                <a:cs typeface="Times New Roman"/>
              </a:rPr>
              <a:t>level-by-level</a:t>
            </a:r>
            <a:r>
              <a:rPr sz="1500" spc="-5" dirty="0">
                <a:latin typeface="Times New Roman"/>
                <a:cs typeface="Times New Roman"/>
              </a:rPr>
              <a:t>.For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example,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each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element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exists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dirty="0">
                <a:latin typeface="Times New Roman"/>
                <a:cs typeface="Times New Roman"/>
              </a:rPr>
              <a:t> a </a:t>
            </a:r>
            <a:r>
              <a:rPr sz="1500" spc="-5" dirty="0">
                <a:latin typeface="Times New Roman"/>
                <a:cs typeface="Times New Roman"/>
              </a:rPr>
              <a:t>certain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i="1" spc="-5" dirty="0">
                <a:latin typeface="Times New Roman"/>
                <a:cs typeface="Times New Roman"/>
              </a:rPr>
              <a:t>level</a:t>
            </a:r>
            <a:r>
              <a:rPr sz="1500" i="1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depth)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2921" y="1308353"/>
            <a:ext cx="8204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&lt;--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069" y="1194053"/>
            <a:ext cx="1703070" cy="24263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0"/>
              </a:spcBef>
            </a:pPr>
            <a:r>
              <a:rPr sz="1500" dirty="0">
                <a:latin typeface="Times New Roman"/>
                <a:cs typeface="Times New Roman"/>
              </a:rPr>
              <a:t>j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900"/>
              </a:spcBef>
              <a:tabLst>
                <a:tab pos="398145" algn="l"/>
              </a:tabLst>
            </a:pPr>
            <a:r>
              <a:rPr sz="1500" dirty="0">
                <a:latin typeface="Times New Roman"/>
                <a:cs typeface="Times New Roman"/>
              </a:rPr>
              <a:t>/	\</a:t>
            </a:r>
            <a:endParaRPr sz="15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900"/>
              </a:spcBef>
              <a:tabLst>
                <a:tab pos="504825" algn="l"/>
                <a:tab pos="838835" algn="l"/>
              </a:tabLst>
            </a:pPr>
            <a:r>
              <a:rPr sz="1500" dirty="0">
                <a:latin typeface="Times New Roman"/>
                <a:cs typeface="Times New Roman"/>
              </a:rPr>
              <a:t>f	k	</a:t>
            </a:r>
            <a:r>
              <a:rPr sz="1500" spc="-5" dirty="0">
                <a:latin typeface="Times New Roman"/>
                <a:cs typeface="Times New Roman"/>
              </a:rPr>
              <a:t>&lt;--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level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  <a:spcBef>
                <a:spcPts val="900"/>
              </a:spcBef>
              <a:tabLst>
                <a:tab pos="256540" algn="l"/>
                <a:tab pos="593090" algn="l"/>
              </a:tabLst>
            </a:pPr>
            <a:r>
              <a:rPr sz="1500" dirty="0">
                <a:latin typeface="Times New Roman"/>
                <a:cs typeface="Times New Roman"/>
              </a:rPr>
              <a:t>/	\	\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335915" algn="l"/>
                <a:tab pos="716915" algn="l"/>
              </a:tabLst>
            </a:pPr>
            <a:r>
              <a:rPr sz="1500" dirty="0">
                <a:latin typeface="Times New Roman"/>
                <a:cs typeface="Times New Roman"/>
              </a:rPr>
              <a:t>a	h	z</a:t>
            </a:r>
            <a:r>
              <a:rPr sz="1500" spc="3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&lt;--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  <a:spcBef>
                <a:spcPts val="900"/>
              </a:spcBef>
            </a:pPr>
            <a:r>
              <a:rPr sz="1500" dirty="0">
                <a:latin typeface="Times New Roman"/>
                <a:cs typeface="Times New Roman"/>
              </a:rPr>
              <a:t>\</a:t>
            </a:r>
            <a:endParaRPr sz="15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  <a:spcBef>
                <a:spcPts val="905"/>
              </a:spcBef>
            </a:pPr>
            <a:r>
              <a:rPr sz="1500" dirty="0">
                <a:latin typeface="Times New Roman"/>
                <a:cs typeface="Times New Roman"/>
              </a:rPr>
              <a:t>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5592" y="3366261"/>
            <a:ext cx="8204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&lt;--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825" y="3659407"/>
            <a:ext cx="8287384" cy="71120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level-by-level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traversal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called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i="1" spc="-5" dirty="0">
                <a:latin typeface="Times New Roman"/>
                <a:cs typeface="Times New Roman"/>
              </a:rPr>
              <a:t>breadth-first</a:t>
            </a:r>
            <a:r>
              <a:rPr sz="1500" i="1" spc="250" dirty="0">
                <a:latin typeface="Times New Roman"/>
                <a:cs typeface="Times New Roman"/>
              </a:rPr>
              <a:t> </a:t>
            </a:r>
            <a:r>
              <a:rPr sz="1500" i="1" spc="-5" dirty="0">
                <a:latin typeface="Times New Roman"/>
                <a:cs typeface="Times New Roman"/>
              </a:rPr>
              <a:t>traversal</a:t>
            </a:r>
            <a:r>
              <a:rPr sz="1500" i="1" spc="25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because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explore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i="1" spc="-5" dirty="0">
                <a:latin typeface="Times New Roman"/>
                <a:cs typeface="Times New Roman"/>
              </a:rPr>
              <a:t>breadth</a:t>
            </a:r>
            <a:r>
              <a:rPr sz="1500" spc="-5" dirty="0">
                <a:latin typeface="Times New Roman"/>
                <a:cs typeface="Times New Roman"/>
              </a:rPr>
              <a:t>,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i.e.,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full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dirty="0">
                <a:latin typeface="Times New Roman"/>
                <a:cs typeface="Times New Roman"/>
              </a:rPr>
              <a:t>width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before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going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i="1" spc="-5" dirty="0">
                <a:latin typeface="Times New Roman"/>
                <a:cs typeface="Times New Roman"/>
              </a:rPr>
              <a:t>deeper</a:t>
            </a:r>
            <a:r>
              <a:rPr sz="1500" spc="-5" dirty="0">
                <a:latin typeface="Times New Roman"/>
                <a:cs typeface="Times New Roman"/>
              </a:rPr>
              <a:t>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5533" y="311658"/>
            <a:ext cx="2159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Balanced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binary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121" y="804443"/>
            <a:ext cx="790765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715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balanced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4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4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4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largest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4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4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left</a:t>
            </a:r>
            <a:r>
              <a:rPr sz="1600" spc="4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length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largest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right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i.e.,</a:t>
            </a:r>
            <a:r>
              <a:rPr sz="1600" i="1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root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leaf.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Searching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less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balanced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compared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unbalanced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i.e</a:t>
            </a:r>
            <a:r>
              <a:rPr sz="1600" dirty="0">
                <a:latin typeface="Times New Roman"/>
                <a:cs typeface="Times New Roman"/>
              </a:rPr>
              <a:t>.,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balanced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maximize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efficiency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operations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types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balanced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215900" algn="l"/>
              </a:tabLst>
            </a:pPr>
            <a:r>
              <a:rPr sz="1600" spc="-5" dirty="0">
                <a:latin typeface="Times New Roman"/>
                <a:cs typeface="Times New Roman"/>
              </a:rPr>
              <a:t>Height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Balanced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endParaRPr sz="16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215900" algn="l"/>
              </a:tabLst>
            </a:pPr>
            <a:r>
              <a:rPr sz="1600" spc="-5" dirty="0">
                <a:latin typeface="Times New Roman"/>
                <a:cs typeface="Times New Roman"/>
              </a:rPr>
              <a:t>Weight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Balanced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108" y="371983"/>
            <a:ext cx="1911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Height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balanced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6108" y="614530"/>
            <a:ext cx="8331200" cy="432879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main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approaches,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may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balance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(or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decrease)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depth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Insert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number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elements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usual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way,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algorithm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given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/>
                <a:cs typeface="Times New Roman"/>
              </a:rPr>
              <a:t>previous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section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i="1" spc="-5" dirty="0">
                <a:latin typeface="Times New Roman"/>
                <a:cs typeface="Times New Roman"/>
              </a:rPr>
              <a:t>i.e</a:t>
            </a:r>
            <a:r>
              <a:rPr sz="1600" spc="-5" dirty="0">
                <a:latin typeface="Times New Roman"/>
                <a:cs typeface="Times New Roman"/>
              </a:rPr>
              <a:t>.,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insertion).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After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inserting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elements,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copy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</a:p>
          <a:p>
            <a:pPr marL="299085" marR="6350">
              <a:lnSpc>
                <a:spcPct val="15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another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binary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such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way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balanced.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method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efficient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data(s)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continually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added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Another </a:t>
            </a:r>
            <a:r>
              <a:rPr sz="1600" spc="-5" dirty="0">
                <a:latin typeface="Times New Roman"/>
                <a:cs typeface="Times New Roman"/>
              </a:rPr>
              <a:t>popular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constructing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height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balanced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binary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AVL tree.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latin typeface="Times New Roman"/>
                <a:cs typeface="Times New Roman"/>
              </a:rPr>
              <a:t>AVL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algorithm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was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developed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1962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Russian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Mathematicians,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G.M.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Adel’son</a:t>
            </a:r>
            <a:r>
              <a:rPr sz="1500" spc="2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Vel’sky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endParaRPr sz="15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E.M.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Landis;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here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 </a:t>
            </a:r>
            <a:r>
              <a:rPr sz="1500" spc="-5" dirty="0">
                <a:latin typeface="Times New Roman"/>
                <a:cs typeface="Times New Roman"/>
              </a:rPr>
              <a:t>called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AVL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endParaRPr sz="15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binary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said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balanced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height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left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right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children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every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differ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either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endParaRPr lang="en-US" sz="1500" spc="25" dirty="0">
              <a:latin typeface="Times New Roman"/>
              <a:cs typeface="Times New Roman"/>
            </a:endParaRPr>
          </a:p>
          <a:p>
            <a:pPr marL="12065" marR="5080">
              <a:lnSpc>
                <a:spcPct val="150000"/>
              </a:lnSpc>
              <a:tabLst>
                <a:tab pos="299085" algn="l"/>
                <a:tab pos="299720" algn="l"/>
              </a:tabLst>
            </a:pPr>
            <a:r>
              <a:rPr lang="en-US" sz="1500" spc="25" dirty="0">
                <a:latin typeface="Times New Roman"/>
                <a:cs typeface="Times New Roman"/>
              </a:rPr>
              <a:t>	</a:t>
            </a:r>
            <a:r>
              <a:rPr sz="1500" dirty="0">
                <a:latin typeface="Times New Roman"/>
                <a:cs typeface="Times New Roman"/>
              </a:rPr>
              <a:t>-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+1.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AVL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tree,</a:t>
            </a:r>
            <a:r>
              <a:rPr sz="1500" dirty="0">
                <a:latin typeface="Times New Roman"/>
                <a:cs typeface="Times New Roman"/>
              </a:rPr>
              <a:t> every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maintains an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extra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information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known </a:t>
            </a:r>
            <a:r>
              <a:rPr sz="1500" spc="-10" dirty="0">
                <a:latin typeface="Times New Roman"/>
                <a:cs typeface="Times New Roman"/>
              </a:rPr>
              <a:t>as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balance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factor</a:t>
            </a:r>
            <a:r>
              <a:rPr sz="1500" spc="-5" dirty="0">
                <a:latin typeface="Times New Roman"/>
                <a:cs typeface="Times New Roman"/>
              </a:rPr>
              <a:t>.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551" y="454279"/>
            <a:ext cx="5636895" cy="73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AVL</a:t>
            </a:r>
            <a:r>
              <a:rPr sz="1600" spc="-5" dirty="0">
                <a:latin typeface="Times New Roman"/>
                <a:cs typeface="Times New Roman"/>
              </a:rPr>
              <a:t> tree,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balance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factor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every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either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-1,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+1.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Balance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factor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heightOfLeftSubtree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–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heightOfRightSubtree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727" y="1990147"/>
            <a:ext cx="3788665" cy="23403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4565" y="397489"/>
            <a:ext cx="7776845" cy="242633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500" b="1" spc="-5" dirty="0">
                <a:latin typeface="Times New Roman"/>
                <a:cs typeface="Times New Roman"/>
              </a:rPr>
              <a:t>AVL </a:t>
            </a:r>
            <a:r>
              <a:rPr sz="1500" b="1" spc="-10" dirty="0">
                <a:latin typeface="Times New Roman"/>
                <a:cs typeface="Times New Roman"/>
              </a:rPr>
              <a:t>Tree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Rotations: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In </a:t>
            </a:r>
            <a:r>
              <a:rPr sz="1500" spc="-5" dirty="0">
                <a:latin typeface="Times New Roman"/>
                <a:cs typeface="Times New Roman"/>
              </a:rPr>
              <a:t>AVL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tree,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after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performing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operations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like </a:t>
            </a:r>
            <a:r>
              <a:rPr sz="1500" spc="-5" dirty="0">
                <a:latin typeface="Times New Roman"/>
                <a:cs typeface="Times New Roman"/>
              </a:rPr>
              <a:t>insertion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 deletion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 need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check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balance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0"/>
              </a:spcBef>
            </a:pPr>
            <a:r>
              <a:rPr sz="1500" b="1" dirty="0">
                <a:latin typeface="Times New Roman"/>
                <a:cs typeface="Times New Roman"/>
              </a:rPr>
              <a:t>factor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every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becomes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imbalanced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due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any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rotation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operations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make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balanced.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Rotation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process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moving nodes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either</a:t>
            </a:r>
            <a:r>
              <a:rPr sz="1500" dirty="0">
                <a:latin typeface="Times New Roman"/>
                <a:cs typeface="Times New Roman"/>
              </a:rPr>
              <a:t> 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left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 right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make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tree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balanced.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Four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types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rotations</a:t>
            </a:r>
            <a:r>
              <a:rPr sz="1500" spc="-5" dirty="0">
                <a:latin typeface="Times New Roman"/>
                <a:cs typeface="Times New Roman"/>
              </a:rPr>
              <a:t> and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classified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types.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736" y="3172586"/>
            <a:ext cx="4655820" cy="15948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973" y="398145"/>
            <a:ext cx="8176259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Left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Rotation: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becomes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unbalanced,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when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inserted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into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right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subtree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right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subtree,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then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 perform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 single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rotation.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895" y="1946814"/>
            <a:ext cx="4738711" cy="17882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356340"/>
            <a:ext cx="8002905" cy="105410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500" b="1" spc="-5" dirty="0">
                <a:latin typeface="Times New Roman"/>
                <a:cs typeface="Times New Roman"/>
              </a:rPr>
              <a:t>Right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Rotation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AVL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may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become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unbalanced,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inserted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left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subtree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left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subtree.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needs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 right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rotation.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484" y="1908333"/>
            <a:ext cx="4692961" cy="176329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314452"/>
            <a:ext cx="8021320" cy="10547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5" dirty="0">
                <a:latin typeface="Times New Roman"/>
                <a:cs typeface="Times New Roman"/>
              </a:rPr>
              <a:t>Left-Right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Rotation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LR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Rotation,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first,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every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moves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position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left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and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position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right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current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640" y="2028729"/>
            <a:ext cx="5877448" cy="170627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848" y="449707"/>
            <a:ext cx="8105775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Right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Left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Rotation: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RL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Rotation,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at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every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moves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one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position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right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and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one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position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left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current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5388" y="2150268"/>
            <a:ext cx="5357764" cy="170188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498" y="429895"/>
            <a:ext cx="156781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Some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Special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cases: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b="1" spc="-5" dirty="0">
                <a:latin typeface="Times New Roman"/>
                <a:cs typeface="Times New Roman"/>
              </a:rPr>
              <a:t>Left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Left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Case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844" y="1219200"/>
            <a:ext cx="4811267" cy="17998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6523" y="3163316"/>
            <a:ext cx="1221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Left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Right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Case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844" y="3462528"/>
            <a:ext cx="5705856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443" y="406653"/>
            <a:ext cx="1424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Right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Right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Case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896111"/>
            <a:ext cx="3695700" cy="15621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2879" y="2831668"/>
            <a:ext cx="13061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Right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Left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Case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595" y="3133344"/>
            <a:ext cx="5609844" cy="149504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987" y="418846"/>
            <a:ext cx="6377940" cy="2786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following</a:t>
            </a:r>
            <a:r>
              <a:rPr sz="1500" spc="-5" dirty="0">
                <a:latin typeface="Times New Roman"/>
                <a:cs typeface="Times New Roman"/>
              </a:rPr>
              <a:t> operations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performed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AVL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tree...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Search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500" dirty="0">
                <a:latin typeface="Times New Roman"/>
                <a:cs typeface="Times New Roman"/>
              </a:rPr>
              <a:t>Insertion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/>
            </a:pPr>
            <a:endParaRPr sz="1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Deletion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187325">
              <a:lnSpc>
                <a:spcPct val="100000"/>
              </a:lnSpc>
              <a:spcBef>
                <a:spcPts val="1250"/>
              </a:spcBef>
            </a:pPr>
            <a:r>
              <a:rPr sz="1500" spc="-5" dirty="0">
                <a:latin typeface="Times New Roman"/>
                <a:cs typeface="Times New Roman"/>
              </a:rPr>
              <a:t>Example</a:t>
            </a:r>
            <a:endParaRPr sz="1500">
              <a:latin typeface="Times New Roman"/>
              <a:cs typeface="Times New Roman"/>
            </a:endParaRPr>
          </a:p>
          <a:p>
            <a:pPr marL="473709" lvl="1" indent="-287020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473709" algn="l"/>
                <a:tab pos="474345" algn="l"/>
              </a:tabLst>
            </a:pPr>
            <a:r>
              <a:rPr sz="1500" spc="-5" dirty="0">
                <a:latin typeface="Times New Roman"/>
                <a:cs typeface="Times New Roman"/>
              </a:rPr>
              <a:t>Build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AVL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following </a:t>
            </a:r>
            <a:r>
              <a:rPr sz="1500" spc="-5" dirty="0">
                <a:latin typeface="Times New Roman"/>
                <a:cs typeface="Times New Roman"/>
              </a:rPr>
              <a:t>values: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15,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24,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10,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13,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7,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30,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36,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25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719" y="745951"/>
            <a:ext cx="4870649" cy="334794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086" y="645615"/>
            <a:ext cx="5225122" cy="353655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777" y="1239726"/>
            <a:ext cx="4272399" cy="262209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848" y="418846"/>
            <a:ext cx="8043545" cy="138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The </a:t>
            </a:r>
            <a:r>
              <a:rPr sz="1500" b="1" spc="-5" dirty="0">
                <a:latin typeface="Times New Roman"/>
                <a:cs typeface="Times New Roman"/>
              </a:rPr>
              <a:t>deletion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operation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 </a:t>
            </a:r>
            <a:r>
              <a:rPr sz="1500" spc="-5" dirty="0">
                <a:latin typeface="Times New Roman"/>
                <a:cs typeface="Times New Roman"/>
              </a:rPr>
              <a:t>AVL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similar</a:t>
            </a:r>
            <a:r>
              <a:rPr sz="1500" dirty="0">
                <a:latin typeface="Times New Roman"/>
                <a:cs typeface="Times New Roman"/>
              </a:rPr>
              <a:t> to </a:t>
            </a:r>
            <a:r>
              <a:rPr sz="1500" spc="-5" dirty="0">
                <a:latin typeface="Times New Roman"/>
                <a:cs typeface="Times New Roman"/>
              </a:rPr>
              <a:t>deletion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operation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 </a:t>
            </a:r>
            <a:r>
              <a:rPr sz="1500" spc="-5" dirty="0">
                <a:latin typeface="Times New Roman"/>
                <a:cs typeface="Times New Roman"/>
              </a:rPr>
              <a:t>BST.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100"/>
              </a:lnSpc>
              <a:spcBef>
                <a:spcPts val="790"/>
              </a:spcBef>
              <a:buFont typeface="Arial MT"/>
              <a:buChar char="•"/>
              <a:tabLst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But after every deletion operation, we </a:t>
            </a:r>
            <a:r>
              <a:rPr sz="1500" spc="-10" dirty="0">
                <a:latin typeface="Times New Roman"/>
                <a:cs typeface="Times New Roman"/>
              </a:rPr>
              <a:t>need </a:t>
            </a:r>
            <a:r>
              <a:rPr sz="1500" dirty="0">
                <a:latin typeface="Times New Roman"/>
                <a:cs typeface="Times New Roman"/>
              </a:rPr>
              <a:t>to </a:t>
            </a:r>
            <a:r>
              <a:rPr sz="1500" spc="-5" dirty="0">
                <a:latin typeface="Times New Roman"/>
                <a:cs typeface="Times New Roman"/>
              </a:rPr>
              <a:t>check with </a:t>
            </a:r>
            <a:r>
              <a:rPr sz="1500" spc="-1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Balance Factor condition. </a:t>
            </a:r>
            <a:r>
              <a:rPr sz="1500" dirty="0">
                <a:latin typeface="Times New Roman"/>
                <a:cs typeface="Times New Roman"/>
              </a:rPr>
              <a:t>If the </a:t>
            </a:r>
            <a:r>
              <a:rPr sz="1500" spc="-5" dirty="0">
                <a:latin typeface="Times New Roman"/>
                <a:cs typeface="Times New Roman"/>
              </a:rPr>
              <a:t>tree </a:t>
            </a:r>
            <a:r>
              <a:rPr sz="1500" spc="-15" dirty="0">
                <a:latin typeface="Times New Roman"/>
                <a:cs typeface="Times New Roman"/>
              </a:rPr>
              <a:t>is 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balanced after deletion </a:t>
            </a:r>
            <a:r>
              <a:rPr sz="1500" dirty="0">
                <a:latin typeface="Times New Roman"/>
                <a:cs typeface="Times New Roman"/>
              </a:rPr>
              <a:t>go </a:t>
            </a:r>
            <a:r>
              <a:rPr sz="1500" spc="-5" dirty="0">
                <a:latin typeface="Times New Roman"/>
                <a:cs typeface="Times New Roman"/>
              </a:rPr>
              <a:t>for next operation </a:t>
            </a:r>
            <a:r>
              <a:rPr sz="1500" dirty="0">
                <a:latin typeface="Times New Roman"/>
                <a:cs typeface="Times New Roman"/>
              </a:rPr>
              <a:t>otherwise </a:t>
            </a:r>
            <a:r>
              <a:rPr sz="1500" spc="-5" dirty="0">
                <a:latin typeface="Times New Roman"/>
                <a:cs typeface="Times New Roman"/>
              </a:rPr>
              <a:t>perform suitable rotation </a:t>
            </a:r>
            <a:r>
              <a:rPr sz="1500" dirty="0">
                <a:latin typeface="Times New Roman"/>
                <a:cs typeface="Times New Roman"/>
              </a:rPr>
              <a:t>to </a:t>
            </a:r>
            <a:r>
              <a:rPr sz="1500" spc="-10" dirty="0">
                <a:latin typeface="Times New Roman"/>
                <a:cs typeface="Times New Roman"/>
              </a:rPr>
              <a:t>make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tree 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Balanced.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561" y="1767148"/>
            <a:ext cx="3756280" cy="299781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352684"/>
            <a:ext cx="2657475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spc="-10" dirty="0">
                <a:latin typeface="Times New Roman"/>
                <a:cs typeface="Times New Roman"/>
              </a:rPr>
              <a:t>Example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Insert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3,2,1,4,5,6,7,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16,15,14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62" y="1527524"/>
            <a:ext cx="5448132" cy="293435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069" y="534923"/>
            <a:ext cx="6192931" cy="401191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69" y="956120"/>
            <a:ext cx="5851322" cy="337224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875" y="724650"/>
            <a:ext cx="5616876" cy="27009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336" y="505460"/>
            <a:ext cx="8145145" cy="1834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Applications: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spcBef>
                <a:spcPts val="8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Memory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management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subsystem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Linux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kernel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search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memory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regions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processes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during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preemption.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Data analysis,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mining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15" dirty="0">
                <a:latin typeface="Times New Roman"/>
                <a:cs typeface="Times New Roman"/>
              </a:rPr>
              <a:t>Time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complexity: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O(log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222" y="292734"/>
            <a:ext cx="8141334" cy="24263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5" dirty="0">
                <a:latin typeface="Times New Roman"/>
                <a:cs typeface="Times New Roman"/>
              </a:rPr>
              <a:t>Weight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balanced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tree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weight-balanced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balanced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binary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which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additional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field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also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there.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nodes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 </a:t>
            </a:r>
            <a:r>
              <a:rPr sz="1500" spc="-5" dirty="0">
                <a:latin typeface="Times New Roman"/>
                <a:cs typeface="Times New Roman"/>
              </a:rPr>
              <a:t>weight-balanced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contain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four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fields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: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Data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Element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Left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Pointer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Right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Pointer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5"/>
              </a:spcBef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probability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field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222" y="3722623"/>
            <a:ext cx="81400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element,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left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and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right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pointer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fields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save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as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any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other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The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probability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field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dirty="0">
                <a:latin typeface="Times New Roman"/>
                <a:cs typeface="Times New Roman"/>
              </a:rPr>
              <a:t> 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specially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added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field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weight-balanced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1671" y="1758759"/>
            <a:ext cx="2595879" cy="188560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417" y="243662"/>
            <a:ext cx="7796530" cy="467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B-Tree</a:t>
            </a:r>
            <a:endParaRPr sz="15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B-Tree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was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year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1972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Bayer</a:t>
            </a:r>
            <a:r>
              <a:rPr sz="1500" b="1" spc="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McCreight</a:t>
            </a:r>
            <a:r>
              <a:rPr sz="1500" b="1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name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Height </a:t>
            </a:r>
            <a:r>
              <a:rPr sz="1500" b="1" spc="-36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Balanced m-way</a:t>
            </a:r>
            <a:r>
              <a:rPr sz="1500" b="1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Search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Tree</a:t>
            </a:r>
            <a:r>
              <a:rPr sz="1500" spc="-10" dirty="0">
                <a:latin typeface="Times New Roman"/>
                <a:cs typeface="Times New Roman"/>
              </a:rPr>
              <a:t>.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Later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was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named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B-Tree.</a:t>
            </a:r>
            <a:endParaRPr sz="1500" dirty="0">
              <a:latin typeface="Times New Roman"/>
              <a:cs typeface="Times New Roman"/>
            </a:endParaRPr>
          </a:p>
          <a:p>
            <a:pPr marL="299085" marR="6350" indent="-287020">
              <a:lnSpc>
                <a:spcPct val="150000"/>
              </a:lnSpc>
              <a:spcBef>
                <a:spcPts val="8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B-Tree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self-balanced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search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which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every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contains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multiple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keys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has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more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dirty="0">
                <a:latin typeface="Times New Roman"/>
                <a:cs typeface="Times New Roman"/>
              </a:rPr>
              <a:t> children.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Times New Roman"/>
                <a:cs typeface="Times New Roman"/>
              </a:rPr>
              <a:t>B-Tree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Order </a:t>
            </a:r>
            <a:r>
              <a:rPr sz="1500" dirty="0">
                <a:latin typeface="Times New Roman"/>
                <a:cs typeface="Times New Roman"/>
              </a:rPr>
              <a:t>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has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properties</a:t>
            </a: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Property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-</a:t>
            </a:r>
            <a:r>
              <a:rPr sz="1500" spc="-5" dirty="0">
                <a:latin typeface="Times New Roman"/>
                <a:cs typeface="Times New Roman"/>
              </a:rPr>
              <a:t> All leaf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must</a:t>
            </a:r>
            <a:r>
              <a:rPr sz="1500" dirty="0">
                <a:latin typeface="Times New Roman"/>
                <a:cs typeface="Times New Roman"/>
              </a:rPr>
              <a:t> be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 same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level.</a:t>
            </a: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Property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2 -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All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 except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root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must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least [m/2]-1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keys</a:t>
            </a:r>
            <a:r>
              <a:rPr sz="1500" dirty="0">
                <a:latin typeface="Times New Roman"/>
                <a:cs typeface="Times New Roman"/>
              </a:rPr>
              <a:t> 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lang="en-US" sz="1500" spc="-5" dirty="0">
                <a:latin typeface="Times New Roman"/>
                <a:cs typeface="Times New Roman"/>
              </a:rPr>
              <a:t>a </a:t>
            </a:r>
            <a:r>
              <a:rPr sz="1500" spc="-10" dirty="0">
                <a:latin typeface="Times New Roman"/>
                <a:cs typeface="Times New Roman"/>
              </a:rPr>
              <a:t>maximum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m-1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keys.</a:t>
            </a:r>
            <a:endParaRPr sz="15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2700"/>
              </a:lnSpc>
              <a:spcBef>
                <a:spcPts val="240"/>
              </a:spcBef>
              <a:buFont typeface="Arial MT"/>
              <a:buChar char="•"/>
              <a:tabLst>
                <a:tab pos="299085" algn="l"/>
                <a:tab pos="299720" algn="l"/>
                <a:tab pos="1106805" algn="l"/>
                <a:tab pos="1351915" algn="l"/>
                <a:tab pos="1567180" algn="l"/>
                <a:tab pos="1958975" algn="l"/>
                <a:tab pos="2743835" algn="l"/>
                <a:tab pos="3338195" algn="l"/>
                <a:tab pos="3985895" algn="l"/>
                <a:tab pos="4441825" algn="l"/>
                <a:tab pos="4886960" algn="l"/>
                <a:tab pos="5226685" algn="l"/>
                <a:tab pos="5956935" algn="l"/>
                <a:tab pos="6616700" algn="l"/>
                <a:tab pos="7138034" algn="l"/>
                <a:tab pos="7647305" algn="l"/>
              </a:tabLst>
            </a:pPr>
            <a:r>
              <a:rPr sz="1500" spc="-5" dirty="0">
                <a:latin typeface="Times New Roman"/>
                <a:cs typeface="Times New Roman"/>
              </a:rPr>
              <a:t>P</a:t>
            </a:r>
            <a:r>
              <a:rPr sz="1500" dirty="0">
                <a:latin typeface="Times New Roman"/>
                <a:cs typeface="Times New Roman"/>
              </a:rPr>
              <a:t>rop</a:t>
            </a:r>
            <a:r>
              <a:rPr sz="1500" spc="-10" dirty="0">
                <a:latin typeface="Times New Roman"/>
                <a:cs typeface="Times New Roman"/>
              </a:rPr>
              <a:t>e</a:t>
            </a:r>
            <a:r>
              <a:rPr sz="1500" dirty="0">
                <a:latin typeface="Times New Roman"/>
                <a:cs typeface="Times New Roman"/>
              </a:rPr>
              <a:t>r</a:t>
            </a:r>
            <a:r>
              <a:rPr sz="1500" spc="5" dirty="0">
                <a:latin typeface="Times New Roman"/>
                <a:cs typeface="Times New Roman"/>
              </a:rPr>
              <a:t>t</a:t>
            </a:r>
            <a:r>
              <a:rPr sz="1500" dirty="0">
                <a:latin typeface="Times New Roman"/>
                <a:cs typeface="Times New Roman"/>
              </a:rPr>
              <a:t>y	3	-	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l</a:t>
            </a:r>
            <a:r>
              <a:rPr sz="1500" dirty="0">
                <a:latin typeface="Times New Roman"/>
                <a:cs typeface="Times New Roman"/>
              </a:rPr>
              <a:t>l	n</a:t>
            </a:r>
            <a:r>
              <a:rPr sz="1500" spc="-10" dirty="0">
                <a:latin typeface="Times New Roman"/>
                <a:cs typeface="Times New Roman"/>
              </a:rPr>
              <a:t>o</a:t>
            </a:r>
            <a:r>
              <a:rPr sz="1500" spc="5" dirty="0">
                <a:latin typeface="Times New Roman"/>
                <a:cs typeface="Times New Roman"/>
              </a:rPr>
              <a:t>n</a:t>
            </a:r>
            <a:r>
              <a:rPr sz="1500" spc="-10" dirty="0">
                <a:latin typeface="Times New Roman"/>
                <a:cs typeface="Times New Roman"/>
              </a:rPr>
              <a:t>-</a:t>
            </a:r>
            <a:r>
              <a:rPr sz="1500" dirty="0">
                <a:latin typeface="Times New Roman"/>
                <a:cs typeface="Times New Roman"/>
              </a:rPr>
              <a:t>le</a:t>
            </a:r>
            <a:r>
              <a:rPr sz="1500" spc="-1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f	</a:t>
            </a:r>
            <a:r>
              <a:rPr sz="1500" spc="-10" dirty="0">
                <a:latin typeface="Times New Roman"/>
                <a:cs typeface="Times New Roman"/>
              </a:rPr>
              <a:t>n</a:t>
            </a:r>
            <a:r>
              <a:rPr sz="1500" dirty="0">
                <a:latin typeface="Times New Roman"/>
                <a:cs typeface="Times New Roman"/>
              </a:rPr>
              <a:t>od</a:t>
            </a:r>
            <a:r>
              <a:rPr sz="1500" spc="-10" dirty="0">
                <a:latin typeface="Times New Roman"/>
                <a:cs typeface="Times New Roman"/>
              </a:rPr>
              <a:t>e</a:t>
            </a:r>
            <a:r>
              <a:rPr sz="1500" spc="-5" dirty="0">
                <a:latin typeface="Times New Roman"/>
                <a:cs typeface="Times New Roman"/>
              </a:rPr>
              <a:t>s</a:t>
            </a:r>
            <a:r>
              <a:rPr sz="1500" dirty="0">
                <a:latin typeface="Times New Roman"/>
                <a:cs typeface="Times New Roman"/>
              </a:rPr>
              <a:t>	exc</a:t>
            </a:r>
            <a:r>
              <a:rPr sz="1500" spc="-10" dirty="0">
                <a:latin typeface="Times New Roman"/>
                <a:cs typeface="Times New Roman"/>
              </a:rPr>
              <a:t>e</a:t>
            </a:r>
            <a:r>
              <a:rPr sz="1500" spc="5" dirty="0">
                <a:latin typeface="Times New Roman"/>
                <a:cs typeface="Times New Roman"/>
              </a:rPr>
              <a:t>p</a:t>
            </a:r>
            <a:r>
              <a:rPr sz="1500" dirty="0">
                <a:latin typeface="Times New Roman"/>
                <a:cs typeface="Times New Roman"/>
              </a:rPr>
              <a:t>t	</a:t>
            </a:r>
            <a:r>
              <a:rPr sz="1500" spc="-10" dirty="0">
                <a:latin typeface="Times New Roman"/>
                <a:cs typeface="Times New Roman"/>
              </a:rPr>
              <a:t>r</a:t>
            </a:r>
            <a:r>
              <a:rPr sz="1500" dirty="0">
                <a:latin typeface="Times New Roman"/>
                <a:cs typeface="Times New Roman"/>
              </a:rPr>
              <a:t>o</a:t>
            </a:r>
            <a:r>
              <a:rPr sz="1500" spc="-10" dirty="0">
                <a:latin typeface="Times New Roman"/>
                <a:cs typeface="Times New Roman"/>
              </a:rPr>
              <a:t>o</a:t>
            </a:r>
            <a:r>
              <a:rPr sz="1500" dirty="0">
                <a:latin typeface="Times New Roman"/>
                <a:cs typeface="Times New Roman"/>
              </a:rPr>
              <a:t>t	(i</a:t>
            </a:r>
            <a:r>
              <a:rPr sz="1500" spc="-5" dirty="0">
                <a:latin typeface="Times New Roman"/>
                <a:cs typeface="Times New Roman"/>
              </a:rPr>
              <a:t>.</a:t>
            </a:r>
            <a:r>
              <a:rPr sz="1500" spc="-10" dirty="0">
                <a:latin typeface="Times New Roman"/>
                <a:cs typeface="Times New Roman"/>
              </a:rPr>
              <a:t>e</a:t>
            </a:r>
            <a:r>
              <a:rPr sz="1500" dirty="0">
                <a:latin typeface="Times New Roman"/>
                <a:cs typeface="Times New Roman"/>
              </a:rPr>
              <a:t>.	</a:t>
            </a:r>
            <a:r>
              <a:rPr sz="1500" spc="-1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ll	int</a:t>
            </a:r>
            <a:r>
              <a:rPr sz="1500" spc="-10" dirty="0">
                <a:latin typeface="Times New Roman"/>
                <a:cs typeface="Times New Roman"/>
              </a:rPr>
              <a:t>er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1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l	n</a:t>
            </a:r>
            <a:r>
              <a:rPr sz="1500" spc="-10" dirty="0">
                <a:latin typeface="Times New Roman"/>
                <a:cs typeface="Times New Roman"/>
              </a:rPr>
              <a:t>o</a:t>
            </a:r>
            <a:r>
              <a:rPr sz="1500" dirty="0">
                <a:latin typeface="Times New Roman"/>
                <a:cs typeface="Times New Roman"/>
              </a:rPr>
              <a:t>d</a:t>
            </a:r>
            <a:r>
              <a:rPr sz="1500" spc="-10" dirty="0">
                <a:latin typeface="Times New Roman"/>
                <a:cs typeface="Times New Roman"/>
              </a:rPr>
              <a:t>e</a:t>
            </a:r>
            <a:r>
              <a:rPr sz="1500" spc="-5" dirty="0">
                <a:latin typeface="Times New Roman"/>
                <a:cs typeface="Times New Roman"/>
              </a:rPr>
              <a:t>s)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5" dirty="0">
                <a:latin typeface="Times New Roman"/>
                <a:cs typeface="Times New Roman"/>
              </a:rPr>
              <a:t>m</a:t>
            </a:r>
            <a:r>
              <a:rPr sz="1500" dirty="0">
                <a:latin typeface="Times New Roman"/>
                <a:cs typeface="Times New Roman"/>
              </a:rPr>
              <a:t>u</a:t>
            </a:r>
            <a:r>
              <a:rPr sz="1500" spc="-5" dirty="0">
                <a:latin typeface="Times New Roman"/>
                <a:cs typeface="Times New Roman"/>
              </a:rPr>
              <a:t>st</a:t>
            </a:r>
            <a:r>
              <a:rPr sz="1500" dirty="0">
                <a:latin typeface="Times New Roman"/>
                <a:cs typeface="Times New Roman"/>
              </a:rPr>
              <a:t>	h</a:t>
            </a:r>
            <a:r>
              <a:rPr sz="1500" spc="-2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ve	</a:t>
            </a:r>
            <a:r>
              <a:rPr sz="1500" spc="-10" dirty="0">
                <a:latin typeface="Times New Roman"/>
                <a:cs typeface="Times New Roman"/>
              </a:rPr>
              <a:t>at</a:t>
            </a:r>
            <a:r>
              <a:rPr lang="en-US"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least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m/2</a:t>
            </a:r>
            <a:r>
              <a:rPr sz="1500" dirty="0">
                <a:latin typeface="Times New Roman"/>
                <a:cs typeface="Times New Roman"/>
              </a:rPr>
              <a:t> children.</a:t>
            </a:r>
          </a:p>
          <a:p>
            <a:pPr marL="299085" indent="-28702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Property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4 -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 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non-leaf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must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 at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children.</a:t>
            </a:r>
            <a:endParaRPr sz="15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Property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5 -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 non-leaf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n-1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keys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must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5" dirty="0">
                <a:latin typeface="Times New Roman"/>
                <a:cs typeface="Times New Roman"/>
              </a:rPr>
              <a:t> number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children.</a:t>
            </a: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Property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6 - All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key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values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must</a:t>
            </a:r>
            <a:r>
              <a:rPr sz="1500" dirty="0">
                <a:latin typeface="Times New Roman"/>
                <a:cs typeface="Times New Roman"/>
              </a:rPr>
              <a:t> be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Ascending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Order.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906" y="459435"/>
            <a:ext cx="82480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/>
              <a:t>For</a:t>
            </a:r>
            <a:r>
              <a:rPr sz="1500" spc="20" dirty="0"/>
              <a:t> </a:t>
            </a:r>
            <a:r>
              <a:rPr sz="1500" spc="-5" dirty="0"/>
              <a:t>example,</a:t>
            </a:r>
            <a:r>
              <a:rPr sz="1500" spc="5" dirty="0"/>
              <a:t> </a:t>
            </a:r>
            <a:r>
              <a:rPr sz="1500" spc="-5" dirty="0"/>
              <a:t>B-Tree</a:t>
            </a:r>
            <a:r>
              <a:rPr sz="1500" spc="15" dirty="0"/>
              <a:t> </a:t>
            </a:r>
            <a:r>
              <a:rPr sz="1500" dirty="0"/>
              <a:t>of</a:t>
            </a:r>
            <a:r>
              <a:rPr sz="1500" spc="20" dirty="0"/>
              <a:t> </a:t>
            </a:r>
            <a:r>
              <a:rPr sz="1500" spc="-5" dirty="0"/>
              <a:t>Order</a:t>
            </a:r>
            <a:r>
              <a:rPr sz="1500" spc="15" dirty="0"/>
              <a:t> </a:t>
            </a:r>
            <a:r>
              <a:rPr sz="1500" dirty="0"/>
              <a:t>4</a:t>
            </a:r>
            <a:r>
              <a:rPr sz="1500" spc="25" dirty="0"/>
              <a:t> </a:t>
            </a:r>
            <a:r>
              <a:rPr sz="1500" spc="-5" dirty="0"/>
              <a:t>contains</a:t>
            </a:r>
            <a:r>
              <a:rPr sz="1500" spc="30" dirty="0"/>
              <a:t> </a:t>
            </a:r>
            <a:r>
              <a:rPr sz="1500" dirty="0"/>
              <a:t>a</a:t>
            </a:r>
            <a:r>
              <a:rPr sz="1500" spc="10" dirty="0"/>
              <a:t> </a:t>
            </a:r>
            <a:r>
              <a:rPr sz="1500" spc="-5" dirty="0"/>
              <a:t>maximum</a:t>
            </a:r>
            <a:r>
              <a:rPr sz="1500" spc="5" dirty="0"/>
              <a:t> </a:t>
            </a:r>
            <a:r>
              <a:rPr sz="1500" dirty="0"/>
              <a:t>of</a:t>
            </a:r>
            <a:r>
              <a:rPr sz="1500" spc="25" dirty="0"/>
              <a:t> </a:t>
            </a:r>
            <a:r>
              <a:rPr sz="1500" dirty="0"/>
              <a:t>3</a:t>
            </a:r>
            <a:r>
              <a:rPr sz="1500" spc="25" dirty="0"/>
              <a:t> </a:t>
            </a:r>
            <a:r>
              <a:rPr sz="1500" spc="-5" dirty="0"/>
              <a:t>key</a:t>
            </a:r>
            <a:r>
              <a:rPr sz="1500" spc="15" dirty="0"/>
              <a:t> </a:t>
            </a:r>
            <a:r>
              <a:rPr sz="1500" spc="-5" dirty="0"/>
              <a:t>values</a:t>
            </a:r>
            <a:r>
              <a:rPr sz="1500" spc="25" dirty="0"/>
              <a:t> </a:t>
            </a:r>
            <a:r>
              <a:rPr sz="1500" spc="-5" dirty="0"/>
              <a:t>in</a:t>
            </a:r>
            <a:r>
              <a:rPr sz="1500" spc="30" dirty="0"/>
              <a:t> </a:t>
            </a:r>
            <a:r>
              <a:rPr sz="1500" dirty="0"/>
              <a:t>a</a:t>
            </a:r>
            <a:r>
              <a:rPr sz="1500" spc="10" dirty="0"/>
              <a:t> </a:t>
            </a:r>
            <a:r>
              <a:rPr sz="1500" spc="-5" dirty="0"/>
              <a:t>node</a:t>
            </a:r>
            <a:r>
              <a:rPr sz="1500" spc="5" dirty="0"/>
              <a:t> </a:t>
            </a:r>
            <a:r>
              <a:rPr sz="1500" spc="-5" dirty="0"/>
              <a:t>and</a:t>
            </a:r>
            <a:r>
              <a:rPr sz="1500" spc="30" dirty="0"/>
              <a:t> </a:t>
            </a:r>
            <a:r>
              <a:rPr sz="1500" spc="-5" dirty="0"/>
              <a:t>maximum</a:t>
            </a:r>
            <a:r>
              <a:rPr sz="1500" spc="10" dirty="0"/>
              <a:t> </a:t>
            </a:r>
            <a:r>
              <a:rPr sz="1500" dirty="0"/>
              <a:t>of</a:t>
            </a:r>
            <a:r>
              <a:rPr sz="1500" spc="25" dirty="0"/>
              <a:t> </a:t>
            </a:r>
            <a:r>
              <a:rPr sz="1500" dirty="0"/>
              <a:t>4</a:t>
            </a:r>
            <a:r>
              <a:rPr sz="1500" spc="10" dirty="0"/>
              <a:t> </a:t>
            </a:r>
            <a:r>
              <a:rPr sz="1500" spc="-5" dirty="0"/>
              <a:t>children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571906" y="802894"/>
            <a:ext cx="8034655" cy="3966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node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Insertion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Operation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5" dirty="0">
                <a:latin typeface="Times New Roman"/>
                <a:cs typeface="Times New Roman"/>
              </a:rPr>
              <a:t>in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B-Tree</a:t>
            </a:r>
            <a:endParaRPr sz="14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Step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Check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whether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Empty.</a:t>
            </a:r>
            <a:endParaRPr sz="1400">
              <a:latin typeface="Times New Roman"/>
              <a:cs typeface="Times New Roman"/>
            </a:endParaRPr>
          </a:p>
          <a:p>
            <a:pPr marL="94615" marR="5080">
              <a:lnSpc>
                <a:spcPct val="150000"/>
              </a:lnSpc>
            </a:pPr>
            <a:r>
              <a:rPr sz="1400" dirty="0">
                <a:latin typeface="Times New Roman"/>
                <a:cs typeface="Times New Roman"/>
              </a:rPr>
              <a:t>Step 2 - If tree is </a:t>
            </a:r>
            <a:r>
              <a:rPr sz="1400" spc="-10" dirty="0">
                <a:latin typeface="Times New Roman"/>
                <a:cs typeface="Times New Roman"/>
              </a:rPr>
              <a:t>Empty, </a:t>
            </a:r>
            <a:r>
              <a:rPr sz="1400" dirty="0">
                <a:latin typeface="Times New Roman"/>
                <a:cs typeface="Times New Roman"/>
              </a:rPr>
              <a:t>then create a new </a:t>
            </a:r>
            <a:r>
              <a:rPr sz="1400" spc="5" dirty="0">
                <a:latin typeface="Times New Roman"/>
                <a:cs typeface="Times New Roman"/>
              </a:rPr>
              <a:t>node </a:t>
            </a:r>
            <a:r>
              <a:rPr sz="1400" spc="-5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new key value and insert it </a:t>
            </a:r>
            <a:r>
              <a:rPr sz="1400" spc="5" dirty="0">
                <a:latin typeface="Times New Roman"/>
                <a:cs typeface="Times New Roman"/>
              </a:rPr>
              <a:t>into the </a:t>
            </a:r>
            <a:r>
              <a:rPr sz="1400" dirty="0">
                <a:latin typeface="Times New Roman"/>
                <a:cs typeface="Times New Roman"/>
              </a:rPr>
              <a:t>tree as a root node.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Step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If</a:t>
            </a:r>
            <a:r>
              <a:rPr sz="1400" dirty="0">
                <a:latin typeface="Times New Roman"/>
                <a:cs typeface="Times New Roman"/>
              </a:rPr>
              <a:t> tree 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Not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Empty,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find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 suitable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leaf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node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which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new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using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Binary</a:t>
            </a:r>
            <a:endParaRPr sz="14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845"/>
              </a:spcBef>
            </a:pPr>
            <a:r>
              <a:rPr sz="1400" dirty="0">
                <a:latin typeface="Times New Roman"/>
                <a:cs typeface="Times New Roman"/>
              </a:rPr>
              <a:t>Search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Tree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logic.</a:t>
            </a:r>
            <a:endParaRPr sz="1400">
              <a:latin typeface="Times New Roman"/>
              <a:cs typeface="Times New Roman"/>
            </a:endParaRPr>
          </a:p>
          <a:p>
            <a:pPr marL="94615" marR="5080">
              <a:lnSpc>
                <a:spcPct val="150000"/>
              </a:lnSpc>
            </a:pPr>
            <a:r>
              <a:rPr sz="1400" spc="-5" dirty="0">
                <a:latin typeface="Times New Roman"/>
                <a:cs typeface="Times New Roman"/>
              </a:rPr>
              <a:t>Step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If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that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leaf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node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empty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position,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new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value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that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node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ascending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order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key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node.</a:t>
            </a:r>
            <a:endParaRPr sz="14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Step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that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already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full,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split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that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sending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middle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to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its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parent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node.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Repeat</a:t>
            </a:r>
            <a:endParaRPr sz="14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840"/>
              </a:spcBef>
            </a:pP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until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sending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fixed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into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node.</a:t>
            </a:r>
            <a:endParaRPr sz="14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latin typeface="Times New Roman"/>
                <a:cs typeface="Times New Roman"/>
              </a:rPr>
              <a:t>Step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spilting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performed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root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node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then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middle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value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becomes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new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root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node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tree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endParaRPr sz="14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840"/>
              </a:spcBef>
            </a:pP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height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increased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654" y="1377695"/>
            <a:ext cx="5233177" cy="32837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9915" y="232664"/>
            <a:ext cx="8167370" cy="10541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spc="-5" dirty="0">
                <a:latin typeface="Times New Roman"/>
                <a:cs typeface="Times New Roman"/>
              </a:rPr>
              <a:t>Construct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B-Tree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Order</a:t>
            </a:r>
            <a:r>
              <a:rPr sz="1500" dirty="0">
                <a:latin typeface="Times New Roman"/>
                <a:cs typeface="Times New Roman"/>
              </a:rPr>
              <a:t> 3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1500" spc="-5" dirty="0">
                <a:latin typeface="Times New Roman"/>
                <a:cs typeface="Times New Roman"/>
              </a:rPr>
              <a:t>Key=m-1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i,e.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non-leaf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with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children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contains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−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keys.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non-leaf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(except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root)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has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least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054" y="356340"/>
            <a:ext cx="8042909" cy="448437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500" b="1" spc="-5" dirty="0">
                <a:latin typeface="Times New Roman"/>
                <a:cs typeface="Times New Roman"/>
              </a:rPr>
              <a:t>Complexity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Tree</a:t>
            </a:r>
            <a:r>
              <a:rPr sz="1500" b="1" spc="-5" dirty="0">
                <a:latin typeface="Times New Roman"/>
                <a:cs typeface="Times New Roman"/>
              </a:rPr>
              <a:t> operations</a:t>
            </a:r>
            <a:endParaRPr sz="1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10" dirty="0">
                <a:latin typeface="Times New Roman"/>
                <a:cs typeface="Times New Roman"/>
              </a:rPr>
              <a:t>max</a:t>
            </a:r>
            <a:r>
              <a:rPr sz="1500" dirty="0">
                <a:latin typeface="Times New Roman"/>
                <a:cs typeface="Times New Roman"/>
              </a:rPr>
              <a:t> depth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an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order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BTree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lang="pt-BR" sz="1600"/>
              <a:t>h=⌈log⌈m/2⌉​(n)⌉</a:t>
            </a: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>
                <a:latin typeface="Times New Roman"/>
                <a:cs typeface="Times New Roman"/>
              </a:rPr>
              <a:t>At </a:t>
            </a:r>
            <a:r>
              <a:rPr sz="1500" spc="-10" dirty="0">
                <a:latin typeface="Times New Roman"/>
                <a:cs typeface="Times New Roman"/>
              </a:rPr>
              <a:t>each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</a:t>
            </a:r>
            <a:r>
              <a:rPr sz="1500" dirty="0">
                <a:latin typeface="Times New Roman"/>
                <a:cs typeface="Times New Roman"/>
              </a:rPr>
              <a:t> do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O(log</a:t>
            </a:r>
            <a:r>
              <a:rPr sz="1500" spc="-10" dirty="0">
                <a:latin typeface="Times New Roman"/>
                <a:cs typeface="Times New Roman"/>
              </a:rPr>
              <a:t> m)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work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 </a:t>
            </a:r>
            <a:r>
              <a:rPr sz="1500" spc="-5" dirty="0">
                <a:latin typeface="Times New Roman"/>
                <a:cs typeface="Times New Roman"/>
              </a:rPr>
              <a:t>choose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branch</a:t>
            </a:r>
            <a:endParaRPr sz="1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An </a:t>
            </a:r>
            <a:r>
              <a:rPr sz="1500" dirty="0">
                <a:latin typeface="Times New Roman"/>
                <a:cs typeface="Times New Roman"/>
              </a:rPr>
              <a:t>insert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delete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may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need O(m)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work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fix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up info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node</a:t>
            </a: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dirty="0">
                <a:latin typeface="Times New Roman"/>
                <a:cs typeface="Times New Roman"/>
              </a:rPr>
              <a:t>Worst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cases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are:</a:t>
            </a:r>
            <a:endParaRPr sz="1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dirty="0">
                <a:latin typeface="Times New Roman"/>
                <a:cs typeface="Times New Roman"/>
              </a:rPr>
              <a:t>find: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O(log(m)</a:t>
            </a:r>
            <a:r>
              <a:rPr sz="1500" spc="-5" dirty="0">
                <a:latin typeface="Cambria Math"/>
                <a:cs typeface="Cambria Math"/>
              </a:rPr>
              <a:t>⋅</a:t>
            </a:r>
            <a:r>
              <a:rPr sz="1500" spc="-5" dirty="0">
                <a:latin typeface="Times New Roman"/>
                <a:cs typeface="Times New Roman"/>
              </a:rPr>
              <a:t>logm(n))</a:t>
            </a:r>
            <a:endParaRPr sz="15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But,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since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logm(n)=log(n)log(m),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 </a:t>
            </a:r>
            <a:r>
              <a:rPr sz="1500" spc="-5" dirty="0">
                <a:latin typeface="Times New Roman"/>
                <a:cs typeface="Times New Roman"/>
              </a:rPr>
              <a:t>simplifies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 O(log(n)).</a:t>
            </a: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insert/delete: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O(mlogm(n))=O(mlog(m)log(n))</a:t>
            </a: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b="1" spc="-5" dirty="0">
                <a:latin typeface="Times New Roman"/>
                <a:cs typeface="Times New Roman"/>
              </a:rPr>
              <a:t>Applications</a:t>
            </a:r>
            <a:endParaRPr sz="1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B-trees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preferred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when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decision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points,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called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nodes,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hard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disk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rather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than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random-</a:t>
            </a:r>
            <a:endParaRPr sz="15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900"/>
              </a:spcBef>
            </a:pPr>
            <a:r>
              <a:rPr sz="1500" spc="-10" dirty="0">
                <a:latin typeface="Times New Roman"/>
                <a:cs typeface="Times New Roman"/>
              </a:rPr>
              <a:t>access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memory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(RAM)</a:t>
            </a:r>
            <a:endParaRPr sz="15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B-trees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save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time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with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branches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(called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children),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compared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binary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trees,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which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each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has</a:t>
            </a:r>
            <a:r>
              <a:rPr sz="1500" dirty="0">
                <a:latin typeface="Times New Roman"/>
                <a:cs typeface="Times New Roman"/>
              </a:rPr>
              <a:t> only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children,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thereby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speeding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up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process.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404" y="76580"/>
            <a:ext cx="8290559" cy="482727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5" dirty="0">
                <a:latin typeface="Times New Roman"/>
                <a:cs typeface="Times New Roman"/>
              </a:rPr>
              <a:t>Huffman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tree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algorithm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5" dirty="0">
                <a:latin typeface="Times New Roman"/>
                <a:cs typeface="Times New Roman"/>
              </a:rPr>
              <a:t> Huffman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entropy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encoding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algorithm.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5" dirty="0">
                <a:latin typeface="Times New Roman"/>
                <a:cs typeface="Times New Roman"/>
              </a:rPr>
              <a:t> is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used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widely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 </a:t>
            </a:r>
            <a:r>
              <a:rPr sz="1500" spc="-5" dirty="0">
                <a:latin typeface="Times New Roman"/>
                <a:cs typeface="Times New Roman"/>
              </a:rPr>
              <a:t>data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compression </a:t>
            </a:r>
            <a:r>
              <a:rPr sz="1500" dirty="0">
                <a:latin typeface="Times New Roman"/>
                <a:cs typeface="Times New Roman"/>
              </a:rPr>
              <a:t>(like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Winzip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Compression-Winzip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doesn’t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but!)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coding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full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binary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which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each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leaf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of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corresponds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letter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 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given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alphabet.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technique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which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data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compression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can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said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coding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technique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5"/>
              </a:spcBef>
            </a:pPr>
            <a:r>
              <a:rPr sz="1500" spc="-5" dirty="0">
                <a:latin typeface="Times New Roman"/>
                <a:cs typeface="Times New Roman"/>
              </a:rPr>
              <a:t>which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 </a:t>
            </a:r>
            <a:r>
              <a:rPr sz="1500" spc="-5" dirty="0">
                <a:latin typeface="Times New Roman"/>
                <a:cs typeface="Times New Roman"/>
              </a:rPr>
              <a:t>encoding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data.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JPEG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compression.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Greedy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method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technique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 </a:t>
            </a:r>
            <a:r>
              <a:rPr sz="1500" spc="-5" dirty="0">
                <a:latin typeface="Times New Roman"/>
                <a:cs typeface="Times New Roman"/>
              </a:rPr>
              <a:t>mother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all data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compression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scheme.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idea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basically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dependent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upon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frequency,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i.e.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frequency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corresponding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character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which needs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 </a:t>
            </a:r>
            <a:r>
              <a:rPr sz="1500" spc="-5" dirty="0">
                <a:latin typeface="Times New Roman"/>
                <a:cs typeface="Times New Roman"/>
              </a:rPr>
              <a:t>compressed,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frequency,</a:t>
            </a:r>
            <a:r>
              <a:rPr sz="1500" dirty="0">
                <a:latin typeface="Times New Roman"/>
                <a:cs typeface="Times New Roman"/>
              </a:rPr>
              <a:t> only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will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 </a:t>
            </a:r>
            <a:r>
              <a:rPr sz="1500" spc="-5" dirty="0">
                <a:latin typeface="Times New Roman"/>
                <a:cs typeface="Times New Roman"/>
              </a:rPr>
              <a:t>generated.</a:t>
            </a:r>
            <a:endParaRPr sz="1500">
              <a:latin typeface="Times New Roman"/>
              <a:cs typeface="Times New Roman"/>
            </a:endParaRPr>
          </a:p>
          <a:p>
            <a:pPr marL="299085" marR="6350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case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coding,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most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generated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will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get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small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least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generated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will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get</a:t>
            </a:r>
            <a:r>
              <a:rPr sz="1500" dirty="0">
                <a:latin typeface="Times New Roman"/>
                <a:cs typeface="Times New Roman"/>
              </a:rPr>
              <a:t> 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large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4565" y="344759"/>
            <a:ext cx="7919720" cy="105537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 a</a:t>
            </a:r>
            <a:r>
              <a:rPr sz="1500" spc="-5" dirty="0">
                <a:latin typeface="Times New Roman"/>
                <a:cs typeface="Times New Roman"/>
              </a:rPr>
              <a:t> specific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method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representing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each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symbol.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technique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produces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such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manner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codeword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prefix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some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other</a:t>
            </a:r>
            <a:r>
              <a:rPr sz="1500" spc="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code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word.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These codes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 called</a:t>
            </a:r>
            <a:r>
              <a:rPr sz="1500" spc="-10" dirty="0">
                <a:latin typeface="Times New Roman"/>
                <a:cs typeface="Times New Roman"/>
              </a:rPr>
              <a:t> as</a:t>
            </a:r>
            <a:r>
              <a:rPr sz="1500" dirty="0">
                <a:latin typeface="Times New Roman"/>
                <a:cs typeface="Times New Roman"/>
              </a:rPr>
              <a:t> prefix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0531" y="367410"/>
            <a:ext cx="7420609" cy="360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Huffman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Algorithm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1: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leaf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each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character.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Add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frequency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occurrence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priority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queue.</a:t>
            </a:r>
            <a:endParaRPr sz="1500">
              <a:latin typeface="Times New Roman"/>
              <a:cs typeface="Times New Roman"/>
            </a:endParaRPr>
          </a:p>
          <a:p>
            <a:pPr marL="12700" marR="645160">
              <a:lnSpc>
                <a:spcPts val="3510"/>
              </a:lnSpc>
              <a:spcBef>
                <a:spcPts val="395"/>
              </a:spcBef>
            </a:pPr>
            <a:r>
              <a:rPr sz="1500" spc="-5" dirty="0">
                <a:latin typeface="Times New Roman"/>
                <a:cs typeface="Times New Roman"/>
              </a:rPr>
              <a:t>Step </a:t>
            </a:r>
            <a:r>
              <a:rPr sz="1500" dirty="0">
                <a:latin typeface="Times New Roman"/>
                <a:cs typeface="Times New Roman"/>
              </a:rPr>
              <a:t>2: </a:t>
            </a:r>
            <a:r>
              <a:rPr sz="1500" spc="-10" dirty="0">
                <a:latin typeface="Times New Roman"/>
                <a:cs typeface="Times New Roman"/>
              </a:rPr>
              <a:t>Repeat </a:t>
            </a:r>
            <a:r>
              <a:rPr sz="1500" spc="-5" dirty="0">
                <a:latin typeface="Times New Roman"/>
                <a:cs typeface="Times New Roman"/>
              </a:rPr>
              <a:t>Steps </a:t>
            </a:r>
            <a:r>
              <a:rPr sz="1500" dirty="0">
                <a:latin typeface="Times New Roman"/>
                <a:cs typeface="Times New Roman"/>
              </a:rPr>
              <a:t>3 to 5 while the total </a:t>
            </a:r>
            <a:r>
              <a:rPr sz="1500" spc="-5" dirty="0">
                <a:latin typeface="Times New Roman"/>
                <a:cs typeface="Times New Roman"/>
              </a:rPr>
              <a:t>number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nodes </a:t>
            </a:r>
            <a:r>
              <a:rPr sz="1500" dirty="0">
                <a:latin typeface="Times New Roman"/>
                <a:cs typeface="Times New Roman"/>
              </a:rPr>
              <a:t>in the </a:t>
            </a:r>
            <a:r>
              <a:rPr sz="1500" spc="-5" dirty="0">
                <a:latin typeface="Times New Roman"/>
                <a:cs typeface="Times New Roman"/>
              </a:rPr>
              <a:t>queue is </a:t>
            </a:r>
            <a:r>
              <a:rPr sz="1500" dirty="0">
                <a:latin typeface="Times New Roman"/>
                <a:cs typeface="Times New Roman"/>
              </a:rPr>
              <a:t>greater </a:t>
            </a:r>
            <a:r>
              <a:rPr sz="1500" spc="-5" dirty="0">
                <a:latin typeface="Times New Roman"/>
                <a:cs typeface="Times New Roman"/>
              </a:rPr>
              <a:t>than </a:t>
            </a:r>
            <a:r>
              <a:rPr sz="1500" dirty="0">
                <a:latin typeface="Times New Roman"/>
                <a:cs typeface="Times New Roman"/>
              </a:rPr>
              <a:t>1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Remove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dirty="0">
                <a:latin typeface="Times New Roman"/>
                <a:cs typeface="Times New Roman"/>
              </a:rPr>
              <a:t> nodes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lowest </a:t>
            </a:r>
            <a:r>
              <a:rPr sz="1500" dirty="0">
                <a:latin typeface="Times New Roman"/>
                <a:cs typeface="Times New Roman"/>
              </a:rPr>
              <a:t>weight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(or</a:t>
            </a:r>
            <a:r>
              <a:rPr sz="1500" spc="-5" dirty="0">
                <a:latin typeface="Times New Roman"/>
                <a:cs typeface="Times New Roman"/>
              </a:rPr>
              <a:t> highest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priority)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390"/>
              </a:spcBef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4: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new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internal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merging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these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as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children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with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equal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nodes'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weights.</a:t>
            </a:r>
            <a:endParaRPr sz="1500">
              <a:latin typeface="Times New Roman"/>
              <a:cs typeface="Times New Roman"/>
            </a:endParaRPr>
          </a:p>
          <a:p>
            <a:pPr marL="12700" marR="3658870">
              <a:lnSpc>
                <a:spcPct val="194700"/>
              </a:lnSpc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5: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Add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newly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created</a:t>
            </a:r>
            <a:r>
              <a:rPr sz="1500" dirty="0">
                <a:latin typeface="Times New Roman"/>
                <a:cs typeface="Times New Roman"/>
              </a:rPr>
              <a:t> 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queue.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Add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newly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created</a:t>
            </a:r>
            <a:r>
              <a:rPr sz="1500" dirty="0">
                <a:latin typeface="Times New Roman"/>
                <a:cs typeface="Times New Roman"/>
              </a:rPr>
              <a:t> node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queue.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691" y="376554"/>
            <a:ext cx="8013065" cy="20834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5" dirty="0">
                <a:latin typeface="Times New Roman"/>
                <a:cs typeface="Times New Roman"/>
              </a:rPr>
              <a:t>Example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1500" spc="-5" dirty="0">
                <a:latin typeface="Times New Roman"/>
                <a:cs typeface="Times New Roman"/>
              </a:rPr>
              <a:t>Let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obtain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set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message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(m1.....m7)</a:t>
            </a:r>
            <a:r>
              <a:rPr sz="1500" b="1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relative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frequencies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(q1.....q7)</a:t>
            </a:r>
            <a:r>
              <a:rPr sz="1500" b="1" spc="2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= </a:t>
            </a:r>
            <a:r>
              <a:rPr sz="1500" b="1" spc="-36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(4,5,7,8,10,12,20)</a:t>
            </a:r>
            <a:r>
              <a:rPr sz="1500" dirty="0">
                <a:latin typeface="Times New Roman"/>
                <a:cs typeface="Times New Roman"/>
              </a:rPr>
              <a:t>.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Let</a:t>
            </a:r>
            <a:r>
              <a:rPr sz="1500" dirty="0">
                <a:latin typeface="Times New Roman"/>
                <a:cs typeface="Times New Roman"/>
              </a:rPr>
              <a:t> us </a:t>
            </a:r>
            <a:r>
              <a:rPr sz="1500" spc="-5" dirty="0">
                <a:latin typeface="Times New Roman"/>
                <a:cs typeface="Times New Roman"/>
              </a:rPr>
              <a:t>draw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given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set</a:t>
            </a:r>
            <a:r>
              <a:rPr sz="1500" dirty="0">
                <a:latin typeface="Times New Roman"/>
                <a:cs typeface="Times New Roman"/>
              </a:rPr>
              <a:t> 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b="1" spc="-5" dirty="0">
                <a:latin typeface="Times New Roman"/>
                <a:cs typeface="Times New Roman"/>
              </a:rPr>
              <a:t>Step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1: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Arrange</a:t>
            </a:r>
            <a:r>
              <a:rPr sz="1500" dirty="0">
                <a:latin typeface="Times New Roman"/>
                <a:cs typeface="Times New Roman"/>
              </a:rPr>
              <a:t> 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data</a:t>
            </a:r>
            <a:r>
              <a:rPr sz="1500" dirty="0">
                <a:latin typeface="Times New Roman"/>
                <a:cs typeface="Times New Roman"/>
              </a:rPr>
              <a:t> 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ascending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order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table.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b="1" dirty="0">
                <a:latin typeface="Times New Roman"/>
                <a:cs typeface="Times New Roman"/>
              </a:rPr>
              <a:t>4,5,7,8,10,12,20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b="1" spc="-5" dirty="0">
                <a:latin typeface="Times New Roman"/>
                <a:cs typeface="Times New Roman"/>
              </a:rPr>
              <a:t>Step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2: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Combine</a:t>
            </a:r>
            <a:r>
              <a:rPr sz="1500" dirty="0">
                <a:latin typeface="Times New Roman"/>
                <a:cs typeface="Times New Roman"/>
              </a:rPr>
              <a:t> first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entries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table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 </a:t>
            </a:r>
            <a:r>
              <a:rPr sz="1500" dirty="0">
                <a:latin typeface="Times New Roman"/>
                <a:cs typeface="Times New Roman"/>
              </a:rPr>
              <a:t>a </a:t>
            </a:r>
            <a:r>
              <a:rPr sz="1500" spc="-5" dirty="0">
                <a:latin typeface="Times New Roman"/>
                <a:cs typeface="Times New Roman"/>
              </a:rPr>
              <a:t>parent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511" y="3114049"/>
            <a:ext cx="1419528" cy="112450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3" y="490854"/>
            <a:ext cx="750379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Step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3: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latin typeface="Times New Roman"/>
                <a:cs typeface="Times New Roman"/>
              </a:rPr>
              <a:t>A)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Remove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entries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4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5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table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inert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9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its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appropriate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position.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7,8,9,10,12,20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Times New Roman"/>
                <a:cs typeface="Times New Roman"/>
              </a:rPr>
              <a:t>Combine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minimum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table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parent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49848" y="3158489"/>
            <a:ext cx="28530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784" algn="l"/>
                <a:tab pos="1012190" algn="l"/>
                <a:tab pos="1355090" algn="l"/>
                <a:tab pos="1643380" algn="l"/>
                <a:tab pos="1974214" algn="l"/>
              </a:tabLst>
            </a:pPr>
            <a:r>
              <a:rPr sz="1500" spc="-5" dirty="0">
                <a:latin typeface="Times New Roman"/>
                <a:cs typeface="Times New Roman"/>
              </a:rPr>
              <a:t>and	insert	</a:t>
            </a:r>
            <a:r>
              <a:rPr sz="1500" dirty="0">
                <a:latin typeface="Times New Roman"/>
                <a:cs typeface="Times New Roman"/>
              </a:rPr>
              <a:t>15	</a:t>
            </a:r>
            <a:r>
              <a:rPr sz="1500" spc="-5" dirty="0">
                <a:latin typeface="Times New Roman"/>
                <a:cs typeface="Times New Roman"/>
              </a:rPr>
              <a:t>at	its	appropriate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623" y="3044676"/>
            <a:ext cx="4994910" cy="105410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3695" algn="l"/>
                <a:tab pos="876935" algn="l"/>
                <a:tab pos="1598930" algn="l"/>
                <a:tab pos="1983105" algn="l"/>
                <a:tab pos="2641600" algn="l"/>
                <a:tab pos="2888615" algn="l"/>
                <a:tab pos="3315335" algn="l"/>
                <a:tab pos="3562350" algn="l"/>
                <a:tab pos="4081779" algn="l"/>
                <a:tab pos="4466590" algn="l"/>
              </a:tabLst>
            </a:pPr>
            <a:r>
              <a:rPr sz="1500" spc="-5" dirty="0">
                <a:latin typeface="Times New Roman"/>
                <a:cs typeface="Times New Roman"/>
              </a:rPr>
              <a:t>B)	Now	remove	</a:t>
            </a:r>
            <a:r>
              <a:rPr sz="1500" dirty="0">
                <a:latin typeface="Times New Roman"/>
                <a:cs typeface="Times New Roman"/>
              </a:rPr>
              <a:t>the	</a:t>
            </a:r>
            <a:r>
              <a:rPr sz="1500" spc="-5" dirty="0">
                <a:latin typeface="Times New Roman"/>
                <a:cs typeface="Times New Roman"/>
              </a:rPr>
              <a:t>entries	</a:t>
            </a:r>
            <a:r>
              <a:rPr sz="1500" dirty="0">
                <a:latin typeface="Times New Roman"/>
                <a:cs typeface="Times New Roman"/>
              </a:rPr>
              <a:t>7	</a:t>
            </a:r>
            <a:r>
              <a:rPr sz="1500" spc="-5" dirty="0">
                <a:latin typeface="Times New Roman"/>
                <a:cs typeface="Times New Roman"/>
              </a:rPr>
              <a:t>and	</a:t>
            </a:r>
            <a:r>
              <a:rPr sz="1500" dirty="0">
                <a:latin typeface="Times New Roman"/>
                <a:cs typeface="Times New Roman"/>
              </a:rPr>
              <a:t>8	from	the	table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dirty="0">
                <a:latin typeface="Times New Roman"/>
                <a:cs typeface="Times New Roman"/>
              </a:rPr>
              <a:t>position.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9,10,12,15,20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Combine 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value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 blocks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 create </a:t>
            </a:r>
            <a:r>
              <a:rPr sz="1500" dirty="0">
                <a:latin typeface="Times New Roman"/>
                <a:cs typeface="Times New Roman"/>
              </a:rPr>
              <a:t>a </a:t>
            </a:r>
            <a:r>
              <a:rPr sz="1500" spc="-5" dirty="0">
                <a:latin typeface="Times New Roman"/>
                <a:cs typeface="Times New Roman"/>
              </a:rPr>
              <a:t>parent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6979" y="1610867"/>
            <a:ext cx="1972056" cy="13045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0676" y="3616648"/>
            <a:ext cx="1261020" cy="1275927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121" y="429005"/>
            <a:ext cx="7257415" cy="69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C)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Remove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entries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9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dirty="0">
                <a:latin typeface="Times New Roman"/>
                <a:cs typeface="Times New Roman"/>
              </a:rPr>
              <a:t> 10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table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insert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19</a:t>
            </a:r>
            <a:r>
              <a:rPr sz="1500" spc="-5" dirty="0">
                <a:latin typeface="Times New Roman"/>
                <a:cs typeface="Times New Roman"/>
              </a:rPr>
              <a:t> at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its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proper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position.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12,15,19,20.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Times New Roman"/>
                <a:cs typeface="Times New Roman"/>
              </a:rPr>
              <a:t>Combine 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value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 blocks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 parent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121" y="3871366"/>
            <a:ext cx="74352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500" b="1" spc="-5" dirty="0">
                <a:latin typeface="Times New Roman"/>
                <a:cs typeface="Times New Roman"/>
              </a:rPr>
              <a:t>D) </a:t>
            </a:r>
            <a:r>
              <a:rPr sz="1500" spc="-5" dirty="0">
                <a:latin typeface="Times New Roman"/>
                <a:cs typeface="Times New Roman"/>
              </a:rPr>
              <a:t>Remove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entries </a:t>
            </a:r>
            <a:r>
              <a:rPr sz="1500" dirty="0">
                <a:latin typeface="Times New Roman"/>
                <a:cs typeface="Times New Roman"/>
              </a:rPr>
              <a:t>15 </a:t>
            </a:r>
            <a:r>
              <a:rPr sz="1500" spc="-5" dirty="0">
                <a:latin typeface="Times New Roman"/>
                <a:cs typeface="Times New Roman"/>
              </a:rPr>
              <a:t>and </a:t>
            </a:r>
            <a:r>
              <a:rPr sz="1500" dirty="0">
                <a:latin typeface="Times New Roman"/>
                <a:cs typeface="Times New Roman"/>
              </a:rPr>
              <a:t>12 from the table </a:t>
            </a:r>
            <a:r>
              <a:rPr sz="1500" spc="-5" dirty="0">
                <a:latin typeface="Times New Roman"/>
                <a:cs typeface="Times New Roman"/>
              </a:rPr>
              <a:t>and </a:t>
            </a:r>
            <a:r>
              <a:rPr sz="1500" dirty="0">
                <a:latin typeface="Times New Roman"/>
                <a:cs typeface="Times New Roman"/>
              </a:rPr>
              <a:t>insert 27 </a:t>
            </a:r>
            <a:r>
              <a:rPr sz="1500" spc="-5" dirty="0">
                <a:latin typeface="Times New Roman"/>
                <a:cs typeface="Times New Roman"/>
              </a:rPr>
              <a:t>at its appropriate </a:t>
            </a:r>
            <a:r>
              <a:rPr sz="1500" dirty="0">
                <a:latin typeface="Times New Roman"/>
                <a:cs typeface="Times New Roman"/>
              </a:rPr>
              <a:t>position. 19,20,27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Combine minimum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value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blocks 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parent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835" y="1522829"/>
            <a:ext cx="1618289" cy="180973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638" y="357763"/>
            <a:ext cx="1457667" cy="19758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54151" y="2833877"/>
            <a:ext cx="6080125" cy="69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E)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Remove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entries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19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 from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table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insert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39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table.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27,39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Times New Roman"/>
                <a:cs typeface="Times New Roman"/>
              </a:rPr>
              <a:t>Combine 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value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 blocks 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 parent </a:t>
            </a:r>
            <a:r>
              <a:rPr sz="1500" dirty="0">
                <a:latin typeface="Times New Roman"/>
                <a:cs typeface="Times New Roman"/>
              </a:rPr>
              <a:t>node.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857" y="446205"/>
            <a:ext cx="3401304" cy="214190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422" y="445134"/>
            <a:ext cx="61137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/>
              <a:t>Step</a:t>
            </a:r>
            <a:r>
              <a:rPr sz="1500" spc="-15" dirty="0"/>
              <a:t> </a:t>
            </a:r>
            <a:r>
              <a:rPr sz="1500" dirty="0"/>
              <a:t>4:</a:t>
            </a:r>
            <a:r>
              <a:rPr sz="1500" spc="-5" dirty="0"/>
              <a:t> Now</a:t>
            </a:r>
            <a:r>
              <a:rPr sz="1500" spc="10" dirty="0"/>
              <a:t> </a:t>
            </a:r>
            <a:r>
              <a:rPr sz="1500" spc="-5" dirty="0"/>
              <a:t>assign</a:t>
            </a:r>
            <a:r>
              <a:rPr sz="1500" spc="-10" dirty="0"/>
              <a:t> </a:t>
            </a:r>
            <a:r>
              <a:rPr sz="1500" dirty="0"/>
              <a:t>left</a:t>
            </a:r>
            <a:r>
              <a:rPr sz="1500" spc="-10" dirty="0"/>
              <a:t> </a:t>
            </a:r>
            <a:r>
              <a:rPr sz="1500" spc="-5" dirty="0"/>
              <a:t>child</a:t>
            </a:r>
            <a:r>
              <a:rPr sz="1500" spc="-25" dirty="0"/>
              <a:t> </a:t>
            </a:r>
            <a:r>
              <a:rPr sz="1500" spc="-10" dirty="0"/>
              <a:t>as</a:t>
            </a:r>
            <a:r>
              <a:rPr sz="1500" spc="15" dirty="0"/>
              <a:t> </a:t>
            </a:r>
            <a:r>
              <a:rPr sz="1500" dirty="0"/>
              <a:t>0</a:t>
            </a:r>
            <a:r>
              <a:rPr sz="1500" spc="-10" dirty="0"/>
              <a:t> </a:t>
            </a:r>
            <a:r>
              <a:rPr sz="1500" spc="-5" dirty="0"/>
              <a:t>and</a:t>
            </a:r>
            <a:r>
              <a:rPr sz="1500" spc="5" dirty="0"/>
              <a:t> </a:t>
            </a:r>
            <a:r>
              <a:rPr sz="1500" dirty="0"/>
              <a:t>right</a:t>
            </a:r>
            <a:r>
              <a:rPr sz="1500" spc="-35" dirty="0"/>
              <a:t> </a:t>
            </a:r>
            <a:r>
              <a:rPr sz="1500" spc="-5" dirty="0"/>
              <a:t>child</a:t>
            </a:r>
            <a:r>
              <a:rPr sz="1500" spc="-15" dirty="0"/>
              <a:t> </a:t>
            </a:r>
            <a:r>
              <a:rPr sz="1500" spc="-10" dirty="0"/>
              <a:t>as</a:t>
            </a:r>
            <a:r>
              <a:rPr sz="1500" spc="5" dirty="0"/>
              <a:t> </a:t>
            </a:r>
            <a:r>
              <a:rPr sz="1500" dirty="0"/>
              <a:t>1</a:t>
            </a:r>
            <a:r>
              <a:rPr sz="1500" spc="10" dirty="0"/>
              <a:t> </a:t>
            </a:r>
            <a:r>
              <a:rPr sz="1500" dirty="0"/>
              <a:t>to</a:t>
            </a:r>
            <a:r>
              <a:rPr sz="1500" spc="-10" dirty="0"/>
              <a:t> </a:t>
            </a:r>
            <a:r>
              <a:rPr sz="1500" spc="-5" dirty="0"/>
              <a:t>encode</a:t>
            </a:r>
            <a:r>
              <a:rPr sz="1500" spc="-20" dirty="0"/>
              <a:t> </a:t>
            </a:r>
            <a:r>
              <a:rPr sz="1500" dirty="0"/>
              <a:t>the</a:t>
            </a:r>
            <a:r>
              <a:rPr sz="1500" spc="-10" dirty="0"/>
              <a:t> </a:t>
            </a:r>
            <a:r>
              <a:rPr sz="1500" spc="-5" dirty="0"/>
              <a:t>frequencies.</a:t>
            </a:r>
            <a:endParaRPr sz="1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394" y="1368526"/>
            <a:ext cx="2708055" cy="223118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57635" y="1458150"/>
          <a:ext cx="3205480" cy="32621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10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Characters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Codes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spc="-5" dirty="0">
                          <a:latin typeface="Times New Roman"/>
                          <a:cs typeface="Times New Roman"/>
                        </a:rPr>
                        <a:t>counts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spc="5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0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0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010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011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98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spc="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spc="5" dirty="0">
                          <a:latin typeface="Times New Roman"/>
                          <a:cs typeface="Times New Roman"/>
                        </a:rPr>
                        <a:t>101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00" spc="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00" spc="5" dirty="0">
                          <a:latin typeface="Times New Roman"/>
                          <a:cs typeface="Times New Roman"/>
                        </a:rPr>
                        <a:t>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00" spc="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11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679060" y="974216"/>
            <a:ext cx="39128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Now,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codes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given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frequencies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 given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below: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691" y="335407"/>
            <a:ext cx="7950834" cy="23882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5" dirty="0">
                <a:latin typeface="Times New Roman"/>
                <a:cs typeface="Times New Roman"/>
              </a:rPr>
              <a:t>Important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Formulas: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Formula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1: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Average code </a:t>
            </a:r>
            <a:r>
              <a:rPr sz="1500" dirty="0">
                <a:latin typeface="Times New Roman"/>
                <a:cs typeface="Times New Roman"/>
              </a:rPr>
              <a:t>length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character=∑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(probability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i*</a:t>
            </a:r>
            <a:r>
              <a:rPr sz="1500" spc="-5" dirty="0">
                <a:latin typeface="Times New Roman"/>
                <a:cs typeface="Times New Roman"/>
              </a:rPr>
              <a:t> code </a:t>
            </a:r>
            <a:r>
              <a:rPr sz="1500" dirty="0">
                <a:latin typeface="Times New Roman"/>
                <a:cs typeface="Times New Roman"/>
              </a:rPr>
              <a:t>length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i)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spc="-5" dirty="0">
                <a:latin typeface="Times New Roman"/>
                <a:cs typeface="Times New Roman"/>
              </a:rPr>
              <a:t>Formula</a:t>
            </a:r>
            <a:r>
              <a:rPr sz="1500" b="1" spc="2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2:</a:t>
            </a:r>
            <a:r>
              <a:rPr sz="1500" b="1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Total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bits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Huffman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encoded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message=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Total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number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characters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message</a:t>
            </a:r>
            <a:r>
              <a:rPr sz="1500" dirty="0">
                <a:latin typeface="Times New Roman"/>
                <a:cs typeface="Times New Roman"/>
              </a:rPr>
              <a:t> x</a:t>
            </a:r>
            <a:r>
              <a:rPr sz="1500" spc="-5" dirty="0">
                <a:latin typeface="Times New Roman"/>
                <a:cs typeface="Times New Roman"/>
              </a:rPr>
              <a:t> Average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code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length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per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∑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 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</a:t>
            </a:r>
            <a:r>
              <a:rPr sz="1500" spc="5" dirty="0">
                <a:latin typeface="Times New Roman"/>
                <a:cs typeface="Times New Roman"/>
              </a:rPr>
              <a:t>r</a:t>
            </a:r>
            <a:r>
              <a:rPr sz="1500" spc="-10" dirty="0">
                <a:latin typeface="Times New Roman"/>
                <a:cs typeface="Times New Roman"/>
              </a:rPr>
              <a:t>e</a:t>
            </a:r>
            <a:r>
              <a:rPr sz="1500" dirty="0">
                <a:latin typeface="Times New Roman"/>
                <a:cs typeface="Times New Roman"/>
              </a:rPr>
              <a:t>qu</a:t>
            </a:r>
            <a:r>
              <a:rPr sz="1500" spc="-10" dirty="0">
                <a:latin typeface="Times New Roman"/>
                <a:cs typeface="Times New Roman"/>
              </a:rPr>
              <a:t>e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10" dirty="0">
                <a:latin typeface="Times New Roman"/>
                <a:cs typeface="Times New Roman"/>
              </a:rPr>
              <a:t>c</a:t>
            </a:r>
            <a:r>
              <a:rPr sz="1500" dirty="0">
                <a:latin typeface="Times New Roman"/>
                <a:cs typeface="Times New Roman"/>
              </a:rPr>
              <a:t>y</a:t>
            </a:r>
            <a:r>
              <a:rPr sz="1500" spc="-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* </a:t>
            </a:r>
            <a:r>
              <a:rPr sz="1500" spc="-5" dirty="0">
                <a:latin typeface="Times New Roman"/>
                <a:cs typeface="Times New Roman"/>
              </a:rPr>
              <a:t>C</a:t>
            </a:r>
            <a:r>
              <a:rPr sz="1500" dirty="0">
                <a:latin typeface="Times New Roman"/>
                <a:cs typeface="Times New Roman"/>
              </a:rPr>
              <a:t>ode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len</a:t>
            </a:r>
            <a:r>
              <a:rPr sz="1500" spc="5" dirty="0">
                <a:latin typeface="Times New Roman"/>
                <a:cs typeface="Times New Roman"/>
              </a:rPr>
              <a:t>g</a:t>
            </a:r>
            <a:r>
              <a:rPr sz="1500" dirty="0">
                <a:latin typeface="Times New Roman"/>
                <a:cs typeface="Times New Roman"/>
              </a:rPr>
              <a:t>th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i)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latin typeface="Times New Roman"/>
                <a:cs typeface="Times New Roman"/>
              </a:rPr>
              <a:t>Time</a:t>
            </a:r>
            <a:r>
              <a:rPr sz="1500" b="1" spc="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complexity: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O(n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log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n)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overall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time complexity.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Where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dirty="0">
                <a:latin typeface="Times New Roman"/>
                <a:cs typeface="Times New Roman"/>
              </a:rPr>
              <a:t> 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characters</a:t>
            </a:r>
            <a:r>
              <a:rPr sz="1500" b="1" spc="-5" dirty="0">
                <a:latin typeface="Times New Roman"/>
                <a:cs typeface="Times New Roman"/>
              </a:rPr>
              <a:t>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825" y="233908"/>
            <a:ext cx="2950210" cy="174371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 spc="-5" dirty="0"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spc="-5" dirty="0">
                <a:latin typeface="Times New Roman"/>
                <a:cs typeface="Times New Roman"/>
              </a:rPr>
              <a:t>Assume</a:t>
            </a:r>
            <a:r>
              <a:rPr sz="1400" dirty="0">
                <a:latin typeface="Times New Roman"/>
                <a:cs typeface="Times New Roman"/>
              </a:rPr>
              <a:t> that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relative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frequencies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are:</a:t>
            </a:r>
            <a:endParaRPr sz="1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54"/>
              </a:spcBef>
            </a:pPr>
            <a:r>
              <a:rPr sz="1400" spc="-5" dirty="0">
                <a:latin typeface="Times New Roman"/>
                <a:cs typeface="Times New Roman"/>
              </a:rPr>
              <a:t>A: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40</a:t>
            </a:r>
            <a:endParaRPr sz="1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54"/>
              </a:spcBef>
            </a:pPr>
            <a:r>
              <a:rPr sz="1400" dirty="0">
                <a:latin typeface="Times New Roman"/>
                <a:cs typeface="Times New Roman"/>
              </a:rPr>
              <a:t>B: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50"/>
              </a:spcBef>
            </a:pPr>
            <a:r>
              <a:rPr sz="1400" dirty="0">
                <a:latin typeface="Times New Roman"/>
                <a:cs typeface="Times New Roman"/>
              </a:rPr>
              <a:t>C: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50"/>
              </a:spcBef>
            </a:pPr>
            <a:r>
              <a:rPr sz="1400" spc="-10" dirty="0">
                <a:latin typeface="Times New Roman"/>
                <a:cs typeface="Times New Roman"/>
              </a:rPr>
              <a:t>D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54"/>
              </a:spcBef>
            </a:pPr>
            <a:r>
              <a:rPr sz="1400" dirty="0">
                <a:latin typeface="Times New Roman"/>
                <a:cs typeface="Times New Roman"/>
              </a:rPr>
              <a:t>R: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721051"/>
            <a:ext cx="47961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Step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1:</a:t>
            </a:r>
            <a:r>
              <a:rPr sz="1400" spc="-5" dirty="0">
                <a:latin typeface="Times New Roman"/>
                <a:cs typeface="Times New Roman"/>
              </a:rPr>
              <a:t> Smallest number</a:t>
            </a:r>
            <a:r>
              <a:rPr sz="1400" dirty="0">
                <a:latin typeface="Times New Roman"/>
                <a:cs typeface="Times New Roman"/>
              </a:rPr>
              <a:t> are 10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 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D), </a:t>
            </a:r>
            <a:r>
              <a:rPr sz="1400" dirty="0">
                <a:latin typeface="Times New Roman"/>
                <a:cs typeface="Times New Roman"/>
              </a:rPr>
              <a:t>so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those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8916" y="3410867"/>
            <a:ext cx="2715429" cy="99079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680" y="297916"/>
            <a:ext cx="723773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Times New Roman"/>
                <a:cs typeface="Times New Roman"/>
              </a:rPr>
              <a:t>Step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2: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already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been used,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new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node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above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(call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5" dirty="0">
                <a:latin typeface="Times New Roman"/>
                <a:cs typeface="Times New Roman"/>
              </a:rPr>
              <a:t> C+D)</a:t>
            </a:r>
            <a:r>
              <a:rPr sz="1400" dirty="0">
                <a:latin typeface="Times New Roman"/>
                <a:cs typeface="Times New Roman"/>
              </a:rPr>
              <a:t> has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smallest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B,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C+D,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R,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which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20.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5" dirty="0">
                <a:latin typeface="Times New Roman"/>
                <a:cs typeface="Times New Roman"/>
              </a:rPr>
              <a:t> two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1680" y="2538831"/>
            <a:ext cx="783335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Step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3: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smallest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values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R,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while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B+C+D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value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40.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So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Connect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either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6113" y="1130476"/>
            <a:ext cx="2217967" cy="1293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1583" y="3069793"/>
            <a:ext cx="2156370" cy="171541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343" y="687400"/>
            <a:ext cx="27400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4: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Connect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final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two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nodes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208" y="2140567"/>
            <a:ext cx="1679597" cy="18074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418" rIns="0" bIns="0" rtlCol="0">
            <a:spAutoFit/>
          </a:bodyPr>
          <a:lstStyle/>
          <a:p>
            <a:pPr marL="4184015" marR="5080">
              <a:lnSpc>
                <a:spcPct val="150000"/>
              </a:lnSpc>
              <a:spcBef>
                <a:spcPts val="100"/>
              </a:spcBef>
            </a:pPr>
            <a:r>
              <a:rPr sz="1500" spc="-5" dirty="0"/>
              <a:t>Step</a:t>
            </a:r>
            <a:r>
              <a:rPr sz="1500" spc="204" dirty="0"/>
              <a:t> </a:t>
            </a:r>
            <a:r>
              <a:rPr sz="1500" spc="-5" dirty="0"/>
              <a:t>5:</a:t>
            </a:r>
            <a:r>
              <a:rPr sz="1500" spc="204" dirty="0"/>
              <a:t> </a:t>
            </a:r>
            <a:r>
              <a:rPr sz="1500" dirty="0"/>
              <a:t>Assign</a:t>
            </a:r>
            <a:r>
              <a:rPr sz="1500" spc="204" dirty="0"/>
              <a:t> </a:t>
            </a:r>
            <a:r>
              <a:rPr sz="1500" dirty="0"/>
              <a:t>0</a:t>
            </a:r>
            <a:r>
              <a:rPr sz="1500" spc="190" dirty="0"/>
              <a:t> </a:t>
            </a:r>
            <a:r>
              <a:rPr sz="1500" dirty="0"/>
              <a:t>to</a:t>
            </a:r>
            <a:r>
              <a:rPr sz="1500" spc="200" dirty="0"/>
              <a:t> </a:t>
            </a:r>
            <a:r>
              <a:rPr sz="1500" dirty="0"/>
              <a:t>left</a:t>
            </a:r>
            <a:r>
              <a:rPr sz="1500" spc="200" dirty="0"/>
              <a:t> </a:t>
            </a:r>
            <a:r>
              <a:rPr sz="1500" spc="-5" dirty="0"/>
              <a:t>branches,</a:t>
            </a:r>
            <a:r>
              <a:rPr sz="1500" spc="210" dirty="0"/>
              <a:t> </a:t>
            </a:r>
            <a:r>
              <a:rPr sz="1500" dirty="0"/>
              <a:t>1</a:t>
            </a:r>
            <a:r>
              <a:rPr sz="1500" spc="200" dirty="0"/>
              <a:t> </a:t>
            </a:r>
            <a:r>
              <a:rPr sz="1500" dirty="0"/>
              <a:t>to</a:t>
            </a:r>
            <a:r>
              <a:rPr sz="1500" spc="200" dirty="0"/>
              <a:t> </a:t>
            </a:r>
            <a:r>
              <a:rPr sz="1500" spc="-5" dirty="0"/>
              <a:t>right </a:t>
            </a:r>
            <a:r>
              <a:rPr sz="1500" spc="-360" dirty="0"/>
              <a:t> </a:t>
            </a:r>
            <a:r>
              <a:rPr sz="1500" spc="-5" dirty="0"/>
              <a:t>branches,</a:t>
            </a:r>
            <a:r>
              <a:rPr sz="1500" spc="-10" dirty="0"/>
              <a:t> Each</a:t>
            </a:r>
            <a:r>
              <a:rPr sz="1500" spc="-5" dirty="0"/>
              <a:t> encoding</a:t>
            </a:r>
            <a:r>
              <a:rPr sz="1500" spc="-15" dirty="0"/>
              <a:t> </a:t>
            </a:r>
            <a:r>
              <a:rPr sz="1500" spc="-5" dirty="0"/>
              <a:t>is</a:t>
            </a:r>
            <a:r>
              <a:rPr sz="1500" dirty="0"/>
              <a:t> a</a:t>
            </a:r>
            <a:r>
              <a:rPr sz="1500" spc="-10" dirty="0"/>
              <a:t> </a:t>
            </a:r>
            <a:r>
              <a:rPr sz="1500" spc="-5" dirty="0"/>
              <a:t>path </a:t>
            </a:r>
            <a:r>
              <a:rPr sz="1500" dirty="0"/>
              <a:t>from</a:t>
            </a:r>
            <a:r>
              <a:rPr sz="1500" spc="-15" dirty="0"/>
              <a:t> </a:t>
            </a:r>
            <a:r>
              <a:rPr sz="1500" dirty="0"/>
              <a:t>the</a:t>
            </a:r>
            <a:r>
              <a:rPr sz="1500" spc="-20" dirty="0"/>
              <a:t> </a:t>
            </a:r>
            <a:r>
              <a:rPr sz="1500" dirty="0"/>
              <a:t>root</a:t>
            </a:r>
            <a:endParaRPr sz="15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0999" y="1595627"/>
            <a:ext cx="2061165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451" y="312928"/>
            <a:ext cx="7802880" cy="4142104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500" b="1" spc="-10" dirty="0">
                <a:latin typeface="Times New Roman"/>
                <a:cs typeface="Times New Roman"/>
              </a:rPr>
              <a:t>Game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Tree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A knowledge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representation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structure </a:t>
            </a:r>
            <a:r>
              <a:rPr sz="1500" dirty="0">
                <a:latin typeface="Times New Roman"/>
                <a:cs typeface="Times New Roman"/>
              </a:rPr>
              <a:t>shaped </a:t>
            </a:r>
            <a:r>
              <a:rPr sz="1500" spc="-5" dirty="0">
                <a:latin typeface="Times New Roman"/>
                <a:cs typeface="Times New Roman"/>
              </a:rPr>
              <a:t>like </a:t>
            </a:r>
            <a:r>
              <a:rPr sz="1500" dirty="0">
                <a:latin typeface="Times New Roman"/>
                <a:cs typeface="Times New Roman"/>
              </a:rPr>
              <a:t>a </a:t>
            </a:r>
            <a:r>
              <a:rPr sz="1500" spc="-5" dirty="0">
                <a:latin typeface="Times New Roman"/>
                <a:cs typeface="Times New Roman"/>
              </a:rPr>
              <a:t>decision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 Nodes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of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tree represent 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game </a:t>
            </a:r>
            <a:r>
              <a:rPr sz="1500" spc="-5" dirty="0">
                <a:latin typeface="Times New Roman"/>
                <a:cs typeface="Times New Roman"/>
              </a:rPr>
              <a:t>positions possible through </a:t>
            </a:r>
            <a:r>
              <a:rPr sz="1500" dirty="0">
                <a:latin typeface="Times New Roman"/>
                <a:cs typeface="Times New Roman"/>
              </a:rPr>
              <a:t>legal </a:t>
            </a:r>
            <a:r>
              <a:rPr sz="1500" spc="-5" dirty="0">
                <a:latin typeface="Times New Roman"/>
                <a:cs typeface="Times New Roman"/>
              </a:rPr>
              <a:t>moves </a:t>
            </a:r>
            <a:r>
              <a:rPr sz="1500" dirty="0">
                <a:latin typeface="Times New Roman"/>
                <a:cs typeface="Times New Roman"/>
              </a:rPr>
              <a:t>(from the </a:t>
            </a:r>
            <a:r>
              <a:rPr sz="1500" spc="-5" dirty="0">
                <a:latin typeface="Times New Roman"/>
                <a:cs typeface="Times New Roman"/>
              </a:rPr>
              <a:t>position in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parent connecting node). 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 layers </a:t>
            </a:r>
            <a:r>
              <a:rPr sz="1500" dirty="0">
                <a:latin typeface="Times New Roman"/>
                <a:cs typeface="Times New Roman"/>
              </a:rPr>
              <a:t>of the </a:t>
            </a:r>
            <a:r>
              <a:rPr sz="1500" spc="-10" dirty="0">
                <a:latin typeface="Times New Roman"/>
                <a:cs typeface="Times New Roman"/>
              </a:rPr>
              <a:t>game </a:t>
            </a:r>
            <a:r>
              <a:rPr sz="1500" spc="-5" dirty="0">
                <a:latin typeface="Times New Roman"/>
                <a:cs typeface="Times New Roman"/>
              </a:rPr>
              <a:t>tree expand </a:t>
            </a:r>
            <a:r>
              <a:rPr sz="1500" dirty="0">
                <a:latin typeface="Times New Roman"/>
                <a:cs typeface="Times New Roman"/>
              </a:rPr>
              <a:t>or </a:t>
            </a:r>
            <a:r>
              <a:rPr sz="1500" spc="-5" dirty="0">
                <a:latin typeface="Times New Roman"/>
                <a:cs typeface="Times New Roman"/>
              </a:rPr>
              <a:t>contract based on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possible legal moves at that point </a:t>
            </a:r>
            <a:r>
              <a:rPr sz="1500" spc="-10" dirty="0">
                <a:latin typeface="Times New Roman"/>
                <a:cs typeface="Times New Roman"/>
              </a:rPr>
              <a:t>in 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game.</a:t>
            </a:r>
            <a:endParaRPr sz="1500">
              <a:latin typeface="Times New Roman"/>
              <a:cs typeface="Times New Roman"/>
            </a:endParaRPr>
          </a:p>
          <a:p>
            <a:pPr marL="299085" marR="5715" indent="-287020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Let’s consider </a:t>
            </a:r>
            <a:r>
              <a:rPr sz="1500" dirty="0">
                <a:latin typeface="Times New Roman"/>
                <a:cs typeface="Times New Roman"/>
              </a:rPr>
              <a:t>a </a:t>
            </a:r>
            <a:r>
              <a:rPr sz="1500" spc="-10" dirty="0">
                <a:latin typeface="Times New Roman"/>
                <a:cs typeface="Times New Roman"/>
              </a:rPr>
              <a:t>game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two players, and </a:t>
            </a:r>
            <a:r>
              <a:rPr sz="1500" spc="-10" dirty="0">
                <a:latin typeface="Times New Roman"/>
                <a:cs typeface="Times New Roman"/>
              </a:rPr>
              <a:t>call </a:t>
            </a:r>
            <a:r>
              <a:rPr sz="1500" spc="-5" dirty="0">
                <a:latin typeface="Times New Roman"/>
                <a:cs typeface="Times New Roman"/>
              </a:rPr>
              <a:t>them MIN and </a:t>
            </a:r>
            <a:r>
              <a:rPr sz="1500" dirty="0">
                <a:latin typeface="Times New Roman"/>
                <a:cs typeface="Times New Roman"/>
              </a:rPr>
              <a:t>MAX. </a:t>
            </a:r>
            <a:r>
              <a:rPr sz="1500" spc="-5" dirty="0">
                <a:latin typeface="Times New Roman"/>
                <a:cs typeface="Times New Roman"/>
              </a:rPr>
              <a:t>These two players will 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compete</a:t>
            </a:r>
            <a:r>
              <a:rPr sz="1500" dirty="0">
                <a:latin typeface="Times New Roman"/>
                <a:cs typeface="Times New Roman"/>
              </a:rPr>
              <a:t> where MAX </a:t>
            </a:r>
            <a:r>
              <a:rPr sz="1500" spc="-5" dirty="0">
                <a:latin typeface="Times New Roman"/>
                <a:cs typeface="Times New Roman"/>
              </a:rPr>
              <a:t>will</a:t>
            </a:r>
            <a:r>
              <a:rPr sz="1500" dirty="0">
                <a:latin typeface="Times New Roman"/>
                <a:cs typeface="Times New Roman"/>
              </a:rPr>
              <a:t> try to </a:t>
            </a:r>
            <a:r>
              <a:rPr sz="1500" spc="-10" dirty="0">
                <a:latin typeface="Times New Roman"/>
                <a:cs typeface="Times New Roman"/>
              </a:rPr>
              <a:t>maximize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payoff. A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search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problem in </a:t>
            </a:r>
            <a:r>
              <a:rPr sz="1500" spc="-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form of a </a:t>
            </a:r>
            <a:r>
              <a:rPr sz="1500" spc="-5" dirty="0">
                <a:latin typeface="Times New Roman"/>
                <a:cs typeface="Times New Roman"/>
              </a:rPr>
              <a:t>game 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can</a:t>
            </a:r>
            <a:r>
              <a:rPr sz="1500" dirty="0">
                <a:latin typeface="Times New Roman"/>
                <a:cs typeface="Times New Roman"/>
              </a:rPr>
              <a:t> be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defined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4 </a:t>
            </a:r>
            <a:r>
              <a:rPr sz="1500" spc="-5" dirty="0">
                <a:latin typeface="Times New Roman"/>
                <a:cs typeface="Times New Roman"/>
              </a:rPr>
              <a:t>components:</a:t>
            </a:r>
            <a:endParaRPr sz="15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720" algn="l"/>
              </a:tabLst>
            </a:pPr>
            <a:r>
              <a:rPr sz="1500" b="1" dirty="0">
                <a:latin typeface="Times New Roman"/>
                <a:cs typeface="Times New Roman"/>
              </a:rPr>
              <a:t>Initial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state: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This state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indicates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board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position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 </a:t>
            </a:r>
            <a:r>
              <a:rPr sz="1500" dirty="0">
                <a:latin typeface="Times New Roman"/>
                <a:cs typeface="Times New Roman"/>
              </a:rPr>
              <a:t>whose </a:t>
            </a:r>
            <a:r>
              <a:rPr sz="1500" spc="-5" dirty="0">
                <a:latin typeface="Times New Roman"/>
                <a:cs typeface="Times New Roman"/>
              </a:rPr>
              <a:t>move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5" dirty="0">
                <a:latin typeface="Times New Roman"/>
                <a:cs typeface="Times New Roman"/>
              </a:rPr>
              <a:t> is</a:t>
            </a:r>
            <a:endParaRPr sz="15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720" algn="l"/>
              </a:tabLst>
            </a:pPr>
            <a:r>
              <a:rPr sz="1500" b="1" spc="-10" dirty="0">
                <a:latin typeface="Times New Roman"/>
                <a:cs typeface="Times New Roman"/>
              </a:rPr>
              <a:t>Terminal</a:t>
            </a:r>
            <a:r>
              <a:rPr sz="1500" b="1" spc="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test: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This test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indicates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when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game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over</a:t>
            </a:r>
            <a:endParaRPr sz="15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72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Set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operators: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These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define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possible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moves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player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can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make</a:t>
            </a: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Payoff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function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/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Utility</a:t>
            </a:r>
            <a:r>
              <a:rPr sz="1500" b="1" spc="-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function: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gives</a:t>
            </a:r>
            <a:r>
              <a:rPr sz="1500" dirty="0">
                <a:latin typeface="Times New Roman"/>
                <a:cs typeface="Times New Roman"/>
              </a:rPr>
              <a:t> 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numeric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value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outcome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3" y="454003"/>
            <a:ext cx="7846059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 algn="just">
              <a:lnSpc>
                <a:spcPct val="150100"/>
              </a:lnSpc>
              <a:spcBef>
                <a:spcPts val="10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 a normal </a:t>
            </a:r>
            <a:r>
              <a:rPr sz="1600" dirty="0">
                <a:latin typeface="Times New Roman"/>
                <a:cs typeface="Times New Roman"/>
              </a:rPr>
              <a:t>search </a:t>
            </a:r>
            <a:r>
              <a:rPr sz="1600" spc="-5" dirty="0">
                <a:latin typeface="Times New Roman"/>
                <a:cs typeface="Times New Roman"/>
              </a:rPr>
              <a:t>problem,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objective of MAX </a:t>
            </a:r>
            <a:r>
              <a:rPr sz="1600" dirty="0">
                <a:latin typeface="Times New Roman"/>
                <a:cs typeface="Times New Roman"/>
              </a:rPr>
              <a:t>would </a:t>
            </a:r>
            <a:r>
              <a:rPr sz="1600" spc="-5" dirty="0">
                <a:latin typeface="Times New Roman"/>
                <a:cs typeface="Times New Roman"/>
              </a:rPr>
              <a:t>be to search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a payoff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 </a:t>
            </a:r>
            <a:r>
              <a:rPr sz="1600" dirty="0">
                <a:latin typeface="Times New Roman"/>
                <a:cs typeface="Times New Roman"/>
              </a:rPr>
              <a:t>leads </a:t>
            </a:r>
            <a:r>
              <a:rPr sz="1600" spc="-5" dirty="0">
                <a:latin typeface="Times New Roman"/>
                <a:cs typeface="Times New Roman"/>
              </a:rPr>
              <a:t>to a </a:t>
            </a:r>
            <a:r>
              <a:rPr sz="1600" dirty="0">
                <a:latin typeface="Times New Roman"/>
                <a:cs typeface="Times New Roman"/>
              </a:rPr>
              <a:t>terminal state </a:t>
            </a:r>
            <a:r>
              <a:rPr sz="1600" spc="-5" dirty="0">
                <a:latin typeface="Times New Roman"/>
                <a:cs typeface="Times New Roman"/>
              </a:rPr>
              <a:t>that is a winner, thereby making </a:t>
            </a:r>
            <a:r>
              <a:rPr sz="1600" dirty="0">
                <a:latin typeface="Times New Roman"/>
                <a:cs typeface="Times New Roman"/>
              </a:rPr>
              <a:t>its first </a:t>
            </a:r>
            <a:r>
              <a:rPr sz="1600" spc="-5" dirty="0">
                <a:latin typeface="Times New Roman"/>
                <a:cs typeface="Times New Roman"/>
              </a:rPr>
              <a:t>move. However, in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presence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adversary MIN, the </a:t>
            </a:r>
            <a:r>
              <a:rPr sz="1600" dirty="0">
                <a:latin typeface="Times New Roman"/>
                <a:cs typeface="Times New Roman"/>
              </a:rPr>
              <a:t>strategy of </a:t>
            </a:r>
            <a:r>
              <a:rPr sz="1600" spc="-5" dirty="0">
                <a:latin typeface="Times New Roman"/>
                <a:cs typeface="Times New Roman"/>
              </a:rPr>
              <a:t>MAX </a:t>
            </a:r>
            <a:r>
              <a:rPr sz="1600" dirty="0">
                <a:latin typeface="Times New Roman"/>
                <a:cs typeface="Times New Roman"/>
              </a:rPr>
              <a:t>will be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find </a:t>
            </a:r>
            <a:r>
              <a:rPr sz="1600" spc="-5" dirty="0">
                <a:latin typeface="Times New Roman"/>
                <a:cs typeface="Times New Roman"/>
              </a:rPr>
              <a:t>a winning terminal </a:t>
            </a:r>
            <a:r>
              <a:rPr sz="1600" dirty="0">
                <a:latin typeface="Times New Roman"/>
                <a:cs typeface="Times New Roman"/>
              </a:rPr>
              <a:t>state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regardless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move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makes.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latin typeface="Times New Roman"/>
                <a:cs typeface="Times New Roman"/>
              </a:rPr>
              <a:t>Minimax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Algorithm: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decision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 backtracking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method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move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strategy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game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play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opponent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Player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Max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maximize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utility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(Best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move)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Player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minimize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utility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(Worst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move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" dirty="0">
                <a:latin typeface="Times New Roman"/>
                <a:cs typeface="Times New Roman"/>
              </a:rPr>
              <a:t> player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Max)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4565" y="403631"/>
            <a:ext cx="762952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6985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determine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optimal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strategy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MAX,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minimax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algorithm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determine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first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move.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steps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are: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Generate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entire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game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till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terminal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nodes.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Apply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payoff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function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terminal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get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payoff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terminal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states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determine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payoff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nodes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/>
                <a:cs typeface="Times New Roman"/>
              </a:rPr>
              <a:t>above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 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search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endParaRPr sz="1600">
              <a:latin typeface="Times New Roman"/>
              <a:cs typeface="Times New Roman"/>
            </a:endParaRPr>
          </a:p>
          <a:p>
            <a:pPr marL="1118870" lvl="1" indent="-192405">
              <a:lnSpc>
                <a:spcPct val="100000"/>
              </a:lnSpc>
              <a:spcBef>
                <a:spcPts val="965"/>
              </a:spcBef>
              <a:buAutoNum type="alphaLcPeriod"/>
              <a:tabLst>
                <a:tab pos="1119505" algn="l"/>
              </a:tabLst>
            </a:pP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terminal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payoff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endParaRPr sz="1600">
              <a:latin typeface="Times New Roman"/>
              <a:cs typeface="Times New Roman"/>
            </a:endParaRPr>
          </a:p>
          <a:p>
            <a:pPr marL="1129665" lvl="1" indent="-203200">
              <a:lnSpc>
                <a:spcPct val="100000"/>
              </a:lnSpc>
              <a:spcBef>
                <a:spcPts val="960"/>
              </a:spcBef>
              <a:buAutoNum type="alphaLcPeriod"/>
              <a:tabLst>
                <a:tab pos="1130300" algn="l"/>
              </a:tabLst>
            </a:pP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5" dirty="0">
                <a:latin typeface="Times New Roman"/>
                <a:cs typeface="Times New Roman"/>
              </a:rPr>
              <a:t> 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player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Max,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max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result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minimax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function</a:t>
            </a:r>
            <a:endParaRPr sz="1600">
              <a:latin typeface="Times New Roman"/>
              <a:cs typeface="Times New Roman"/>
            </a:endParaRPr>
          </a:p>
          <a:p>
            <a:pPr marL="1118870" lvl="1" indent="-192405">
              <a:lnSpc>
                <a:spcPct val="100000"/>
              </a:lnSpc>
              <a:spcBef>
                <a:spcPts val="960"/>
              </a:spcBef>
              <a:buAutoNum type="alphaLcPeriod"/>
              <a:tabLst>
                <a:tab pos="1119505" algn="l"/>
              </a:tabLst>
            </a:pP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player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Min,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min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 result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minimax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function</a:t>
            </a:r>
            <a:endParaRPr sz="16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960"/>
              </a:spcBef>
              <a:buAutoNum type="arabicPeriod" startAt="4"/>
              <a:tabLst>
                <a:tab pos="215900" algn="l"/>
              </a:tabLst>
            </a:pPr>
            <a:r>
              <a:rPr sz="1600" spc="-5" dirty="0">
                <a:latin typeface="Times New Roman"/>
                <a:cs typeface="Times New Roman"/>
              </a:rPr>
              <a:t>Continue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step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</a:t>
            </a:r>
            <a:r>
              <a:rPr sz="1600" dirty="0">
                <a:latin typeface="Times New Roman"/>
                <a:cs typeface="Times New Roman"/>
              </a:rPr>
              <a:t> one</a:t>
            </a:r>
            <a:r>
              <a:rPr sz="1600" spc="-5" dirty="0">
                <a:latin typeface="Times New Roman"/>
                <a:cs typeface="Times New Roman"/>
              </a:rPr>
              <a:t> layer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 </a:t>
            </a:r>
            <a:r>
              <a:rPr sz="1600" spc="-10" dirty="0">
                <a:latin typeface="Times New Roman"/>
                <a:cs typeface="Times New Roman"/>
              </a:rPr>
              <a:t>time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you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reach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root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</a:t>
            </a:r>
            <a:endParaRPr sz="1600">
              <a:latin typeface="Times New Roman"/>
              <a:cs typeface="Times New Roman"/>
            </a:endParaRPr>
          </a:p>
          <a:p>
            <a:pPr marL="215265" indent="-203200">
              <a:lnSpc>
                <a:spcPct val="100000"/>
              </a:lnSpc>
              <a:spcBef>
                <a:spcPts val="960"/>
              </a:spcBef>
              <a:buAutoNum type="arabicPeriod" startAt="4"/>
              <a:tabLst>
                <a:tab pos="215900" algn="l"/>
              </a:tabLst>
            </a:pPr>
            <a:r>
              <a:rPr sz="1600" spc="-5" dirty="0">
                <a:latin typeface="Times New Roman"/>
                <a:cs typeface="Times New Roman"/>
              </a:rPr>
              <a:t>Choose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move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leads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highest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payoff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721" y="285750"/>
            <a:ext cx="6683375" cy="209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Time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complexity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minimax</a:t>
            </a:r>
            <a:r>
              <a:rPr sz="1800" dirty="0">
                <a:latin typeface="Times New Roman"/>
                <a:cs typeface="Times New Roman"/>
              </a:rPr>
              <a:t> algorithm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O(b</a:t>
            </a:r>
            <a:r>
              <a:rPr sz="1800" b="1" spc="-15" baseline="25462" dirty="0">
                <a:latin typeface="Times New Roman"/>
                <a:cs typeface="Times New Roman"/>
              </a:rPr>
              <a:t>m</a:t>
            </a:r>
            <a:r>
              <a:rPr sz="1800" b="1" spc="-1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38100" marR="238125" indent="152400">
              <a:lnSpc>
                <a:spcPct val="150000"/>
              </a:lnSpc>
              <a:spcBef>
                <a:spcPts val="1200"/>
              </a:spcBef>
            </a:pPr>
            <a:r>
              <a:rPr sz="1800" spc="-5" dirty="0">
                <a:latin typeface="Times New Roman"/>
                <a:cs typeface="Times New Roman"/>
              </a:rPr>
              <a:t>Where,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legal</a:t>
            </a:r>
            <a:r>
              <a:rPr sz="1800" spc="-5" dirty="0">
                <a:latin typeface="Times New Roman"/>
                <a:cs typeface="Times New Roman"/>
              </a:rPr>
              <a:t> moves</a:t>
            </a:r>
            <a:r>
              <a:rPr sz="1800" dirty="0">
                <a:latin typeface="Times New Roman"/>
                <a:cs typeface="Times New Roman"/>
              </a:rPr>
              <a:t> 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maximum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Let’s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take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example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game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tree using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minimax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</a:t>
            </a:r>
            <a:endParaRPr sz="1800">
              <a:latin typeface="Times New Roman"/>
              <a:cs typeface="Times New Roman"/>
            </a:endParaRPr>
          </a:p>
          <a:p>
            <a:pPr marL="324485" indent="-287020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1800" dirty="0">
                <a:latin typeface="Times New Roman"/>
                <a:cs typeface="Times New Roman"/>
              </a:rPr>
              <a:t>Player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Max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get </a:t>
            </a:r>
            <a:r>
              <a:rPr sz="1800" spc="-5" dirty="0">
                <a:latin typeface="Times New Roman"/>
                <a:cs typeface="Times New Roman"/>
              </a:rPr>
              <a:t>maximum </a:t>
            </a:r>
            <a:r>
              <a:rPr sz="1800" dirty="0">
                <a:latin typeface="Times New Roman"/>
                <a:cs typeface="Times New Roman"/>
              </a:rPr>
              <a:t>value 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 </a:t>
            </a:r>
            <a:r>
              <a:rPr sz="1800" spc="-5" dirty="0">
                <a:latin typeface="Times New Roman"/>
                <a:cs typeface="Times New Roman"/>
              </a:rPr>
              <a:t>maximum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benefit</a:t>
            </a:r>
            <a:endParaRPr sz="1800">
              <a:latin typeface="Times New Roman"/>
              <a:cs typeface="Times New Roman"/>
            </a:endParaRPr>
          </a:p>
          <a:p>
            <a:pPr marL="324485" indent="-28702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1800" dirty="0">
                <a:latin typeface="Times New Roman"/>
                <a:cs typeface="Times New Roman"/>
              </a:rPr>
              <a:t>Player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get </a:t>
            </a:r>
            <a:r>
              <a:rPr sz="1800" spc="-5" dirty="0">
                <a:latin typeface="Times New Roman"/>
                <a:cs typeface="Times New Roman"/>
              </a:rPr>
              <a:t>minimum</a:t>
            </a:r>
            <a:r>
              <a:rPr sz="1800" dirty="0">
                <a:latin typeface="Times New Roman"/>
                <a:cs typeface="Times New Roman"/>
              </a:rPr>
              <a:t> value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minimize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player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max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benefit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251" y="2351532"/>
            <a:ext cx="4351020" cy="264871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915" y="233172"/>
            <a:ext cx="8072755" cy="126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Here, </a:t>
            </a:r>
            <a:r>
              <a:rPr sz="1800" spc="-5" dirty="0">
                <a:latin typeface="Times New Roman"/>
                <a:cs typeface="Times New Roman"/>
              </a:rPr>
              <a:t>at the terminal node player Max is attached so first, </a:t>
            </a:r>
            <a:r>
              <a:rPr sz="1800" dirty="0">
                <a:latin typeface="Times New Roman"/>
                <a:cs typeface="Times New Roman"/>
              </a:rPr>
              <a:t>Max </a:t>
            </a:r>
            <a:r>
              <a:rPr sz="1800" spc="-5" dirty="0">
                <a:latin typeface="Times New Roman"/>
                <a:cs typeface="Times New Roman"/>
              </a:rPr>
              <a:t>player take </a:t>
            </a:r>
            <a:r>
              <a:rPr sz="1800" dirty="0">
                <a:latin typeface="Times New Roman"/>
                <a:cs typeface="Times New Roman"/>
              </a:rPr>
              <a:t>the value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 </a:t>
            </a:r>
            <a:r>
              <a:rPr sz="1800" spc="-5" dirty="0">
                <a:latin typeface="Times New Roman"/>
                <a:cs typeface="Times New Roman"/>
              </a:rPr>
              <a:t>is maximum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two child i.e. </a:t>
            </a:r>
            <a:r>
              <a:rPr sz="1800" dirty="0">
                <a:latin typeface="Times New Roman"/>
                <a:cs typeface="Times New Roman"/>
              </a:rPr>
              <a:t>8 at node </a:t>
            </a:r>
            <a:r>
              <a:rPr sz="1800" spc="-5" dirty="0">
                <a:latin typeface="Times New Roman"/>
                <a:cs typeface="Times New Roman"/>
              </a:rPr>
              <a:t>D. similarly </a:t>
            </a:r>
            <a:r>
              <a:rPr sz="1800" dirty="0">
                <a:latin typeface="Times New Roman"/>
                <a:cs typeface="Times New Roman"/>
              </a:rPr>
              <a:t>-1 at </a:t>
            </a:r>
            <a:r>
              <a:rPr sz="1800" spc="-5" dirty="0">
                <a:latin typeface="Times New Roman"/>
                <a:cs typeface="Times New Roman"/>
              </a:rPr>
              <a:t>node E, </a:t>
            </a:r>
            <a:r>
              <a:rPr sz="1800" dirty="0">
                <a:latin typeface="Times New Roman"/>
                <a:cs typeface="Times New Roman"/>
              </a:rPr>
              <a:t>2 at node </a:t>
            </a:r>
            <a:r>
              <a:rPr sz="1800" spc="-5" dirty="0">
                <a:latin typeface="Times New Roman"/>
                <a:cs typeface="Times New Roman"/>
              </a:rPr>
              <a:t>F,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-5" dirty="0">
                <a:latin typeface="Times New Roman"/>
                <a:cs typeface="Times New Roman"/>
              </a:rPr>
              <a:t> 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1388" y="1708404"/>
            <a:ext cx="4338828" cy="258470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188" y="285115"/>
            <a:ext cx="8084184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Now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turn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is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goes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player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who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try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minimize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benefit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by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taking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minimum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Player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takes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minimum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-5" dirty="0">
                <a:latin typeface="Times New Roman"/>
                <a:cs typeface="Times New Roman"/>
              </a:rPr>
              <a:t> D</a:t>
            </a:r>
            <a:r>
              <a:rPr sz="1800" dirty="0">
                <a:latin typeface="Times New Roman"/>
                <a:cs typeface="Times New Roman"/>
              </a:rPr>
              <a:t> 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 B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i.e.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 from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864" y="1773935"/>
            <a:ext cx="4361688" cy="280873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pc="-5" dirty="0"/>
              <a:t>Now</a:t>
            </a:r>
            <a:r>
              <a:rPr spc="190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turn</a:t>
            </a:r>
            <a:r>
              <a:rPr spc="210" dirty="0"/>
              <a:t> </a:t>
            </a:r>
            <a:r>
              <a:rPr spc="-5" dirty="0"/>
              <a:t>goes</a:t>
            </a:r>
            <a:r>
              <a:rPr spc="210" dirty="0"/>
              <a:t> </a:t>
            </a:r>
            <a:r>
              <a:rPr dirty="0"/>
              <a:t>to</a:t>
            </a:r>
            <a:r>
              <a:rPr spc="195" dirty="0"/>
              <a:t> </a:t>
            </a:r>
            <a:r>
              <a:rPr spc="-5" dirty="0"/>
              <a:t>player</a:t>
            </a:r>
            <a:r>
              <a:rPr spc="204" dirty="0"/>
              <a:t> </a:t>
            </a:r>
            <a:r>
              <a:rPr spc="-10" dirty="0"/>
              <a:t>Max,</a:t>
            </a:r>
            <a:r>
              <a:rPr spc="204" dirty="0"/>
              <a:t> </a:t>
            </a:r>
            <a:r>
              <a:rPr dirty="0"/>
              <a:t>which</a:t>
            </a:r>
            <a:r>
              <a:rPr spc="204" dirty="0"/>
              <a:t> </a:t>
            </a:r>
            <a:r>
              <a:rPr spc="-5" dirty="0"/>
              <a:t>take</a:t>
            </a:r>
            <a:r>
              <a:rPr spc="195" dirty="0"/>
              <a:t> </a:t>
            </a:r>
            <a:r>
              <a:rPr spc="-5" dirty="0"/>
              <a:t>maximum</a:t>
            </a:r>
            <a:r>
              <a:rPr spc="200" dirty="0"/>
              <a:t> </a:t>
            </a:r>
            <a:r>
              <a:rPr dirty="0"/>
              <a:t>value</a:t>
            </a:r>
            <a:r>
              <a:rPr spc="204" dirty="0"/>
              <a:t> </a:t>
            </a:r>
            <a:r>
              <a:rPr dirty="0"/>
              <a:t>from</a:t>
            </a:r>
            <a:r>
              <a:rPr spc="200" dirty="0"/>
              <a:t> </a:t>
            </a:r>
            <a:r>
              <a:rPr spc="-5" dirty="0"/>
              <a:t>node</a:t>
            </a:r>
            <a:r>
              <a:rPr spc="200" dirty="0"/>
              <a:t> </a:t>
            </a:r>
            <a:r>
              <a:rPr dirty="0"/>
              <a:t>B</a:t>
            </a:r>
            <a:r>
              <a:rPr spc="195" dirty="0"/>
              <a:t> </a:t>
            </a:r>
            <a:r>
              <a:rPr spc="-5" dirty="0"/>
              <a:t>and</a:t>
            </a:r>
            <a:r>
              <a:rPr spc="210" dirty="0"/>
              <a:t> </a:t>
            </a:r>
            <a:r>
              <a:rPr dirty="0"/>
              <a:t>C</a:t>
            </a:r>
            <a:r>
              <a:rPr spc="195" dirty="0"/>
              <a:t> </a:t>
            </a:r>
            <a:r>
              <a:rPr dirty="0"/>
              <a:t>to </a:t>
            </a:r>
            <a:r>
              <a:rPr spc="-434" dirty="0"/>
              <a:t> </a:t>
            </a:r>
            <a:r>
              <a:rPr dirty="0"/>
              <a:t>node</a:t>
            </a:r>
            <a:r>
              <a:rPr spc="-10" dirty="0"/>
              <a:t> </a:t>
            </a:r>
            <a:r>
              <a:rPr spc="-5" dirty="0"/>
              <a:t>A</a:t>
            </a:r>
            <a:r>
              <a:rPr dirty="0"/>
              <a:t> i.e.</a:t>
            </a:r>
            <a:r>
              <a:rPr spc="-15" dirty="0"/>
              <a:t> </a:t>
            </a:r>
            <a:r>
              <a:rPr dirty="0"/>
              <a:t>2.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8603" y="1016508"/>
            <a:ext cx="3552444" cy="26365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9902" y="3633012"/>
            <a:ext cx="8271509" cy="119189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00" dirty="0">
                <a:latin typeface="Times New Roman"/>
                <a:cs typeface="Times New Roman"/>
              </a:rPr>
              <a:t>Here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reach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so </a:t>
            </a:r>
            <a:r>
              <a:rPr sz="1700" dirty="0">
                <a:latin typeface="Times New Roman"/>
                <a:cs typeface="Times New Roman"/>
              </a:rPr>
              <a:t>game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over.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700" spc="-5" dirty="0">
                <a:latin typeface="Times New Roman"/>
                <a:cs typeface="Times New Roman"/>
              </a:rPr>
              <a:t>Hence,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player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chooses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route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A,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C,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terminal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with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max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value,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player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Max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will </a:t>
            </a:r>
            <a:r>
              <a:rPr sz="1700" dirty="0">
                <a:latin typeface="Times New Roman"/>
                <a:cs typeface="Times New Roman"/>
              </a:rPr>
              <a:t>win</a:t>
            </a:r>
            <a:r>
              <a:rPr sz="1700" spc="-5" dirty="0">
                <a:latin typeface="Times New Roman"/>
                <a:cs typeface="Times New Roman"/>
              </a:rPr>
              <a:t> with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payoff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 </a:t>
            </a:r>
            <a:r>
              <a:rPr sz="1700" dirty="0">
                <a:latin typeface="Times New Roman"/>
                <a:cs typeface="Times New Roman"/>
              </a:rPr>
              <a:t>2.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848" y="233172"/>
            <a:ext cx="4847590" cy="126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Example: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Tic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tac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minimax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Suppose, </a:t>
            </a:r>
            <a:r>
              <a:rPr sz="1800" dirty="0">
                <a:latin typeface="Times New Roman"/>
                <a:cs typeface="Times New Roman"/>
              </a:rPr>
              <a:t>Max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X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O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Times New Roman"/>
                <a:cs typeface="Times New Roman"/>
              </a:rPr>
              <a:t>Win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Draw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051" y="1510283"/>
            <a:ext cx="5260848" cy="344728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973" y="307441"/>
            <a:ext cx="8156575" cy="235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>
              <a:lnSpc>
                <a:spcPct val="150100"/>
              </a:lnSpc>
              <a:spcBef>
                <a:spcPts val="100"/>
              </a:spcBef>
            </a:pPr>
            <a:r>
              <a:rPr sz="1700" spc="-5" dirty="0">
                <a:latin typeface="Times New Roman"/>
                <a:cs typeface="Times New Roman"/>
              </a:rPr>
              <a:t>Hence,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if</a:t>
            </a:r>
            <a:r>
              <a:rPr sz="1700" spc="1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player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</a:t>
            </a:r>
            <a:r>
              <a:rPr sz="1700" spc="1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chooses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right</a:t>
            </a:r>
            <a:r>
              <a:rPr sz="1700" spc="1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most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</a:t>
            </a:r>
            <a:r>
              <a:rPr sz="1700" spc="1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1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player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will</a:t>
            </a:r>
            <a:r>
              <a:rPr sz="1700" spc="1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definitely</a:t>
            </a:r>
            <a:r>
              <a:rPr sz="1700" spc="1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win.</a:t>
            </a:r>
            <a:r>
              <a:rPr sz="1700" spc="1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If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player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chooses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left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most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middle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child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chances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win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half.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700" b="1" dirty="0">
                <a:latin typeface="Times New Roman"/>
                <a:cs typeface="Times New Roman"/>
              </a:rPr>
              <a:t>Alpha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Beta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pruning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algorithm: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algorithm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advance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version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minimax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algorithm.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It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to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cutoff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the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of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exploring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less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nodes.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700" spc="-5" dirty="0">
                <a:latin typeface="Times New Roman"/>
                <a:cs typeface="Times New Roman"/>
              </a:rPr>
              <a:t>Let’s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explain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help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following</a:t>
            </a:r>
            <a:r>
              <a:rPr sz="1700" spc="-5" dirty="0">
                <a:latin typeface="Times New Roman"/>
                <a:cs typeface="Times New Roman"/>
              </a:rPr>
              <a:t> game tree.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052" y="128015"/>
            <a:ext cx="5760720" cy="28209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5686" y="2928086"/>
            <a:ext cx="8289925" cy="196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700" spc="-10" dirty="0">
                <a:latin typeface="Times New Roman"/>
                <a:cs typeface="Times New Roman"/>
              </a:rPr>
              <a:t>Here,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Alpha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player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Beta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player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min.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Terminal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leaf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contains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payoff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700" dirty="0">
                <a:latin typeface="Times New Roman"/>
                <a:cs typeface="Times New Roman"/>
              </a:rPr>
              <a:t>Player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max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try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get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maximum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terminal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player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min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try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get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minimum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terminal.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700" dirty="0">
                <a:latin typeface="Times New Roman"/>
                <a:cs typeface="Times New Roman"/>
              </a:rPr>
              <a:t>Here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player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min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connected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terminal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chooses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min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 from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terminal.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455" y="376427"/>
            <a:ext cx="5826252" cy="272643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309372"/>
            <a:ext cx="5375148" cy="27111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6471" y="2999841"/>
            <a:ext cx="8401050" cy="196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700" spc="-10" dirty="0">
                <a:latin typeface="Times New Roman"/>
                <a:cs typeface="Times New Roman"/>
              </a:rPr>
              <a:t>Here, </a:t>
            </a:r>
            <a:r>
              <a:rPr sz="1700" spc="-5" dirty="0">
                <a:latin typeface="Times New Roman"/>
                <a:cs typeface="Times New Roman"/>
              </a:rPr>
              <a:t>min </a:t>
            </a:r>
            <a:r>
              <a:rPr sz="1700" dirty="0">
                <a:latin typeface="Times New Roman"/>
                <a:cs typeface="Times New Roman"/>
              </a:rPr>
              <a:t>player </a:t>
            </a:r>
            <a:r>
              <a:rPr sz="1700" spc="-5" dirty="0">
                <a:latin typeface="Times New Roman"/>
                <a:cs typeface="Times New Roman"/>
              </a:rPr>
              <a:t>which is beta, chooses the minimum value from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terminal and </a:t>
            </a:r>
            <a:r>
              <a:rPr sz="1700" dirty="0">
                <a:latin typeface="Times New Roman"/>
                <a:cs typeface="Times New Roman"/>
              </a:rPr>
              <a:t>pass </a:t>
            </a:r>
            <a:r>
              <a:rPr sz="1700" spc="-5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player </a:t>
            </a:r>
            <a:r>
              <a:rPr sz="1700" spc="-5" dirty="0">
                <a:latin typeface="Times New Roman"/>
                <a:cs typeface="Times New Roman"/>
              </a:rPr>
              <a:t>max which is alpha. </a:t>
            </a:r>
            <a:r>
              <a:rPr sz="1700" dirty="0">
                <a:latin typeface="Times New Roman"/>
                <a:cs typeface="Times New Roman"/>
              </a:rPr>
              <a:t>The max </a:t>
            </a:r>
            <a:r>
              <a:rPr sz="1700" spc="-5" dirty="0">
                <a:latin typeface="Times New Roman"/>
                <a:cs typeface="Times New Roman"/>
              </a:rPr>
              <a:t>player </a:t>
            </a:r>
            <a:r>
              <a:rPr sz="1700" spc="-10" dirty="0">
                <a:latin typeface="Times New Roman"/>
                <a:cs typeface="Times New Roman"/>
              </a:rPr>
              <a:t>searches </a:t>
            </a:r>
            <a:r>
              <a:rPr sz="1700" dirty="0">
                <a:latin typeface="Times New Roman"/>
                <a:cs typeface="Times New Roman"/>
              </a:rPr>
              <a:t>the value </a:t>
            </a:r>
            <a:r>
              <a:rPr sz="1700" spc="-5" dirty="0">
                <a:latin typeface="Times New Roman"/>
                <a:cs typeface="Times New Roman"/>
              </a:rPr>
              <a:t>greater </a:t>
            </a:r>
            <a:r>
              <a:rPr sz="1700" dirty="0">
                <a:latin typeface="Times New Roman"/>
                <a:cs typeface="Times New Roman"/>
              </a:rPr>
              <a:t>than 3 </a:t>
            </a:r>
            <a:r>
              <a:rPr sz="1700" spc="-5" dirty="0">
                <a:latin typeface="Times New Roman"/>
                <a:cs typeface="Times New Roman"/>
              </a:rPr>
              <a:t>from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child. </a:t>
            </a:r>
            <a:r>
              <a:rPr sz="1700" spc="-20" dirty="0">
                <a:latin typeface="Times New Roman"/>
                <a:cs typeface="Times New Roman"/>
              </a:rPr>
              <a:t>If 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found </a:t>
            </a:r>
            <a:r>
              <a:rPr sz="1700" spc="-5" dirty="0">
                <a:latin typeface="Times New Roman"/>
                <a:cs typeface="Times New Roman"/>
              </a:rPr>
              <a:t>replace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value </a:t>
            </a:r>
            <a:r>
              <a:rPr sz="1700" dirty="0">
                <a:latin typeface="Times New Roman"/>
                <a:cs typeface="Times New Roman"/>
              </a:rPr>
              <a:t>3 by </a:t>
            </a:r>
            <a:r>
              <a:rPr sz="1700" spc="-5" dirty="0">
                <a:latin typeface="Times New Roman"/>
                <a:cs typeface="Times New Roman"/>
              </a:rPr>
              <a:t>maximum value otherwise prune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node. </a:t>
            </a:r>
            <a:r>
              <a:rPr sz="1700" dirty="0">
                <a:latin typeface="Times New Roman"/>
                <a:cs typeface="Times New Roman"/>
              </a:rPr>
              <a:t>This </a:t>
            </a:r>
            <a:r>
              <a:rPr sz="1700" spc="-5" dirty="0">
                <a:latin typeface="Times New Roman"/>
                <a:cs typeface="Times New Roman"/>
              </a:rPr>
              <a:t>process </a:t>
            </a:r>
            <a:r>
              <a:rPr sz="1700" dirty="0">
                <a:latin typeface="Times New Roman"/>
                <a:cs typeface="Times New Roman"/>
              </a:rPr>
              <a:t>goes on </a:t>
            </a:r>
            <a:r>
              <a:rPr sz="1700" spc="-10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root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node.</a:t>
            </a: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25"/>
              </a:spcBef>
            </a:pPr>
            <a:r>
              <a:rPr sz="1700" dirty="0">
                <a:latin typeface="Times New Roman"/>
                <a:cs typeface="Times New Roman"/>
              </a:rPr>
              <a:t>Here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above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figure, </a:t>
            </a:r>
            <a:r>
              <a:rPr sz="1700" spc="-5" dirty="0">
                <a:latin typeface="Times New Roman"/>
                <a:cs typeface="Times New Roman"/>
              </a:rPr>
              <a:t>if</a:t>
            </a:r>
            <a:r>
              <a:rPr sz="1700" dirty="0">
                <a:latin typeface="Times New Roman"/>
                <a:cs typeface="Times New Roman"/>
              </a:rPr>
              <a:t> max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player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choose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left</a:t>
            </a:r>
            <a:r>
              <a:rPr sz="1700" spc="-5" dirty="0">
                <a:latin typeface="Times New Roman"/>
                <a:cs typeface="Times New Roman"/>
              </a:rPr>
              <a:t> child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first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win</a:t>
            </a:r>
            <a:r>
              <a:rPr sz="1700" spc="-5" dirty="0">
                <a:latin typeface="Times New Roman"/>
                <a:cs typeface="Times New Roman"/>
              </a:rPr>
              <a:t> with</a:t>
            </a:r>
            <a:r>
              <a:rPr sz="1700" dirty="0">
                <a:latin typeface="Times New Roman"/>
                <a:cs typeface="Times New Roman"/>
              </a:rPr>
              <a:t> payoff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value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557" y="1262577"/>
            <a:ext cx="6878360" cy="26620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25445" y="437515"/>
            <a:ext cx="21951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Comparison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Search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Trees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5322" y="2443988"/>
            <a:ext cx="674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G</a:t>
            </a:r>
            <a:r>
              <a:rPr sz="1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aph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288" y="845591"/>
            <a:ext cx="5546090" cy="22205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Contents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Introduction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Transitive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Closure,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Floyd-Warshall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Minimum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tree: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Kruskal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Prims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Shortest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Algorithms: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Dijkstra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Bellman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Ford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135" y="578256"/>
            <a:ext cx="7973059" cy="410625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Introduction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non-linear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structure;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map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well-known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example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graph.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map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algn="just">
              <a:lnSpc>
                <a:spcPct val="150000"/>
              </a:lnSpc>
            </a:pPr>
            <a:r>
              <a:rPr sz="1600" spc="-5" dirty="0">
                <a:latin typeface="Times New Roman"/>
                <a:cs typeface="Times New Roman"/>
              </a:rPr>
              <a:t>various </a:t>
            </a:r>
            <a:r>
              <a:rPr sz="1600" dirty="0">
                <a:latin typeface="Times New Roman"/>
                <a:cs typeface="Times New Roman"/>
              </a:rPr>
              <a:t>connections are </a:t>
            </a:r>
            <a:r>
              <a:rPr sz="1600" spc="-5" dirty="0">
                <a:latin typeface="Times New Roman"/>
                <a:cs typeface="Times New Roman"/>
              </a:rPr>
              <a:t>made between the </a:t>
            </a:r>
            <a:r>
              <a:rPr sz="1600" dirty="0">
                <a:latin typeface="Times New Roman"/>
                <a:cs typeface="Times New Roman"/>
              </a:rPr>
              <a:t>cities.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cities are </a:t>
            </a:r>
            <a:r>
              <a:rPr sz="1600" spc="-5" dirty="0">
                <a:latin typeface="Times New Roman"/>
                <a:cs typeface="Times New Roman"/>
              </a:rPr>
              <a:t>connected via roads, </a:t>
            </a:r>
            <a:r>
              <a:rPr sz="1600" dirty="0">
                <a:latin typeface="Times New Roman"/>
                <a:cs typeface="Times New Roman"/>
              </a:rPr>
              <a:t>railway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lines and </a:t>
            </a:r>
            <a:r>
              <a:rPr sz="1600" dirty="0">
                <a:latin typeface="Times New Roman"/>
                <a:cs typeface="Times New Roman"/>
              </a:rPr>
              <a:t>aerial </a:t>
            </a:r>
            <a:r>
              <a:rPr sz="1600" spc="-5" dirty="0">
                <a:latin typeface="Times New Roman"/>
                <a:cs typeface="Times New Roman"/>
              </a:rPr>
              <a:t>network. </a:t>
            </a:r>
            <a:r>
              <a:rPr sz="1600" spc="-10" dirty="0">
                <a:latin typeface="Times New Roman"/>
                <a:cs typeface="Times New Roman"/>
              </a:rPr>
              <a:t>We </a:t>
            </a:r>
            <a:r>
              <a:rPr sz="1600" spc="-5" dirty="0">
                <a:latin typeface="Times New Roman"/>
                <a:cs typeface="Times New Roman"/>
              </a:rPr>
              <a:t>can assume that the graph is the interconnection </a:t>
            </a:r>
            <a:r>
              <a:rPr sz="1600" dirty="0">
                <a:latin typeface="Times New Roman"/>
                <a:cs typeface="Times New Roman"/>
              </a:rPr>
              <a:t>of cities </a:t>
            </a:r>
            <a:r>
              <a:rPr sz="1600" spc="10" dirty="0">
                <a:latin typeface="Times New Roman"/>
                <a:cs typeface="Times New Roman"/>
              </a:rPr>
              <a:t>by 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roads. Euler used </a:t>
            </a:r>
            <a:r>
              <a:rPr sz="1600" spc="-5" dirty="0">
                <a:latin typeface="Times New Roman"/>
                <a:cs typeface="Times New Roman"/>
              </a:rPr>
              <a:t>graph theory to </a:t>
            </a:r>
            <a:r>
              <a:rPr sz="1600" dirty="0">
                <a:latin typeface="Times New Roman"/>
                <a:cs typeface="Times New Roman"/>
              </a:rPr>
              <a:t>solve </a:t>
            </a:r>
            <a:r>
              <a:rPr sz="1600" spc="-5" dirty="0">
                <a:latin typeface="Times New Roman"/>
                <a:cs typeface="Times New Roman"/>
              </a:rPr>
              <a:t>Seven Bridges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Königsberg problem. Is there a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possible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way 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every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bridge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exactly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once –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Euler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Tour</a:t>
            </a:r>
          </a:p>
          <a:p>
            <a:pPr marL="299085" indent="-287020" algn="just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contains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known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vertices)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links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known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endParaRPr sz="1600" dirty="0">
              <a:latin typeface="Times New Roman"/>
              <a:cs typeface="Times New Roman"/>
            </a:endParaRPr>
          </a:p>
          <a:p>
            <a:pPr marL="299085" algn="just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(or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Arcs)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 graph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 =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),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 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Example: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can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be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defined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)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{A,B,C,D,E}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endParaRPr sz="1600" dirty="0">
              <a:latin typeface="Times New Roman"/>
              <a:cs typeface="Times New Roman"/>
            </a:endParaRPr>
          </a:p>
          <a:p>
            <a:pPr marL="299085" algn="just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{(A,B),(A,C)(A,D),(B,D),(C,D),(B,E),(E,D)}.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6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998" y="569270"/>
            <a:ext cx="4276375" cy="11627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0531" y="2239750"/>
            <a:ext cx="8141334" cy="222123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b="1" spc="-5" dirty="0">
                <a:latin typeface="Times New Roman"/>
                <a:cs typeface="Times New Roman"/>
              </a:rPr>
              <a:t>Graph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Terminology</a:t>
            </a:r>
            <a:endParaRPr sz="1600">
              <a:latin typeface="Times New Roman"/>
              <a:cs typeface="Times New Roman"/>
            </a:endParaRPr>
          </a:p>
          <a:p>
            <a:pPr marL="355600" marR="8890" indent="-342900">
              <a:lnSpc>
                <a:spcPct val="15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Vertex</a:t>
            </a:r>
            <a:r>
              <a:rPr sz="1600" b="1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individual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element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called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Vertex.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also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known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above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example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 &amp;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known 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Edge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link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vertices.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also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known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Arc.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(starting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ending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Vertex).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above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link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(A,B).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191515"/>
            <a:ext cx="8113395" cy="45853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three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types: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buSzPct val="93333"/>
              <a:buAutoNum type="arabicPeriod"/>
              <a:tabLst>
                <a:tab pos="157480" algn="l"/>
              </a:tabLst>
            </a:pPr>
            <a:r>
              <a:rPr sz="1500" spc="-5" dirty="0">
                <a:latin typeface="Times New Roman"/>
                <a:cs typeface="Times New Roman"/>
              </a:rPr>
              <a:t>Undirected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-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undirected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bidirectional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edge.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there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undirected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between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vertices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 </a:t>
            </a:r>
            <a:r>
              <a:rPr sz="1500" spc="-5" dirty="0">
                <a:latin typeface="Times New Roman"/>
                <a:cs typeface="Times New Roman"/>
              </a:rPr>
              <a:t>then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B)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equal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(B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A).</a:t>
            </a:r>
            <a:endParaRPr sz="1500">
              <a:latin typeface="Times New Roman"/>
              <a:cs typeface="Times New Roman"/>
            </a:endParaRPr>
          </a:p>
          <a:p>
            <a:pPr marL="12700" marR="6350">
              <a:lnSpc>
                <a:spcPct val="150000"/>
              </a:lnSpc>
              <a:buSzPct val="93333"/>
              <a:buAutoNum type="arabicPeriod"/>
              <a:tabLst>
                <a:tab pos="157480" algn="l"/>
              </a:tabLst>
            </a:pPr>
            <a:r>
              <a:rPr sz="1500" spc="-5" dirty="0">
                <a:latin typeface="Times New Roman"/>
                <a:cs typeface="Times New Roman"/>
              </a:rPr>
              <a:t>Directed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-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directed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unidirectional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edge.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there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directed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between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vertices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 </a:t>
            </a:r>
            <a:r>
              <a:rPr sz="1500" spc="-5" dirty="0">
                <a:latin typeface="Times New Roman"/>
                <a:cs typeface="Times New Roman"/>
              </a:rPr>
              <a:t>then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B)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equal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(B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A).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450">
              <a:latin typeface="Times New Roman"/>
              <a:cs typeface="Times New Roman"/>
            </a:endParaRPr>
          </a:p>
          <a:p>
            <a:pPr marL="156845" indent="-144780">
              <a:lnSpc>
                <a:spcPct val="100000"/>
              </a:lnSpc>
              <a:buSzPct val="93333"/>
              <a:buAutoNum type="arabicPeriod"/>
              <a:tabLst>
                <a:tab pos="157480" algn="l"/>
              </a:tabLst>
            </a:pPr>
            <a:r>
              <a:rPr sz="1500" spc="-5" dirty="0">
                <a:latin typeface="Times New Roman"/>
                <a:cs typeface="Times New Roman"/>
              </a:rPr>
              <a:t>Weighted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 </a:t>
            </a:r>
            <a:r>
              <a:rPr sz="1500" dirty="0">
                <a:latin typeface="Times New Roman"/>
                <a:cs typeface="Times New Roman"/>
              </a:rPr>
              <a:t>-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 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cost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Degree: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Total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dirty="0">
                <a:latin typeface="Times New Roman"/>
                <a:cs typeface="Times New Roman"/>
              </a:rPr>
              <a:t> of </a:t>
            </a:r>
            <a:r>
              <a:rPr sz="1500" spc="-5" dirty="0">
                <a:latin typeface="Times New Roman"/>
                <a:cs typeface="Times New Roman"/>
              </a:rPr>
              <a:t>edges connected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vertex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dirty="0">
                <a:latin typeface="Times New Roman"/>
                <a:cs typeface="Times New Roman"/>
              </a:rPr>
              <a:t> said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5" dirty="0">
                <a:latin typeface="Times New Roman"/>
                <a:cs typeface="Times New Roman"/>
              </a:rPr>
              <a:t> degree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vertex.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b="1" spc="-5" dirty="0">
                <a:latin typeface="Times New Roman"/>
                <a:cs typeface="Times New Roman"/>
              </a:rPr>
              <a:t>Indegree:</a:t>
            </a:r>
            <a:r>
              <a:rPr sz="1500" b="1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Total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incoming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 connected</a:t>
            </a:r>
            <a:r>
              <a:rPr sz="1500" dirty="0">
                <a:latin typeface="Times New Roman"/>
                <a:cs typeface="Times New Roman"/>
              </a:rPr>
              <a:t> 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vertex 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said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indegree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vertex.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b="1" spc="-5" dirty="0">
                <a:latin typeface="Times New Roman"/>
                <a:cs typeface="Times New Roman"/>
              </a:rPr>
              <a:t>Outdegree: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Total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outgoing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connected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said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5" dirty="0">
                <a:latin typeface="Times New Roman"/>
                <a:cs typeface="Times New Roman"/>
              </a:rPr>
              <a:t> outdegree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vertex.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b="1" spc="-5" dirty="0">
                <a:latin typeface="Times New Roman"/>
                <a:cs typeface="Times New Roman"/>
              </a:rPr>
              <a:t>Parallel</a:t>
            </a:r>
            <a:r>
              <a:rPr sz="1500" b="1" spc="13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edges</a:t>
            </a:r>
            <a:r>
              <a:rPr sz="1500" b="1" spc="1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or</a:t>
            </a:r>
            <a:r>
              <a:rPr sz="1500" b="1" spc="1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Multiple</a:t>
            </a:r>
            <a:r>
              <a:rPr sz="1500" b="1" spc="13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edges:</a:t>
            </a:r>
            <a:r>
              <a:rPr sz="1500" b="1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there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two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undirected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same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end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vertices,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for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two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directed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same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origin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and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same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destination.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Such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edges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called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05"/>
              </a:spcBef>
            </a:pPr>
            <a:r>
              <a:rPr sz="1500" spc="-5" dirty="0">
                <a:latin typeface="Times New Roman"/>
                <a:cs typeface="Times New Roman"/>
              </a:rPr>
              <a:t>parallel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multiple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2127" y="506149"/>
            <a:ext cx="2374914" cy="19304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6752" y="2744850"/>
            <a:ext cx="214630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Here, in degree </a:t>
            </a:r>
            <a:r>
              <a:rPr sz="1600" dirty="0">
                <a:latin typeface="Times New Roman"/>
                <a:cs typeface="Times New Roman"/>
              </a:rPr>
              <a:t>of nodes:-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5097" y="2884423"/>
            <a:ext cx="16579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Out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degree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 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839" y="331749"/>
            <a:ext cx="78359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Sub</a:t>
            </a:r>
            <a:r>
              <a:rPr sz="1600" b="1" spc="17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Graph:</a:t>
            </a:r>
            <a:r>
              <a:rPr sz="1600" b="1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said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S </a:t>
            </a:r>
            <a:r>
              <a:rPr sz="1600" dirty="0">
                <a:latin typeface="Times New Roman"/>
                <a:cs typeface="Times New Roman"/>
              </a:rPr>
              <a:t>are </a:t>
            </a:r>
            <a:r>
              <a:rPr sz="1600" spc="-5" dirty="0">
                <a:latin typeface="Times New Roman"/>
                <a:cs typeface="Times New Roman"/>
              </a:rPr>
              <a:t>in G, and </a:t>
            </a:r>
            <a:r>
              <a:rPr sz="1600" spc="-10" dirty="0">
                <a:latin typeface="Times New Roman"/>
                <a:cs typeface="Times New Roman"/>
              </a:rPr>
              <a:t>each </a:t>
            </a:r>
            <a:r>
              <a:rPr sz="1600" dirty="0">
                <a:latin typeface="Times New Roman"/>
                <a:cs typeface="Times New Roman"/>
              </a:rPr>
              <a:t>edge of </a:t>
            </a:r>
            <a:r>
              <a:rPr sz="1600" spc="-5" dirty="0">
                <a:latin typeface="Times New Roman"/>
                <a:cs typeface="Times New Roman"/>
              </a:rPr>
              <a:t>S has the </a:t>
            </a:r>
            <a:r>
              <a:rPr sz="1600" dirty="0">
                <a:latin typeface="Times New Roman"/>
                <a:cs typeface="Times New Roman"/>
              </a:rPr>
              <a:t>same </a:t>
            </a:r>
            <a:r>
              <a:rPr sz="1600" spc="-5" dirty="0">
                <a:latin typeface="Times New Roman"/>
                <a:cs typeface="Times New Roman"/>
              </a:rPr>
              <a:t>end vertices in S as in G. A subgraph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G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-5" dirty="0">
                <a:latin typeface="Times New Roman"/>
                <a:cs typeface="Times New Roman"/>
              </a:rPr>
              <a:t> G’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V(G’)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⊆</a:t>
            </a:r>
            <a:r>
              <a:rPr sz="1600" spc="50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V(G)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E(G’)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⊆</a:t>
            </a:r>
            <a:r>
              <a:rPr sz="1600" spc="4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E(G)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155" y="2148839"/>
            <a:ext cx="5885688" cy="84581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691" y="393832"/>
            <a:ext cx="7304405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b="1" spc="-5" dirty="0">
                <a:latin typeface="Times New Roman"/>
                <a:cs typeface="Times New Roman"/>
              </a:rPr>
              <a:t>Types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1.Undirected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Graph: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only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undirected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said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undirected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2691" y="2998673"/>
            <a:ext cx="672210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2. Directed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Graph: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 graph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only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said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0364" y="1475232"/>
            <a:ext cx="1822704" cy="13502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7711" y="3514344"/>
            <a:ext cx="1705356" cy="105308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341099"/>
            <a:ext cx="7849234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b="1" spc="-5" dirty="0">
                <a:latin typeface="Times New Roman"/>
                <a:cs typeface="Times New Roman"/>
              </a:rPr>
              <a:t>3. Complete Graph: </a:t>
            </a:r>
            <a:r>
              <a:rPr spc="-5" dirty="0"/>
              <a:t>A </a:t>
            </a:r>
            <a:r>
              <a:rPr dirty="0"/>
              <a:t>graph </a:t>
            </a:r>
            <a:r>
              <a:rPr spc="-5" dirty="0"/>
              <a:t>in which any V node is </a:t>
            </a:r>
            <a:r>
              <a:rPr dirty="0"/>
              <a:t>adjacent </a:t>
            </a:r>
            <a:r>
              <a:rPr spc="-5" dirty="0"/>
              <a:t>to </a:t>
            </a:r>
            <a:r>
              <a:rPr dirty="0"/>
              <a:t>all </a:t>
            </a:r>
            <a:r>
              <a:rPr spc="-5" dirty="0"/>
              <a:t>other nodes </a:t>
            </a:r>
            <a:r>
              <a:rPr dirty="0"/>
              <a:t>present </a:t>
            </a:r>
            <a:r>
              <a:rPr spc="-5" dirty="0"/>
              <a:t>in the </a:t>
            </a:r>
            <a:r>
              <a:rPr dirty="0"/>
              <a:t> </a:t>
            </a:r>
            <a:r>
              <a:rPr spc="-5" dirty="0"/>
              <a:t>graph is known as a complete </a:t>
            </a:r>
            <a:r>
              <a:rPr dirty="0"/>
              <a:t>graph. </a:t>
            </a:r>
            <a:r>
              <a:rPr spc="-10" dirty="0"/>
              <a:t>An </a:t>
            </a:r>
            <a:r>
              <a:rPr spc="-5" dirty="0"/>
              <a:t>undirected graph contains the edges that </a:t>
            </a:r>
            <a:r>
              <a:rPr dirty="0"/>
              <a:t>are </a:t>
            </a:r>
            <a:r>
              <a:rPr spc="-5" dirty="0"/>
              <a:t>equal to </a:t>
            </a:r>
            <a:r>
              <a:rPr dirty="0"/>
              <a:t> </a:t>
            </a:r>
            <a:r>
              <a:rPr spc="-5" dirty="0"/>
              <a:t>edges = </a:t>
            </a:r>
            <a:r>
              <a:rPr dirty="0"/>
              <a:t>n(n-1)/2 </a:t>
            </a:r>
            <a:r>
              <a:rPr spc="-5" dirty="0"/>
              <a:t>where n is </a:t>
            </a:r>
            <a:r>
              <a:rPr dirty="0"/>
              <a:t>the number of vertices present </a:t>
            </a:r>
            <a:r>
              <a:rPr spc="-5" dirty="0"/>
              <a:t>in the </a:t>
            </a:r>
            <a:r>
              <a:rPr dirty="0"/>
              <a:t>graph. </a:t>
            </a:r>
            <a:r>
              <a:rPr spc="-5" dirty="0"/>
              <a:t>The following </a:t>
            </a:r>
            <a:r>
              <a:rPr dirty="0"/>
              <a:t>figure </a:t>
            </a:r>
            <a:r>
              <a:rPr spc="5" dirty="0"/>
              <a:t> </a:t>
            </a:r>
            <a:r>
              <a:rPr spc="-5" dirty="0"/>
              <a:t>shows a</a:t>
            </a:r>
            <a:r>
              <a:rPr spc="-10" dirty="0"/>
              <a:t> </a:t>
            </a:r>
            <a:r>
              <a:rPr spc="-5" dirty="0"/>
              <a:t>complete</a:t>
            </a:r>
            <a:r>
              <a:rPr spc="50" dirty="0"/>
              <a:t> </a:t>
            </a:r>
            <a:r>
              <a:rPr spc="-5" dirty="0"/>
              <a:t>graph.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2807021"/>
            <a:ext cx="7846695" cy="1450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4.</a:t>
            </a:r>
            <a:r>
              <a:rPr sz="1600" b="1" spc="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Regular</a:t>
            </a:r>
            <a:r>
              <a:rPr sz="1600" b="1" spc="1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Graph:</a:t>
            </a:r>
            <a:r>
              <a:rPr sz="1600" b="1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Regular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other,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i.e.,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accessible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</a:t>
            </a:r>
            <a:r>
              <a:rPr lang="en-US" sz="1600" b="0" i="0" dirty="0">
                <a:solidFill>
                  <a:srgbClr val="001D35"/>
                </a:solidFill>
                <a:effectLst/>
                <a:latin typeface="Google Sans"/>
              </a:rPr>
              <a:t> Regular graph has all vertices with the same degree (number of connections). A complete graph is always regular, but a regular graph isn't always complete. 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1354946"/>
            <a:ext cx="1556003" cy="13502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3874479"/>
            <a:ext cx="1449324" cy="135940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0422" y="567715"/>
            <a:ext cx="7651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5.</a:t>
            </a:r>
            <a:r>
              <a:rPr b="1" spc="14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Cycle</a:t>
            </a:r>
            <a:r>
              <a:rPr b="1" spc="17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Graph:</a:t>
            </a:r>
            <a:r>
              <a:rPr b="1" spc="165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spc="155" dirty="0"/>
              <a:t> </a:t>
            </a:r>
            <a:r>
              <a:rPr spc="-5" dirty="0"/>
              <a:t>graph</a:t>
            </a:r>
            <a:r>
              <a:rPr spc="165" dirty="0"/>
              <a:t> </a:t>
            </a:r>
            <a:r>
              <a:rPr dirty="0"/>
              <a:t>having</a:t>
            </a:r>
            <a:r>
              <a:rPr spc="170" dirty="0"/>
              <a:t> </a:t>
            </a:r>
            <a:r>
              <a:rPr spc="-5" dirty="0"/>
              <a:t>cycle</a:t>
            </a:r>
            <a:r>
              <a:rPr spc="170" dirty="0"/>
              <a:t> </a:t>
            </a:r>
            <a:r>
              <a:rPr spc="-5" dirty="0"/>
              <a:t>is</a:t>
            </a:r>
            <a:r>
              <a:rPr spc="170" dirty="0"/>
              <a:t> </a:t>
            </a:r>
            <a:r>
              <a:rPr dirty="0"/>
              <a:t>called</a:t>
            </a:r>
            <a:r>
              <a:rPr spc="165" dirty="0"/>
              <a:t> </a:t>
            </a:r>
            <a:r>
              <a:rPr dirty="0"/>
              <a:t>cycle</a:t>
            </a:r>
            <a:r>
              <a:rPr spc="160" dirty="0"/>
              <a:t> </a:t>
            </a:r>
            <a:r>
              <a:rPr dirty="0"/>
              <a:t>graph.</a:t>
            </a:r>
            <a:r>
              <a:rPr spc="165" dirty="0"/>
              <a:t> </a:t>
            </a:r>
            <a:r>
              <a:rPr spc="-5" dirty="0"/>
              <a:t>In</a:t>
            </a:r>
            <a:r>
              <a:rPr spc="175" dirty="0"/>
              <a:t> </a:t>
            </a:r>
            <a:r>
              <a:rPr spc="-5" dirty="0"/>
              <a:t>this</a:t>
            </a:r>
            <a:r>
              <a:rPr spc="170" dirty="0"/>
              <a:t> </a:t>
            </a:r>
            <a:r>
              <a:rPr spc="-5" dirty="0"/>
              <a:t>case</a:t>
            </a:r>
            <a:r>
              <a:rPr spc="170" dirty="0"/>
              <a:t> </a:t>
            </a:r>
            <a:r>
              <a:rPr spc="-5" dirty="0"/>
              <a:t>the</a:t>
            </a:r>
            <a:r>
              <a:rPr spc="160" dirty="0"/>
              <a:t> </a:t>
            </a:r>
            <a:r>
              <a:rPr dirty="0"/>
              <a:t>first</a:t>
            </a:r>
            <a:r>
              <a:rPr spc="175" dirty="0"/>
              <a:t> </a:t>
            </a:r>
            <a:r>
              <a:rPr spc="-5" dirty="0"/>
              <a:t>and</a:t>
            </a:r>
            <a:r>
              <a:rPr spc="165" dirty="0"/>
              <a:t> </a:t>
            </a:r>
            <a:r>
              <a:rPr dirty="0"/>
              <a:t>last </a:t>
            </a:r>
            <a:r>
              <a:rPr spc="-385" dirty="0"/>
              <a:t> </a:t>
            </a:r>
            <a:r>
              <a:rPr spc="-5" dirty="0"/>
              <a:t>nodes</a:t>
            </a:r>
            <a:r>
              <a:rPr spc="5" dirty="0"/>
              <a:t> </a:t>
            </a:r>
            <a:r>
              <a:rPr spc="-5" dirty="0"/>
              <a:t>are</a:t>
            </a:r>
            <a:r>
              <a:rPr spc="15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10" dirty="0"/>
              <a:t>same.</a:t>
            </a:r>
            <a:r>
              <a:rPr spc="40" dirty="0"/>
              <a:t> </a:t>
            </a:r>
            <a:r>
              <a:rPr spc="-5" dirty="0"/>
              <a:t>A closed</a:t>
            </a:r>
            <a:r>
              <a:rPr spc="15" dirty="0"/>
              <a:t> </a:t>
            </a:r>
            <a:r>
              <a:rPr spc="-10" dirty="0"/>
              <a:t>simple</a:t>
            </a:r>
            <a:r>
              <a:rPr spc="55" dirty="0"/>
              <a:t> </a:t>
            </a:r>
            <a:r>
              <a:rPr spc="-5" dirty="0"/>
              <a:t>path</a:t>
            </a:r>
            <a:r>
              <a:rPr spc="15" dirty="0"/>
              <a:t> </a:t>
            </a:r>
            <a:r>
              <a:rPr spc="-5" dirty="0"/>
              <a:t>is a</a:t>
            </a:r>
            <a:r>
              <a:rPr spc="5" dirty="0"/>
              <a:t> </a:t>
            </a:r>
            <a:r>
              <a:rPr spc="-5" dirty="0"/>
              <a:t>cycle.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0422" y="3051505"/>
            <a:ext cx="54222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6.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Acyclic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Graph: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without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cycle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called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acyclic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1688" y="1482852"/>
            <a:ext cx="2372867" cy="13746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9079" y="3386328"/>
            <a:ext cx="2499360" cy="134874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987" y="454003"/>
            <a:ext cx="7816850" cy="1123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5"/>
              </a:spcBef>
            </a:pPr>
            <a:r>
              <a:rPr sz="1600" b="1" spc="-5" dirty="0">
                <a:latin typeface="Times New Roman"/>
                <a:cs typeface="Times New Roman"/>
              </a:rPr>
              <a:t>7. </a:t>
            </a:r>
            <a:r>
              <a:rPr sz="1600" b="1" dirty="0">
                <a:latin typeface="Times New Roman"/>
                <a:cs typeface="Times New Roman"/>
              </a:rPr>
              <a:t>Weighted </a:t>
            </a:r>
            <a:r>
              <a:rPr sz="1600" b="1" spc="-5" dirty="0">
                <a:latin typeface="Times New Roman"/>
                <a:cs typeface="Times New Roman"/>
              </a:rPr>
              <a:t>Graph: </a:t>
            </a:r>
            <a:r>
              <a:rPr sz="1600" spc="-5" dirty="0">
                <a:latin typeface="Times New Roman"/>
                <a:cs typeface="Times New Roman"/>
              </a:rPr>
              <a:t>A </a:t>
            </a:r>
            <a:r>
              <a:rPr sz="1600" dirty="0">
                <a:latin typeface="Times New Roman"/>
                <a:cs typeface="Times New Roman"/>
              </a:rPr>
              <a:t>graph is said </a:t>
            </a:r>
            <a:r>
              <a:rPr sz="1600" spc="-5" dirty="0">
                <a:latin typeface="Times New Roman"/>
                <a:cs typeface="Times New Roman"/>
              </a:rPr>
              <a:t>to be weighted if </a:t>
            </a:r>
            <a:r>
              <a:rPr sz="1600" dirty="0">
                <a:latin typeface="Times New Roman"/>
                <a:cs typeface="Times New Roman"/>
              </a:rPr>
              <a:t>there </a:t>
            </a:r>
            <a:r>
              <a:rPr sz="1600" spc="-5" dirty="0">
                <a:latin typeface="Times New Roman"/>
                <a:cs typeface="Times New Roman"/>
              </a:rPr>
              <a:t>are some non </a:t>
            </a:r>
            <a:r>
              <a:rPr sz="1600" dirty="0">
                <a:latin typeface="Times New Roman"/>
                <a:cs typeface="Times New Roman"/>
              </a:rPr>
              <a:t>negative value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assigned to each edges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graph. </a:t>
            </a:r>
            <a:r>
              <a:rPr sz="1600" spc="-5" dirty="0">
                <a:latin typeface="Times New Roman"/>
                <a:cs typeface="Times New Roman"/>
              </a:rPr>
              <a:t>The value is equal to the </a:t>
            </a:r>
            <a:r>
              <a:rPr sz="1600" dirty="0">
                <a:latin typeface="Times New Roman"/>
                <a:cs typeface="Times New Roman"/>
              </a:rPr>
              <a:t>length between </a:t>
            </a:r>
            <a:r>
              <a:rPr sz="1600" spc="-5" dirty="0">
                <a:latin typeface="Times New Roman"/>
                <a:cs typeface="Times New Roman"/>
              </a:rPr>
              <a:t>two </a:t>
            </a:r>
            <a:r>
              <a:rPr sz="1600" dirty="0">
                <a:latin typeface="Times New Roman"/>
                <a:cs typeface="Times New Roman"/>
              </a:rPr>
              <a:t>vertices.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also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 network.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1128" y="1952244"/>
            <a:ext cx="1761744" cy="123901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269" y="773709"/>
            <a:ext cx="7805420" cy="38868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10" dirty="0">
                <a:latin typeface="Times New Roman"/>
                <a:cs typeface="Times New Roman"/>
              </a:rPr>
              <a:t>ADT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Graph:</a:t>
            </a:r>
            <a:endParaRPr sz="16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Create()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 </a:t>
            </a:r>
            <a:r>
              <a:rPr sz="1600" spc="-10" dirty="0">
                <a:latin typeface="Times New Roman"/>
                <a:cs typeface="Times New Roman"/>
              </a:rPr>
              <a:t>empty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endParaRPr sz="16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InsertVertex(graph,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v):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inserted.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-5" dirty="0">
                <a:latin typeface="Times New Roman"/>
                <a:cs typeface="Times New Roman"/>
              </a:rPr>
              <a:t> edge.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InsertEdge(graph,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v1,v2):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</a:t>
            </a:r>
            <a:r>
              <a:rPr sz="1600" dirty="0">
                <a:latin typeface="Times New Roman"/>
                <a:cs typeface="Times New Roman"/>
              </a:rPr>
              <a:t> edge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v1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v2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DeleteVertex(graph,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v)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:return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incident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endParaRPr sz="16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Times New Roman"/>
                <a:cs typeface="Times New Roman"/>
              </a:rPr>
              <a:t>removed</a:t>
            </a:r>
            <a:endParaRPr sz="1600">
              <a:latin typeface="Times New Roman"/>
              <a:cs typeface="Times New Roman"/>
            </a:endParaRPr>
          </a:p>
          <a:p>
            <a:pPr marL="304800" marR="1540510" algn="just">
              <a:lnSpc>
                <a:spcPct val="150000"/>
              </a:lnSpc>
            </a:pPr>
            <a:r>
              <a:rPr sz="1600" spc="-5" dirty="0">
                <a:latin typeface="Times New Roman"/>
                <a:cs typeface="Times New Roman"/>
              </a:rPr>
              <a:t>Graph DeleteEdge(graph, </a:t>
            </a:r>
            <a:r>
              <a:rPr sz="1600" dirty="0">
                <a:latin typeface="Times New Roman"/>
                <a:cs typeface="Times New Roman"/>
              </a:rPr>
              <a:t>v1, </a:t>
            </a:r>
            <a:r>
              <a:rPr sz="1600" spc="-5" dirty="0">
                <a:latin typeface="Times New Roman"/>
                <a:cs typeface="Times New Roman"/>
              </a:rPr>
              <a:t>v2): return a </a:t>
            </a:r>
            <a:r>
              <a:rPr sz="1600" dirty="0">
                <a:latin typeface="Times New Roman"/>
                <a:cs typeface="Times New Roman"/>
              </a:rPr>
              <a:t>graph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which </a:t>
            </a:r>
            <a:r>
              <a:rPr sz="1600" spc="-5" dirty="0">
                <a:latin typeface="Times New Roman"/>
                <a:cs typeface="Times New Roman"/>
              </a:rPr>
              <a:t>the edge (v1, </a:t>
            </a:r>
            <a:r>
              <a:rPr sz="1600" dirty="0">
                <a:latin typeface="Times New Roman"/>
                <a:cs typeface="Times New Roman"/>
              </a:rPr>
              <a:t> v2)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removed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Boolean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IsEmpty(graph):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(graph==empty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graph)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 TRUE </a:t>
            </a:r>
            <a:r>
              <a:rPr sz="1600" dirty="0">
                <a:latin typeface="Times New Roman"/>
                <a:cs typeface="Times New Roman"/>
              </a:rPr>
              <a:t>else </a:t>
            </a:r>
            <a:r>
              <a:rPr sz="1600" spc="-5" dirty="0">
                <a:latin typeface="Times New Roman"/>
                <a:cs typeface="Times New Roman"/>
              </a:rPr>
              <a:t>return FALSE </a:t>
            </a:r>
            <a:r>
              <a:rPr sz="1600" dirty="0">
                <a:latin typeface="Times New Roman"/>
                <a:cs typeface="Times New Roman"/>
              </a:rPr>
              <a:t>List Adjacent(graph,v): return </a:t>
            </a:r>
            <a:r>
              <a:rPr sz="1600" spc="-5" dirty="0">
                <a:latin typeface="Times New Roman"/>
                <a:cs typeface="Times New Roman"/>
              </a:rPr>
              <a:t>a </a:t>
            </a:r>
            <a:r>
              <a:rPr sz="1600" dirty="0">
                <a:latin typeface="Times New Roman"/>
                <a:cs typeface="Times New Roman"/>
              </a:rPr>
              <a:t>list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1041" y="272542"/>
            <a:ext cx="21939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Times New Roman"/>
                <a:cs typeface="Times New Roman"/>
              </a:rPr>
              <a:t>Representation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of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Graph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1848" y="515772"/>
            <a:ext cx="8093709" cy="368427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latin typeface="Times New Roman"/>
                <a:cs typeface="Times New Roman"/>
              </a:rPr>
              <a:t>following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ways:-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Sequential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(adjacency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matrix)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linked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(adjacency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list)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Incidence Matrix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Adjancy</a:t>
            </a:r>
            <a:r>
              <a:rPr sz="1600" b="1" spc="-10" dirty="0">
                <a:latin typeface="Times New Roman"/>
                <a:cs typeface="Times New Roman"/>
              </a:rPr>
              <a:t> matrix: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Adjancy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matrix</a:t>
            </a:r>
            <a:r>
              <a:rPr sz="1600" dirty="0">
                <a:latin typeface="Times New Roman"/>
                <a:cs typeface="Times New Roman"/>
              </a:rPr>
              <a:t> 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matrix</a:t>
            </a:r>
            <a:r>
              <a:rPr sz="1600" dirty="0">
                <a:latin typeface="Times New Roman"/>
                <a:cs typeface="Times New Roman"/>
              </a:rPr>
              <a:t> which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keeps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information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keeps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information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weather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adjacent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not.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Suppose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four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-5" dirty="0">
                <a:latin typeface="Times New Roman"/>
                <a:cs typeface="Times New Roman"/>
              </a:rPr>
              <a:t> represents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 1,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5" dirty="0">
                <a:latin typeface="Times New Roman"/>
                <a:cs typeface="Times New Roman"/>
              </a:rPr>
              <a:t> 2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&amp;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dirty="0">
                <a:latin typeface="Times New Roman"/>
                <a:cs typeface="Times New Roman"/>
              </a:rPr>
              <a:t> 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299085" marR="7620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Similarly, </a:t>
            </a:r>
            <a:r>
              <a:rPr sz="1600" spc="-5" dirty="0">
                <a:latin typeface="Times New Roman"/>
                <a:cs typeface="Times New Roman"/>
              </a:rPr>
              <a:t>column 1 represents </a:t>
            </a:r>
            <a:r>
              <a:rPr sz="1600" dirty="0">
                <a:latin typeface="Times New Roman"/>
                <a:cs typeface="Times New Roman"/>
              </a:rPr>
              <a:t>node </a:t>
            </a:r>
            <a:r>
              <a:rPr sz="1600" spc="-5" dirty="0">
                <a:latin typeface="Times New Roman"/>
                <a:cs typeface="Times New Roman"/>
              </a:rPr>
              <a:t>1 &amp; column 2 represents </a:t>
            </a:r>
            <a:r>
              <a:rPr sz="1600" dirty="0">
                <a:latin typeface="Times New Roman"/>
                <a:cs typeface="Times New Roman"/>
              </a:rPr>
              <a:t>node </a:t>
            </a:r>
            <a:r>
              <a:rPr sz="1600" spc="-5" dirty="0">
                <a:latin typeface="Times New Roman"/>
                <a:cs typeface="Times New Roman"/>
              </a:rPr>
              <a:t>2 &amp; so </a:t>
            </a:r>
            <a:r>
              <a:rPr sz="1600" dirty="0">
                <a:latin typeface="Times New Roman"/>
                <a:cs typeface="Times New Roman"/>
              </a:rPr>
              <a:t>on.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entry of the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848" y="4296867"/>
            <a:ext cx="690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Arr[i][j]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247" y="4174032"/>
            <a:ext cx="3630929" cy="75755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5" dirty="0">
                <a:latin typeface="Times New Roman"/>
                <a:cs typeface="Times New Roman"/>
              </a:rPr>
              <a:t> I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5" dirty="0">
                <a:latin typeface="Times New Roman"/>
                <a:cs typeface="Times New Roman"/>
              </a:rPr>
              <a:t> j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= 0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 </a:t>
            </a:r>
            <a:r>
              <a:rPr sz="1600" spc="-5" dirty="0">
                <a:latin typeface="Times New Roman"/>
                <a:cs typeface="Times New Roman"/>
              </a:rPr>
              <a:t>edge 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5" dirty="0">
                <a:latin typeface="Times New Roman"/>
                <a:cs typeface="Times New Roman"/>
              </a:rPr>
              <a:t> j.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099" y="475615"/>
            <a:ext cx="2569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Example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undirected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747" y="1211580"/>
            <a:ext cx="3628644" cy="13441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063" y="3322320"/>
            <a:ext cx="3767328" cy="14157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67433" y="3012693"/>
            <a:ext cx="17138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5350" y="423417"/>
            <a:ext cx="7804784" cy="235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Adjacency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List: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100"/>
              </a:lnSpc>
              <a:spcBef>
                <a:spcPts val="994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dirty="0">
                <a:latin typeface="Times New Roman"/>
                <a:cs typeface="Times New Roman"/>
              </a:rPr>
              <a:t> representation, </a:t>
            </a:r>
            <a:r>
              <a:rPr sz="1600" spc="-5" dirty="0">
                <a:latin typeface="Times New Roman"/>
                <a:cs typeface="Times New Roman"/>
              </a:rPr>
              <a:t>every vertex</a:t>
            </a:r>
            <a:r>
              <a:rPr sz="1600" dirty="0">
                <a:latin typeface="Times New Roman"/>
                <a:cs typeface="Times New Roman"/>
              </a:rPr>
              <a:t> of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contains</a:t>
            </a:r>
            <a:r>
              <a:rPr sz="1600" dirty="0">
                <a:latin typeface="Times New Roman"/>
                <a:cs typeface="Times New Roman"/>
              </a:rPr>
              <a:t> list of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dirty="0">
                <a:latin typeface="Times New Roman"/>
                <a:cs typeface="Times New Roman"/>
              </a:rPr>
              <a:t> adjacent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vertices.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rows of the </a:t>
            </a:r>
            <a:r>
              <a:rPr sz="1600" dirty="0">
                <a:latin typeface="Times New Roman"/>
                <a:cs typeface="Times New Roman"/>
              </a:rPr>
              <a:t>adjacency </a:t>
            </a:r>
            <a:r>
              <a:rPr sz="1600" spc="-5" dirty="0">
                <a:latin typeface="Times New Roman"/>
                <a:cs typeface="Times New Roman"/>
              </a:rPr>
              <a:t>matrix </a:t>
            </a:r>
            <a:r>
              <a:rPr sz="1600" dirty="0">
                <a:latin typeface="Times New Roman"/>
                <a:cs typeface="Times New Roman"/>
              </a:rPr>
              <a:t>are </a:t>
            </a:r>
            <a:r>
              <a:rPr sz="1600" spc="-5" dirty="0">
                <a:latin typeface="Times New Roman"/>
                <a:cs typeface="Times New Roman"/>
              </a:rPr>
              <a:t>represented as n </a:t>
            </a:r>
            <a:r>
              <a:rPr sz="1600" dirty="0">
                <a:latin typeface="Times New Roman"/>
                <a:cs typeface="Times New Roman"/>
              </a:rPr>
              <a:t>chains.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nodes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chain </a:t>
            </a:r>
            <a:r>
              <a:rPr sz="1600" spc="-5" dirty="0">
                <a:latin typeface="Times New Roman"/>
                <a:cs typeface="Times New Roman"/>
              </a:rPr>
              <a:t>I </a:t>
            </a:r>
            <a:r>
              <a:rPr sz="1600" dirty="0">
                <a:latin typeface="Times New Roman"/>
                <a:cs typeface="Times New Roman"/>
              </a:rPr>
              <a:t>represent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</a:t>
            </a:r>
            <a:endParaRPr sz="1600" dirty="0">
              <a:latin typeface="Times New Roman"/>
              <a:cs typeface="Times New Roman"/>
            </a:endParaRPr>
          </a:p>
          <a:p>
            <a:pPr marL="299085" marR="7620" indent="-28702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forms.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form,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array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store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chain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adjacencies.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028" name="Picture 4" descr="Lightbox">
            <a:extLst>
              <a:ext uri="{FF2B5EF4-FFF2-40B4-BE49-F238E27FC236}">
                <a16:creationId xmlns:a16="http://schemas.microsoft.com/office/drawing/2014/main" id="{316B958A-10BC-028B-F3A2-89088077E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" t="5718" r="-2189" b="21848"/>
          <a:stretch/>
        </p:blipFill>
        <p:spPr bwMode="auto">
          <a:xfrm>
            <a:off x="304800" y="3028950"/>
            <a:ext cx="3844123" cy="133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ghtbox">
            <a:extLst>
              <a:ext uri="{FF2B5EF4-FFF2-40B4-BE49-F238E27FC236}">
                <a16:creationId xmlns:a16="http://schemas.microsoft.com/office/drawing/2014/main" id="{99A67E93-766B-841E-6C9E-89FB9597E2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" t="1" r="2940" b="29046"/>
          <a:stretch/>
        </p:blipFill>
        <p:spPr bwMode="auto">
          <a:xfrm>
            <a:off x="4599405" y="2879802"/>
            <a:ext cx="3835026" cy="133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551" y="238658"/>
            <a:ext cx="804418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2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access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adjacency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O(1)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time.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Adjlist[i]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first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5" dirty="0">
                <a:latin typeface="Times New Roman"/>
                <a:cs typeface="Times New Roman"/>
              </a:rPr>
              <a:t> 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adjacency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" dirty="0">
                <a:latin typeface="Times New Roman"/>
                <a:cs typeface="Times New Roman"/>
              </a:rPr>
              <a:t> 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Another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type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given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below.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implemented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linked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551" y="3288538"/>
            <a:ext cx="4911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also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implemented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array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179" y="2019300"/>
            <a:ext cx="4739640" cy="1104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0" y="3643884"/>
            <a:ext cx="4786884" cy="134874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498" y="505460"/>
            <a:ext cx="7743190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Incidence Matrix:</a:t>
            </a:r>
            <a:endParaRPr sz="1600">
              <a:latin typeface="Times New Roman"/>
              <a:cs typeface="Times New Roman"/>
            </a:endParaRPr>
          </a:p>
          <a:p>
            <a:pPr marL="299085" marR="5715" indent="-287020" algn="just">
              <a:lnSpc>
                <a:spcPct val="150100"/>
              </a:lnSpc>
              <a:spcBef>
                <a:spcPts val="39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 this </a:t>
            </a:r>
            <a:r>
              <a:rPr sz="1600" dirty="0">
                <a:latin typeface="Times New Roman"/>
                <a:cs typeface="Times New Roman"/>
              </a:rPr>
              <a:t>representation, </a:t>
            </a:r>
            <a:r>
              <a:rPr sz="1600" spc="-5" dirty="0">
                <a:latin typeface="Times New Roman"/>
                <a:cs typeface="Times New Roman"/>
              </a:rPr>
              <a:t>the graph is </a:t>
            </a:r>
            <a:r>
              <a:rPr sz="1600" dirty="0">
                <a:latin typeface="Times New Roman"/>
                <a:cs typeface="Times New Roman"/>
              </a:rPr>
              <a:t>represented </a:t>
            </a:r>
            <a:r>
              <a:rPr sz="1600" spc="-5" dirty="0">
                <a:latin typeface="Times New Roman"/>
                <a:cs typeface="Times New Roman"/>
              </a:rPr>
              <a:t>using a matrix </a:t>
            </a:r>
            <a:r>
              <a:rPr sz="1600" dirty="0">
                <a:latin typeface="Times New Roman"/>
                <a:cs typeface="Times New Roman"/>
              </a:rPr>
              <a:t>of size </a:t>
            </a:r>
            <a:r>
              <a:rPr sz="1600" spc="-5" dirty="0">
                <a:latin typeface="Times New Roman"/>
                <a:cs typeface="Times New Roman"/>
              </a:rPr>
              <a:t>total number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 </a:t>
            </a:r>
            <a:r>
              <a:rPr sz="1600" spc="5" dirty="0">
                <a:latin typeface="Times New Roman"/>
                <a:cs typeface="Times New Roman"/>
              </a:rPr>
              <a:t>by </a:t>
            </a:r>
            <a:r>
              <a:rPr sz="1600" spc="-5" dirty="0">
                <a:latin typeface="Times New Roman"/>
                <a:cs typeface="Times New Roman"/>
              </a:rPr>
              <a:t>a total number </a:t>
            </a:r>
            <a:r>
              <a:rPr sz="1600" dirty="0">
                <a:latin typeface="Times New Roman"/>
                <a:cs typeface="Times New Roman"/>
              </a:rPr>
              <a:t>of edges. That </a:t>
            </a:r>
            <a:r>
              <a:rPr sz="1600" spc="-10" dirty="0">
                <a:latin typeface="Times New Roman"/>
                <a:cs typeface="Times New Roman"/>
              </a:rPr>
              <a:t>means </a:t>
            </a:r>
            <a:r>
              <a:rPr sz="1600" spc="-5" dirty="0">
                <a:latin typeface="Times New Roman"/>
                <a:cs typeface="Times New Roman"/>
              </a:rPr>
              <a:t>graph </a:t>
            </a:r>
            <a:r>
              <a:rPr sz="1600" spc="-10" dirty="0">
                <a:latin typeface="Times New Roman"/>
                <a:cs typeface="Times New Roman"/>
              </a:rPr>
              <a:t>with </a:t>
            </a:r>
            <a:r>
              <a:rPr sz="1600" spc="-5" dirty="0">
                <a:latin typeface="Times New Roman"/>
                <a:cs typeface="Times New Roman"/>
              </a:rPr>
              <a:t>4 </a:t>
            </a:r>
            <a:r>
              <a:rPr sz="1600" dirty="0">
                <a:latin typeface="Times New Roman"/>
                <a:cs typeface="Times New Roman"/>
              </a:rPr>
              <a:t>vertices </a:t>
            </a:r>
            <a:r>
              <a:rPr sz="1600" spc="-5" dirty="0">
                <a:latin typeface="Times New Roman"/>
                <a:cs typeface="Times New Roman"/>
              </a:rPr>
              <a:t>and 6 edges is </a:t>
            </a:r>
            <a:r>
              <a:rPr sz="1600" dirty="0">
                <a:latin typeface="Times New Roman"/>
                <a:cs typeface="Times New Roman"/>
              </a:rPr>
              <a:t> represented </a:t>
            </a:r>
            <a:r>
              <a:rPr sz="1600" spc="-5" dirty="0">
                <a:latin typeface="Times New Roman"/>
                <a:cs typeface="Times New Roman"/>
              </a:rPr>
              <a:t>using a matrix of size </a:t>
            </a:r>
            <a:r>
              <a:rPr sz="1600" dirty="0">
                <a:latin typeface="Times New Roman"/>
                <a:cs typeface="Times New Roman"/>
              </a:rPr>
              <a:t>4X6. </a:t>
            </a:r>
            <a:r>
              <a:rPr sz="1600" spc="-5" dirty="0">
                <a:latin typeface="Times New Roman"/>
                <a:cs typeface="Times New Roman"/>
              </a:rPr>
              <a:t>In this matrix, rows </a:t>
            </a:r>
            <a:r>
              <a:rPr sz="1600" dirty="0">
                <a:latin typeface="Times New Roman"/>
                <a:cs typeface="Times New Roman"/>
              </a:rPr>
              <a:t>represent vertices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columns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spcBef>
                <a:spcPts val="409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This matrix is </a:t>
            </a:r>
            <a:r>
              <a:rPr sz="1600" dirty="0">
                <a:latin typeface="Times New Roman"/>
                <a:cs typeface="Times New Roman"/>
              </a:rPr>
              <a:t>filled </a:t>
            </a:r>
            <a:r>
              <a:rPr sz="1600" spc="-10" dirty="0">
                <a:latin typeface="Times New Roman"/>
                <a:cs typeface="Times New Roman"/>
              </a:rPr>
              <a:t>with </a:t>
            </a:r>
            <a:r>
              <a:rPr sz="1600" spc="-5" dirty="0">
                <a:latin typeface="Times New Roman"/>
                <a:cs typeface="Times New Roman"/>
              </a:rPr>
              <a:t>0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1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-1. Here, 0 </a:t>
            </a:r>
            <a:r>
              <a:rPr sz="1600" dirty="0">
                <a:latin typeface="Times New Roman"/>
                <a:cs typeface="Times New Roman"/>
              </a:rPr>
              <a:t>represents </a:t>
            </a:r>
            <a:r>
              <a:rPr sz="1600" spc="-5" dirty="0">
                <a:latin typeface="Times New Roman"/>
                <a:cs typeface="Times New Roman"/>
              </a:rPr>
              <a:t>that the row edge is </a:t>
            </a:r>
            <a:r>
              <a:rPr sz="1600" dirty="0">
                <a:latin typeface="Times New Roman"/>
                <a:cs typeface="Times New Roman"/>
              </a:rPr>
              <a:t>not </a:t>
            </a:r>
            <a:r>
              <a:rPr sz="1600" spc="-5" dirty="0">
                <a:latin typeface="Times New Roman"/>
                <a:cs typeface="Times New Roman"/>
              </a:rPr>
              <a:t>connected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column vertex, </a:t>
            </a:r>
            <a:r>
              <a:rPr sz="1600" spc="-5" dirty="0">
                <a:latin typeface="Times New Roman"/>
                <a:cs typeface="Times New Roman"/>
              </a:rPr>
              <a:t>1 </a:t>
            </a:r>
            <a:r>
              <a:rPr sz="1600" dirty="0">
                <a:latin typeface="Times New Roman"/>
                <a:cs typeface="Times New Roman"/>
              </a:rPr>
              <a:t>represents that </a:t>
            </a:r>
            <a:r>
              <a:rPr sz="1600" spc="-5" dirty="0">
                <a:latin typeface="Times New Roman"/>
                <a:cs typeface="Times New Roman"/>
              </a:rPr>
              <a:t>the row </a:t>
            </a:r>
            <a:r>
              <a:rPr sz="1600" dirty="0">
                <a:latin typeface="Times New Roman"/>
                <a:cs typeface="Times New Roman"/>
              </a:rPr>
              <a:t>edge </a:t>
            </a:r>
            <a:r>
              <a:rPr sz="1600" spc="-5" dirty="0">
                <a:latin typeface="Times New Roman"/>
                <a:cs typeface="Times New Roman"/>
              </a:rPr>
              <a:t>is connected as the outgoing </a:t>
            </a:r>
            <a:r>
              <a:rPr sz="1600" dirty="0">
                <a:latin typeface="Times New Roman"/>
                <a:cs typeface="Times New Roman"/>
              </a:rPr>
              <a:t>edge </a:t>
            </a:r>
            <a:r>
              <a:rPr sz="1600" spc="-10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 column </a:t>
            </a:r>
            <a:r>
              <a:rPr sz="1600" dirty="0">
                <a:latin typeface="Times New Roman"/>
                <a:cs typeface="Times New Roman"/>
              </a:rPr>
              <a:t>vertex </a:t>
            </a:r>
            <a:r>
              <a:rPr sz="1600" spc="-5" dirty="0">
                <a:latin typeface="Times New Roman"/>
                <a:cs typeface="Times New Roman"/>
              </a:rPr>
              <a:t>and -1 </a:t>
            </a:r>
            <a:r>
              <a:rPr sz="1600" dirty="0">
                <a:latin typeface="Times New Roman"/>
                <a:cs typeface="Times New Roman"/>
              </a:rPr>
              <a:t>represents </a:t>
            </a:r>
            <a:r>
              <a:rPr sz="1600" spc="-5" dirty="0">
                <a:latin typeface="Times New Roman"/>
                <a:cs typeface="Times New Roman"/>
              </a:rPr>
              <a:t>that the row edge is connected </a:t>
            </a:r>
            <a:r>
              <a:rPr sz="1600" dirty="0">
                <a:latin typeface="Times New Roman"/>
                <a:cs typeface="Times New Roman"/>
              </a:rPr>
              <a:t>as </a:t>
            </a:r>
            <a:r>
              <a:rPr sz="1600" spc="-5" dirty="0">
                <a:latin typeface="Times New Roman"/>
                <a:cs typeface="Times New Roman"/>
              </a:rPr>
              <a:t>the incoming edge to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column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vertex.</a:t>
            </a:r>
            <a:endParaRPr sz="16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35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example,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consider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directed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822102"/>
            <a:ext cx="5353107" cy="1670494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053" y="285750"/>
            <a:ext cx="7769225" cy="3134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732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Transitive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Closure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Graph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spcBef>
                <a:spcPts val="80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Transitive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Closure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reachability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matrix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reach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from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u</a:t>
            </a:r>
            <a:r>
              <a:rPr sz="1600" b="1" i="1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v</a:t>
            </a:r>
            <a:r>
              <a:rPr sz="1600" b="1" i="1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graph.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 the </a:t>
            </a:r>
            <a:r>
              <a:rPr sz="1600" dirty="0">
                <a:latin typeface="Times New Roman"/>
                <a:cs typeface="Times New Roman"/>
              </a:rPr>
              <a:t>graph </a:t>
            </a:r>
            <a:r>
              <a:rPr sz="1600" spc="-5" dirty="0">
                <a:latin typeface="Times New Roman"/>
                <a:cs typeface="Times New Roman"/>
              </a:rPr>
              <a:t>we have to find a </a:t>
            </a:r>
            <a:r>
              <a:rPr sz="1600" dirty="0">
                <a:latin typeface="Times New Roman"/>
                <a:cs typeface="Times New Roman"/>
              </a:rPr>
              <a:t>vertex </a:t>
            </a:r>
            <a:r>
              <a:rPr sz="1600" b="1" i="1" spc="-5" dirty="0">
                <a:latin typeface="Times New Roman"/>
                <a:cs typeface="Times New Roman"/>
              </a:rPr>
              <a:t>v </a:t>
            </a:r>
            <a:r>
              <a:rPr sz="1600" spc="-5" dirty="0">
                <a:latin typeface="Times New Roman"/>
                <a:cs typeface="Times New Roman"/>
              </a:rPr>
              <a:t>which is reachable </a:t>
            </a:r>
            <a:r>
              <a:rPr sz="1600" dirty="0">
                <a:latin typeface="Times New Roman"/>
                <a:cs typeface="Times New Roman"/>
              </a:rPr>
              <a:t>from </a:t>
            </a:r>
            <a:r>
              <a:rPr sz="1600" spc="-5" dirty="0">
                <a:latin typeface="Times New Roman"/>
                <a:cs typeface="Times New Roman"/>
              </a:rPr>
              <a:t>another vertex </a:t>
            </a:r>
            <a:r>
              <a:rPr sz="1600" b="1" i="1" spc="-5" dirty="0">
                <a:latin typeface="Times New Roman"/>
                <a:cs typeface="Times New Roman"/>
              </a:rPr>
              <a:t>u</a:t>
            </a:r>
            <a:r>
              <a:rPr sz="1600" spc="-5" dirty="0">
                <a:latin typeface="Times New Roman"/>
                <a:cs typeface="Times New Roman"/>
              </a:rPr>
              <a:t>,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5" dirty="0">
                <a:latin typeface="Times New Roman"/>
                <a:cs typeface="Times New Roman"/>
              </a:rPr>
              <a:t>all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pairs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(u,</a:t>
            </a:r>
            <a:r>
              <a:rPr sz="1600" b="1" i="1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v).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spcBef>
                <a:spcPts val="79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final </a:t>
            </a:r>
            <a:r>
              <a:rPr sz="1600" spc="-5" dirty="0">
                <a:latin typeface="Times New Roman"/>
                <a:cs typeface="Times New Roman"/>
              </a:rPr>
              <a:t>matrix </a:t>
            </a:r>
            <a:r>
              <a:rPr sz="1600" dirty="0">
                <a:latin typeface="Times New Roman"/>
                <a:cs typeface="Times New Roman"/>
              </a:rPr>
              <a:t>is </a:t>
            </a:r>
            <a:r>
              <a:rPr sz="1600" spc="-5" dirty="0">
                <a:latin typeface="Times New Roman"/>
                <a:cs typeface="Times New Roman"/>
              </a:rPr>
              <a:t>the Boolean </a:t>
            </a:r>
            <a:r>
              <a:rPr sz="1600" dirty="0">
                <a:latin typeface="Times New Roman"/>
                <a:cs typeface="Times New Roman"/>
              </a:rPr>
              <a:t>type. </a:t>
            </a:r>
            <a:r>
              <a:rPr sz="1600" spc="-5" dirty="0">
                <a:latin typeface="Times New Roman"/>
                <a:cs typeface="Times New Roman"/>
              </a:rPr>
              <a:t>When there is a value </a:t>
            </a:r>
            <a:r>
              <a:rPr sz="1600" b="1" i="1" spc="-5" dirty="0">
                <a:latin typeface="Times New Roman"/>
                <a:cs typeface="Times New Roman"/>
              </a:rPr>
              <a:t>1 </a:t>
            </a:r>
            <a:r>
              <a:rPr sz="1600" dirty="0">
                <a:latin typeface="Times New Roman"/>
                <a:cs typeface="Times New Roman"/>
              </a:rPr>
              <a:t>for vertex </a:t>
            </a:r>
            <a:r>
              <a:rPr sz="1600" b="1" i="1" spc="-5" dirty="0">
                <a:latin typeface="Times New Roman"/>
                <a:cs typeface="Times New Roman"/>
              </a:rPr>
              <a:t>u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vertex </a:t>
            </a:r>
            <a:r>
              <a:rPr sz="1600" b="1" i="1" spc="-5" dirty="0">
                <a:latin typeface="Times New Roman"/>
                <a:cs typeface="Times New Roman"/>
              </a:rPr>
              <a:t>v</a:t>
            </a:r>
            <a:r>
              <a:rPr sz="1600" spc="-5" dirty="0">
                <a:latin typeface="Times New Roman"/>
                <a:cs typeface="Times New Roman"/>
              </a:rPr>
              <a:t>, </a:t>
            </a:r>
            <a:r>
              <a:rPr sz="1600" spc="5" dirty="0">
                <a:latin typeface="Times New Roman"/>
                <a:cs typeface="Times New Roman"/>
              </a:rPr>
              <a:t>it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means that there </a:t>
            </a:r>
            <a:r>
              <a:rPr sz="1600" dirty="0">
                <a:latin typeface="Times New Roman"/>
                <a:cs typeface="Times New Roman"/>
              </a:rPr>
              <a:t>is </a:t>
            </a:r>
            <a:r>
              <a:rPr sz="1600" spc="-5" dirty="0">
                <a:latin typeface="Times New Roman"/>
                <a:cs typeface="Times New Roman"/>
              </a:rPr>
              <a:t>at </a:t>
            </a:r>
            <a:r>
              <a:rPr sz="1600" dirty="0">
                <a:latin typeface="Times New Roman"/>
                <a:cs typeface="Times New Roman"/>
              </a:rPr>
              <a:t>least one path </a:t>
            </a:r>
            <a:r>
              <a:rPr sz="1600" spc="5" dirty="0">
                <a:latin typeface="Times New Roman"/>
                <a:cs typeface="Times New Roman"/>
              </a:rPr>
              <a:t>from </a:t>
            </a:r>
            <a:r>
              <a:rPr sz="1600" b="1" i="1" spc="-5" dirty="0">
                <a:latin typeface="Times New Roman"/>
                <a:cs typeface="Times New Roman"/>
              </a:rPr>
              <a:t>u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b="1" i="1" spc="-5" dirty="0">
                <a:latin typeface="Times New Roman"/>
                <a:cs typeface="Times New Roman"/>
              </a:rPr>
              <a:t>v</a:t>
            </a:r>
            <a:r>
              <a:rPr sz="1600" spc="-5" dirty="0">
                <a:latin typeface="Times New Roman"/>
                <a:cs typeface="Times New Roman"/>
              </a:rPr>
              <a:t>. When there is a value </a:t>
            </a:r>
            <a:r>
              <a:rPr sz="1600" b="1" i="1" spc="-5" dirty="0">
                <a:latin typeface="Times New Roman"/>
                <a:cs typeface="Times New Roman"/>
              </a:rPr>
              <a:t>0 </a:t>
            </a:r>
            <a:r>
              <a:rPr sz="1600" dirty="0">
                <a:latin typeface="Times New Roman"/>
                <a:cs typeface="Times New Roman"/>
              </a:rPr>
              <a:t>for vertex </a:t>
            </a:r>
            <a:r>
              <a:rPr sz="1600" b="1" i="1" spc="-5" dirty="0">
                <a:latin typeface="Times New Roman"/>
                <a:cs typeface="Times New Roman"/>
              </a:rPr>
              <a:t>u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v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means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 there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dirty="0">
                <a:latin typeface="Times New Roman"/>
                <a:cs typeface="Times New Roman"/>
              </a:rPr>
              <a:t> from </a:t>
            </a:r>
            <a:r>
              <a:rPr sz="1600" b="1" i="1" spc="-5" dirty="0">
                <a:latin typeface="Times New Roman"/>
                <a:cs typeface="Times New Roman"/>
              </a:rPr>
              <a:t>u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v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Example: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transitive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closure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given</a:t>
            </a:r>
            <a:r>
              <a:rPr sz="1600" dirty="0">
                <a:latin typeface="Times New Roman"/>
                <a:cs typeface="Times New Roman"/>
              </a:rPr>
              <a:t> graph.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1116" y="3523488"/>
            <a:ext cx="4991100" cy="1446276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15" y="229006"/>
            <a:ext cx="8135620" cy="447558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Floyd-Warshall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 dirty="0">
              <a:latin typeface="Times New Roman"/>
              <a:cs typeface="Times New Roman"/>
            </a:endParaRPr>
          </a:p>
          <a:p>
            <a:pPr marL="3498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49885" algn="l"/>
                <a:tab pos="350520" algn="l"/>
              </a:tabLst>
            </a:pPr>
            <a:r>
              <a:rPr sz="1600" spc="-5" dirty="0">
                <a:latin typeface="Times New Roman"/>
                <a:cs typeface="Times New Roman"/>
              </a:rPr>
              <a:t>Used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pair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shortest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Times New Roman"/>
                <a:cs typeface="Times New Roman"/>
              </a:rPr>
              <a:t>problems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given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graph.</a:t>
            </a:r>
          </a:p>
          <a:p>
            <a:pPr marL="349885" marR="68580" indent="-287020">
              <a:lnSpc>
                <a:spcPts val="2880"/>
              </a:lnSpc>
              <a:spcBef>
                <a:spcPts val="254"/>
              </a:spcBef>
              <a:buFont typeface="Arial MT"/>
              <a:buChar char="•"/>
              <a:tabLst>
                <a:tab pos="349885" algn="l"/>
                <a:tab pos="350520" algn="l"/>
              </a:tabLst>
            </a:pP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algorithm,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will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generate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matrix,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will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minimum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graph.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Time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complexity:</a:t>
            </a:r>
            <a:r>
              <a:rPr sz="1600" b="1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O(n</a:t>
            </a:r>
            <a:r>
              <a:rPr sz="1575" baseline="26455" dirty="0">
                <a:latin typeface="Times New Roman"/>
                <a:cs typeface="Times New Roman"/>
              </a:rPr>
              <a:t>3</a:t>
            </a:r>
            <a:r>
              <a:rPr sz="1600" dirty="0">
                <a:latin typeface="Times New Roman"/>
                <a:cs typeface="Times New Roman"/>
              </a:rPr>
              <a:t>)</a:t>
            </a:r>
          </a:p>
          <a:p>
            <a:pPr marL="63500">
              <a:lnSpc>
                <a:spcPct val="100000"/>
              </a:lnSpc>
              <a:spcBef>
                <a:spcPts val="705"/>
              </a:spcBef>
            </a:pPr>
            <a:r>
              <a:rPr sz="1600" b="1" spc="-5" dirty="0">
                <a:latin typeface="Times New Roman"/>
                <a:cs typeface="Times New Roman"/>
              </a:rPr>
              <a:t>Algorithm:</a:t>
            </a:r>
            <a:endParaRPr sz="16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</a:t>
            </a:r>
            <a:endParaRPr sz="16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96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2: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Create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[n</a:t>
            </a:r>
            <a:r>
              <a:rPr sz="1600" spc="-5" dirty="0">
                <a:latin typeface="Times New Roman"/>
                <a:cs typeface="Times New Roman"/>
              </a:rPr>
              <a:t> x</a:t>
            </a:r>
            <a:r>
              <a:rPr sz="1600" dirty="0">
                <a:latin typeface="Times New Roman"/>
                <a:cs typeface="Times New Roman"/>
              </a:rPr>
              <a:t> n]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say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endParaRPr sz="1600" dirty="0">
              <a:latin typeface="Times New Roman"/>
              <a:cs typeface="Times New Roman"/>
            </a:endParaRPr>
          </a:p>
          <a:p>
            <a:pPr marL="63500" marR="5306695">
              <a:lnSpc>
                <a:spcPct val="150000"/>
              </a:lnSpc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3: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cell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(i,j)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 do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 =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j</a:t>
            </a:r>
            <a:endParaRPr sz="1600" dirty="0">
              <a:latin typeface="Times New Roman"/>
              <a:cs typeface="Times New Roman"/>
            </a:endParaRPr>
          </a:p>
          <a:p>
            <a:pPr marL="63500" marR="4093210">
              <a:lnSpc>
                <a:spcPct val="150000"/>
              </a:lnSpc>
            </a:pP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diagonal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element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 ][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 an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endParaRPr sz="16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][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weight(i,j)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336" y="259740"/>
            <a:ext cx="6593205" cy="331851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latin typeface="Times New Roman"/>
                <a:cs typeface="Times New Roman"/>
              </a:rPr>
              <a:t>Else</a:t>
            </a:r>
            <a:endParaRPr sz="1600">
              <a:latin typeface="Times New Roman"/>
              <a:cs typeface="Times New Roman"/>
            </a:endParaRPr>
          </a:p>
          <a:p>
            <a:pPr marL="13589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infinite,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 is</a:t>
            </a:r>
            <a:r>
              <a:rPr sz="1600" dirty="0">
                <a:latin typeface="Times New Roman"/>
                <a:cs typeface="Times New Roman"/>
              </a:rPr>
              <a:t> no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vertices,M[ 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][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 =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∞</a:t>
            </a:r>
            <a:endParaRPr sz="1600">
              <a:latin typeface="Times New Roman"/>
              <a:cs typeface="Times New Roman"/>
            </a:endParaRPr>
          </a:p>
          <a:p>
            <a:pPr marL="135890" algn="just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4:</a:t>
            </a:r>
            <a:endParaRPr sz="1600">
              <a:latin typeface="Times New Roman"/>
              <a:cs typeface="Times New Roman"/>
            </a:endParaRPr>
          </a:p>
          <a:p>
            <a:pPr marL="12700" marR="5219700" algn="just">
              <a:lnSpc>
                <a:spcPct val="150000"/>
              </a:lnSpc>
            </a:pP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k from 1 to n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i from 1 to 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 </a:t>
            </a:r>
            <a:r>
              <a:rPr sz="1600" spc="-5" dirty="0">
                <a:latin typeface="Times New Roman"/>
                <a:cs typeface="Times New Roman"/>
              </a:rPr>
              <a:t>1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 &gt;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 ]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+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][ j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</a:t>
            </a: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 + </a:t>
            </a:r>
            <a:r>
              <a:rPr sz="1600" spc="-10" dirty="0">
                <a:latin typeface="Times New Roman"/>
                <a:cs typeface="Times New Roman"/>
              </a:rPr>
              <a:t>M[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 ][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5: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Stop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415" y="331749"/>
            <a:ext cx="17989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987425" algn="l"/>
                <a:tab pos="1503045" algn="l"/>
              </a:tabLst>
            </a:pPr>
            <a:r>
              <a:rPr b="1" spc="-5" dirty="0">
                <a:latin typeface="Times New Roman"/>
                <a:cs typeface="Times New Roman"/>
              </a:rPr>
              <a:t>Example:	</a:t>
            </a:r>
            <a:r>
              <a:rPr dirty="0"/>
              <a:t>Find	the </a:t>
            </a:r>
            <a:r>
              <a:rPr spc="-385" dirty="0"/>
              <a:t> </a:t>
            </a:r>
            <a:r>
              <a:rPr spc="-5" dirty="0"/>
              <a:t>Warshall’s</a:t>
            </a:r>
            <a:r>
              <a:rPr spc="-10" dirty="0"/>
              <a:t> </a:t>
            </a:r>
            <a:r>
              <a:rPr spc="-5" dirty="0"/>
              <a:t>algorithm.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1335" y="454279"/>
            <a:ext cx="61671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6765" algn="l"/>
                <a:tab pos="1280160" algn="l"/>
                <a:tab pos="2098675" algn="l"/>
                <a:tab pos="2444750" algn="l"/>
                <a:tab pos="2835275" algn="l"/>
                <a:tab pos="3484245" algn="l"/>
                <a:tab pos="3784600" algn="l"/>
                <a:tab pos="4173220" algn="l"/>
                <a:tab pos="5107940" algn="l"/>
                <a:tab pos="5712460" algn="l"/>
              </a:tabLst>
            </a:pP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5" dirty="0">
                <a:latin typeface="Times New Roman"/>
                <a:cs typeface="Times New Roman"/>
              </a:rPr>
              <a:t>ort</a:t>
            </a:r>
            <a:r>
              <a:rPr sz="1600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st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p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th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l</a:t>
            </a:r>
            <a:r>
              <a:rPr sz="1600" spc="-5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ve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5" dirty="0">
                <a:latin typeface="Times New Roman"/>
                <a:cs typeface="Times New Roman"/>
              </a:rPr>
              <a:t>tex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10" dirty="0">
                <a:latin typeface="Times New Roman"/>
                <a:cs typeface="Times New Roman"/>
              </a:rPr>
              <a:t>f</a:t>
            </a:r>
            <a:r>
              <a:rPr sz="1600" spc="-5" dirty="0">
                <a:latin typeface="Times New Roman"/>
                <a:cs typeface="Times New Roman"/>
              </a:rPr>
              <a:t>ollowing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usi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515" y="2618384"/>
            <a:ext cx="7344409" cy="148907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  <a:p>
            <a:pPr marL="38100" marR="3001645">
              <a:lnSpc>
                <a:spcPts val="2880"/>
              </a:lnSpc>
              <a:spcBef>
                <a:spcPts val="254"/>
              </a:spcBef>
            </a:pPr>
            <a:r>
              <a:rPr sz="1600" spc="-10" dirty="0">
                <a:latin typeface="Times New Roman"/>
                <a:cs typeface="Times New Roman"/>
              </a:rPr>
              <a:t>Formula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calculate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575" baseline="26455" dirty="0">
                <a:latin typeface="Times New Roman"/>
                <a:cs typeface="Times New Roman"/>
              </a:rPr>
              <a:t>k</a:t>
            </a:r>
            <a:r>
              <a:rPr sz="1575" spc="202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[i,j]=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min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{D</a:t>
            </a:r>
            <a:r>
              <a:rPr sz="1575" spc="-7" baseline="26455" dirty="0">
                <a:latin typeface="Times New Roman"/>
                <a:cs typeface="Times New Roman"/>
              </a:rPr>
              <a:t>k-1</a:t>
            </a:r>
            <a:r>
              <a:rPr sz="1575" spc="209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[i,j],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575" spc="-7" baseline="26455" dirty="0">
                <a:latin typeface="Times New Roman"/>
                <a:cs typeface="Times New Roman"/>
              </a:rPr>
              <a:t>k-1</a:t>
            </a:r>
            <a:r>
              <a:rPr sz="1575" spc="225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[i,k]+D</a:t>
            </a:r>
            <a:r>
              <a:rPr sz="1575" spc="-7" baseline="26455" dirty="0">
                <a:latin typeface="Times New Roman"/>
                <a:cs typeface="Times New Roman"/>
              </a:rPr>
              <a:t>k-1</a:t>
            </a:r>
            <a:r>
              <a:rPr sz="1575" spc="240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[k,j]}</a:t>
            </a:r>
            <a:endParaRPr sz="1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05"/>
              </a:spcBef>
            </a:pPr>
            <a:r>
              <a:rPr sz="1600" spc="-5" dirty="0">
                <a:latin typeface="Times New Roman"/>
                <a:cs typeface="Times New Roman"/>
              </a:rPr>
              <a:t>Create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(D</a:t>
            </a:r>
            <a:r>
              <a:rPr sz="1575" spc="-7" baseline="26455" dirty="0">
                <a:latin typeface="Times New Roman"/>
                <a:cs typeface="Times New Roman"/>
              </a:rPr>
              <a:t>0</a:t>
            </a:r>
            <a:r>
              <a:rPr sz="1600" spc="-5" dirty="0">
                <a:latin typeface="Times New Roman"/>
                <a:cs typeface="Times New Roman"/>
              </a:rPr>
              <a:t>)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directly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8292" y="1002791"/>
            <a:ext cx="2228087" cy="1761743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8988" y="541019"/>
            <a:ext cx="2628900" cy="14721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2282" y="2119122"/>
            <a:ext cx="7953375" cy="2316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Create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(D</a:t>
            </a:r>
            <a:r>
              <a:rPr sz="1575" spc="-7" baseline="26455" dirty="0">
                <a:latin typeface="Times New Roman"/>
                <a:cs typeface="Times New Roman"/>
              </a:rPr>
              <a:t>1</a:t>
            </a:r>
            <a:r>
              <a:rPr sz="1600" spc="-5" dirty="0">
                <a:latin typeface="Times New Roman"/>
                <a:cs typeface="Times New Roman"/>
              </a:rPr>
              <a:t>)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connectedvia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575" spc="202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[i,j]=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min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{D</a:t>
            </a:r>
            <a:r>
              <a:rPr sz="1575" spc="-7" baseline="26455" dirty="0">
                <a:latin typeface="Times New Roman"/>
                <a:cs typeface="Times New Roman"/>
              </a:rPr>
              <a:t>0</a:t>
            </a:r>
            <a:r>
              <a:rPr sz="1575" spc="187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[i,j],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575" baseline="26455" dirty="0">
                <a:latin typeface="Times New Roman"/>
                <a:cs typeface="Times New Roman"/>
              </a:rPr>
              <a:t>0</a:t>
            </a:r>
            <a:r>
              <a:rPr sz="1575" spc="187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[i,k]+D</a:t>
            </a:r>
            <a:r>
              <a:rPr sz="1575" spc="-7" baseline="26455" dirty="0">
                <a:latin typeface="Times New Roman"/>
                <a:cs typeface="Times New Roman"/>
              </a:rPr>
              <a:t>0</a:t>
            </a:r>
            <a:r>
              <a:rPr sz="1575" spc="225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[k,j]}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575" spc="202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[2,3]=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min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{D</a:t>
            </a:r>
            <a:r>
              <a:rPr sz="1575" spc="-7" baseline="26455" dirty="0">
                <a:latin typeface="Times New Roman"/>
                <a:cs typeface="Times New Roman"/>
              </a:rPr>
              <a:t>0</a:t>
            </a:r>
            <a:r>
              <a:rPr sz="1575" spc="187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[2,3],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575" baseline="26455" dirty="0">
                <a:latin typeface="Times New Roman"/>
                <a:cs typeface="Times New Roman"/>
              </a:rPr>
              <a:t>0</a:t>
            </a:r>
            <a:r>
              <a:rPr sz="1575" spc="202" baseline="264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[2,1]+D</a:t>
            </a:r>
            <a:r>
              <a:rPr sz="1575" baseline="26455" dirty="0">
                <a:latin typeface="Times New Roman"/>
                <a:cs typeface="Times New Roman"/>
              </a:rPr>
              <a:t>0</a:t>
            </a:r>
            <a:r>
              <a:rPr sz="1575" spc="209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[1,2]}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575" spc="179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[2,3]=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min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(1,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infinite)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575" baseline="26455" dirty="0">
                <a:latin typeface="Times New Roman"/>
                <a:cs typeface="Times New Roman"/>
              </a:rPr>
              <a:t>1</a:t>
            </a:r>
            <a:r>
              <a:rPr sz="1575" spc="135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[2,3]=1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383" y="421004"/>
            <a:ext cx="3822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Likewise</a:t>
            </a:r>
            <a:r>
              <a:rPr spc="10" dirty="0"/>
              <a:t> </a:t>
            </a:r>
            <a:r>
              <a:rPr spc="-5" dirty="0"/>
              <a:t>find</a:t>
            </a:r>
            <a:r>
              <a:rPr spc="-30" dirty="0"/>
              <a:t> </a:t>
            </a:r>
            <a:r>
              <a:rPr spc="-5" dirty="0"/>
              <a:t>all</a:t>
            </a:r>
            <a:r>
              <a:rPr spc="10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distance</a:t>
            </a:r>
            <a:r>
              <a:rPr dirty="0"/>
              <a:t> </a:t>
            </a:r>
            <a:r>
              <a:rPr spc="-5" dirty="0"/>
              <a:t>between</a:t>
            </a:r>
            <a:r>
              <a:rPr spc="5" dirty="0"/>
              <a:t> </a:t>
            </a:r>
            <a:r>
              <a:rPr spc="-5" dirty="0"/>
              <a:t>vertices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983" y="2799079"/>
            <a:ext cx="76841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Create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(D</a:t>
            </a:r>
            <a:r>
              <a:rPr sz="1575" baseline="26455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2.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039" y="1034796"/>
            <a:ext cx="2581656" cy="15529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8795" y="3229355"/>
            <a:ext cx="2971800" cy="166725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084" y="397002"/>
            <a:ext cx="7853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Create</a:t>
            </a:r>
            <a:r>
              <a:rPr spc="140" dirty="0"/>
              <a:t> </a:t>
            </a:r>
            <a:r>
              <a:rPr spc="-5" dirty="0"/>
              <a:t>a</a:t>
            </a:r>
            <a:r>
              <a:rPr spc="135" dirty="0"/>
              <a:t> </a:t>
            </a:r>
            <a:r>
              <a:rPr spc="-5" dirty="0"/>
              <a:t>distance</a:t>
            </a:r>
            <a:r>
              <a:rPr spc="150" dirty="0"/>
              <a:t> </a:t>
            </a:r>
            <a:r>
              <a:rPr spc="-10" dirty="0"/>
              <a:t>matrix</a:t>
            </a:r>
            <a:r>
              <a:rPr spc="200" dirty="0"/>
              <a:t> </a:t>
            </a:r>
            <a:r>
              <a:rPr spc="-5" dirty="0"/>
              <a:t>(D</a:t>
            </a:r>
            <a:r>
              <a:rPr sz="1575" spc="-7" baseline="26455" dirty="0"/>
              <a:t>3</a:t>
            </a:r>
            <a:r>
              <a:rPr sz="1600" spc="-5" dirty="0"/>
              <a:t>)</a:t>
            </a:r>
            <a:r>
              <a:rPr sz="1600" spc="130" dirty="0"/>
              <a:t> </a:t>
            </a:r>
            <a:r>
              <a:rPr sz="1600" dirty="0"/>
              <a:t>for</a:t>
            </a:r>
            <a:r>
              <a:rPr sz="1600" spc="135" dirty="0"/>
              <a:t> </a:t>
            </a:r>
            <a:r>
              <a:rPr sz="1600" spc="-5" dirty="0"/>
              <a:t>all</a:t>
            </a:r>
            <a:r>
              <a:rPr sz="1600" spc="135" dirty="0"/>
              <a:t> </a:t>
            </a:r>
            <a:r>
              <a:rPr sz="1600" spc="-5" dirty="0"/>
              <a:t>the</a:t>
            </a:r>
            <a:r>
              <a:rPr sz="1600" spc="140" dirty="0"/>
              <a:t> </a:t>
            </a:r>
            <a:r>
              <a:rPr sz="1600" spc="-5" dirty="0"/>
              <a:t>vertex</a:t>
            </a:r>
            <a:r>
              <a:rPr sz="1600" spc="145" dirty="0"/>
              <a:t> </a:t>
            </a:r>
            <a:r>
              <a:rPr sz="1600" dirty="0"/>
              <a:t>of</a:t>
            </a:r>
            <a:r>
              <a:rPr sz="1600" spc="130" dirty="0"/>
              <a:t> </a:t>
            </a:r>
            <a:r>
              <a:rPr sz="1600" spc="-5" dirty="0"/>
              <a:t>the</a:t>
            </a:r>
            <a:r>
              <a:rPr sz="1600" spc="125" dirty="0"/>
              <a:t> </a:t>
            </a:r>
            <a:r>
              <a:rPr sz="1600" spc="-5" dirty="0"/>
              <a:t>graph</a:t>
            </a:r>
            <a:r>
              <a:rPr sz="1600" spc="145" dirty="0"/>
              <a:t> </a:t>
            </a:r>
            <a:r>
              <a:rPr sz="1600" spc="-5" dirty="0"/>
              <a:t>which</a:t>
            </a:r>
            <a:r>
              <a:rPr sz="1600" spc="145" dirty="0"/>
              <a:t> </a:t>
            </a:r>
            <a:r>
              <a:rPr sz="1600" spc="-5" dirty="0"/>
              <a:t>are</a:t>
            </a:r>
            <a:r>
              <a:rPr sz="1600" spc="145" dirty="0"/>
              <a:t> </a:t>
            </a:r>
            <a:r>
              <a:rPr sz="1600" dirty="0"/>
              <a:t>connectedvia</a:t>
            </a:r>
            <a:r>
              <a:rPr sz="1600" spc="-10" dirty="0"/>
              <a:t> </a:t>
            </a:r>
            <a:r>
              <a:rPr sz="1600" spc="-5" dirty="0"/>
              <a:t>vertex</a:t>
            </a:r>
            <a:r>
              <a:rPr sz="1600" spc="30" dirty="0"/>
              <a:t> </a:t>
            </a:r>
            <a:r>
              <a:rPr sz="1600" dirty="0"/>
              <a:t>3.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26084" y="2348229"/>
            <a:ext cx="76841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Create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(D</a:t>
            </a:r>
            <a:r>
              <a:rPr sz="1575" spc="-7" baseline="26455" dirty="0">
                <a:latin typeface="Times New Roman"/>
                <a:cs typeface="Times New Roman"/>
              </a:rPr>
              <a:t>4</a:t>
            </a:r>
            <a:r>
              <a:rPr sz="1600" spc="-5" dirty="0">
                <a:latin typeface="Times New Roman"/>
                <a:cs typeface="Times New Roman"/>
              </a:rPr>
              <a:t>)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1383" y="809244"/>
            <a:ext cx="2610612" cy="1408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0527" y="2790444"/>
            <a:ext cx="2601468" cy="16291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72509" y="4559909"/>
            <a:ext cx="41675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vertices.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4565" y="400278"/>
            <a:ext cx="8032750" cy="391287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sz="1700" b="1" dirty="0">
                <a:latin typeface="Times New Roman"/>
                <a:cs typeface="Times New Roman"/>
              </a:rPr>
              <a:t>Graph</a:t>
            </a:r>
            <a:r>
              <a:rPr sz="1700" b="1" spc="-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Traversal</a:t>
            </a:r>
            <a:endParaRPr sz="17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Graph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traversal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technique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searching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vertex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graph.</a:t>
            </a:r>
            <a:endParaRPr sz="17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graph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traversal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also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to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decide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order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vertices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visited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search</a:t>
            </a:r>
            <a:endParaRPr sz="17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19"/>
              </a:spcBef>
            </a:pPr>
            <a:r>
              <a:rPr sz="1700" spc="-5" dirty="0">
                <a:latin typeface="Times New Roman"/>
                <a:cs typeface="Times New Roman"/>
              </a:rPr>
              <a:t>process.</a:t>
            </a:r>
            <a:endParaRPr sz="17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-5" dirty="0">
                <a:latin typeface="Times New Roman"/>
                <a:cs typeface="Times New Roman"/>
              </a:rPr>
              <a:t>graph traversal finds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edges to </a:t>
            </a:r>
            <a:r>
              <a:rPr sz="1700" spc="-10" dirty="0">
                <a:latin typeface="Times New Roman"/>
                <a:cs typeface="Times New Roman"/>
              </a:rPr>
              <a:t>be </a:t>
            </a:r>
            <a:r>
              <a:rPr sz="1700" dirty="0">
                <a:latin typeface="Times New Roman"/>
                <a:cs typeface="Times New Roman"/>
              </a:rPr>
              <a:t>used </a:t>
            </a:r>
            <a:r>
              <a:rPr sz="1700" spc="-5" dirty="0">
                <a:latin typeface="Times New Roman"/>
                <a:cs typeface="Times New Roman"/>
              </a:rPr>
              <a:t>in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search process </a:t>
            </a:r>
            <a:r>
              <a:rPr sz="1700" dirty="0">
                <a:latin typeface="Times New Roman"/>
                <a:cs typeface="Times New Roman"/>
              </a:rPr>
              <a:t>without </a:t>
            </a:r>
            <a:r>
              <a:rPr sz="1700" spc="-5" dirty="0">
                <a:latin typeface="Times New Roman"/>
                <a:cs typeface="Times New Roman"/>
              </a:rPr>
              <a:t>creating loops. </a:t>
            </a:r>
            <a:r>
              <a:rPr sz="1700" dirty="0">
                <a:latin typeface="Times New Roman"/>
                <a:cs typeface="Times New Roman"/>
              </a:rPr>
              <a:t> That </a:t>
            </a:r>
            <a:r>
              <a:rPr sz="1700" spc="-5" dirty="0">
                <a:latin typeface="Times New Roman"/>
                <a:cs typeface="Times New Roman"/>
              </a:rPr>
              <a:t>means using graph traversal we visit all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vertices </a:t>
            </a:r>
            <a:r>
              <a:rPr sz="1700" dirty="0">
                <a:latin typeface="Times New Roman"/>
                <a:cs typeface="Times New Roman"/>
              </a:rPr>
              <a:t>of the </a:t>
            </a:r>
            <a:r>
              <a:rPr sz="1700" spc="-5" dirty="0">
                <a:latin typeface="Times New Roman"/>
                <a:cs typeface="Times New Roman"/>
              </a:rPr>
              <a:t>graph </a:t>
            </a:r>
            <a:r>
              <a:rPr sz="1700" dirty="0">
                <a:latin typeface="Times New Roman"/>
                <a:cs typeface="Times New Roman"/>
              </a:rPr>
              <a:t>without getting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looping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path.</a:t>
            </a:r>
            <a:endParaRPr sz="17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There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 types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graph</a:t>
            </a:r>
            <a:r>
              <a:rPr sz="1700" spc="-5" dirty="0">
                <a:latin typeface="Times New Roman"/>
                <a:cs typeface="Times New Roman"/>
              </a:rPr>
              <a:t> traversal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techniques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dirty="0">
                <a:latin typeface="Times New Roman"/>
                <a:cs typeface="Times New Roman"/>
              </a:rPr>
              <a:t> they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-5" dirty="0">
                <a:latin typeface="Times New Roman"/>
                <a:cs typeface="Times New Roman"/>
              </a:rPr>
              <a:t> follows</a:t>
            </a:r>
            <a:endParaRPr sz="17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BFS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(Breadth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First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Search/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Level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Order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Search)</a:t>
            </a:r>
            <a:endParaRPr sz="170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299720" algn="l"/>
              </a:tabLst>
            </a:pPr>
            <a:r>
              <a:rPr sz="1700" b="1" dirty="0">
                <a:latin typeface="Times New Roman"/>
                <a:cs typeface="Times New Roman"/>
              </a:rPr>
              <a:t>DFS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(Depth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First</a:t>
            </a:r>
            <a:r>
              <a:rPr sz="1700" b="1" spc="-2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Search)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0415" y="434492"/>
            <a:ext cx="8016240" cy="18548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BFS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(Breadth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First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Search)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2880"/>
              </a:lnSpc>
              <a:spcBef>
                <a:spcPts val="254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BFS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traversal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produces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1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r>
              <a:rPr sz="1600" b="1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result.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Spanning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without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loops.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288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We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Queue</a:t>
            </a:r>
            <a:r>
              <a:rPr sz="1600" b="1" spc="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data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structure</a:t>
            </a:r>
            <a:r>
              <a:rPr sz="1600" b="1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maximum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total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number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implement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BFS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825" y="218592"/>
            <a:ext cx="815340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94145">
              <a:lnSpc>
                <a:spcPct val="15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Algorithm for BFS </a:t>
            </a:r>
            <a:r>
              <a:rPr sz="1600" b="1" spc="-3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1: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2: </a:t>
            </a:r>
            <a:r>
              <a:rPr sz="1600" spc="-5" dirty="0">
                <a:latin typeface="Times New Roman"/>
                <a:cs typeface="Times New Roman"/>
              </a:rPr>
              <a:t>Define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size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total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number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graph.</a:t>
            </a:r>
            <a:endParaRPr sz="1600">
              <a:latin typeface="Times New Roman"/>
              <a:cs typeface="Times New Roman"/>
            </a:endParaRPr>
          </a:p>
          <a:p>
            <a:pPr marL="12700" marR="5715">
              <a:lnSpc>
                <a:spcPct val="150000"/>
              </a:lnSpc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54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3:</a:t>
            </a:r>
            <a:r>
              <a:rPr sz="1600" b="1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Select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starting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traversal.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insert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4:</a:t>
            </a:r>
            <a:r>
              <a:rPr sz="1600" b="1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non-visited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front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Queue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Queue.</a:t>
            </a:r>
            <a:endParaRPr sz="1600">
              <a:latin typeface="Times New Roman"/>
              <a:cs typeface="Times New Roman"/>
            </a:endParaRPr>
          </a:p>
          <a:p>
            <a:pPr marL="12700" marR="5715">
              <a:lnSpc>
                <a:spcPts val="2880"/>
              </a:lnSpc>
              <a:spcBef>
                <a:spcPts val="254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14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5:</a:t>
            </a:r>
            <a:r>
              <a:rPr sz="1600" b="1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When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front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steps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becomes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empty.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ts val="2880"/>
              </a:lnSpc>
              <a:spcBef>
                <a:spcPts val="259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95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6:</a:t>
            </a:r>
            <a:r>
              <a:rPr sz="1600" b="1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When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becomes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empty,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produce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by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removing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unused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7: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Stop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848" y="573786"/>
            <a:ext cx="6414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Example: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Display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BFS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1055" y="1050036"/>
            <a:ext cx="4288536" cy="1676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7885" y="2642133"/>
            <a:ext cx="638746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starting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3875" y="3762755"/>
            <a:ext cx="5911596" cy="122224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054" y="444779"/>
            <a:ext cx="80175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45" dirty="0">
                <a:latin typeface="Times New Roman"/>
                <a:cs typeface="Times New Roman"/>
              </a:rPr>
              <a:t> </a:t>
            </a:r>
            <a:r>
              <a:rPr b="1" spc="5" dirty="0">
                <a:latin typeface="Times New Roman"/>
                <a:cs typeface="Times New Roman"/>
              </a:rPr>
              <a:t>2:</a:t>
            </a:r>
            <a:r>
              <a:rPr b="1" spc="50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65" dirty="0"/>
              <a:t> </a:t>
            </a:r>
            <a:r>
              <a:rPr dirty="0"/>
              <a:t>all</a:t>
            </a:r>
            <a:r>
              <a:rPr spc="65" dirty="0"/>
              <a:t> </a:t>
            </a:r>
            <a:r>
              <a:rPr spc="-5" dirty="0"/>
              <a:t>the</a:t>
            </a:r>
            <a:r>
              <a:rPr spc="50" dirty="0"/>
              <a:t> </a:t>
            </a:r>
            <a:r>
              <a:rPr spc="-5" dirty="0"/>
              <a:t>adjacent</a:t>
            </a:r>
            <a:r>
              <a:rPr spc="70" dirty="0"/>
              <a:t> </a:t>
            </a:r>
            <a:r>
              <a:rPr spc="-5" dirty="0"/>
              <a:t>vertices</a:t>
            </a:r>
            <a:r>
              <a:rPr spc="6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b="1" spc="-5" dirty="0">
                <a:latin typeface="Times New Roman"/>
                <a:cs typeface="Times New Roman"/>
              </a:rPr>
              <a:t>A</a:t>
            </a:r>
            <a:r>
              <a:rPr b="1" spc="50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55" dirty="0"/>
              <a:t> </a:t>
            </a:r>
            <a:r>
              <a:rPr dirty="0"/>
              <a:t>are</a:t>
            </a:r>
            <a:r>
              <a:rPr spc="55" dirty="0"/>
              <a:t> </a:t>
            </a:r>
            <a:r>
              <a:rPr dirty="0"/>
              <a:t>not</a:t>
            </a:r>
            <a:r>
              <a:rPr spc="50" dirty="0"/>
              <a:t> </a:t>
            </a:r>
            <a:r>
              <a:rPr spc="-5" dirty="0"/>
              <a:t>visited</a:t>
            </a:r>
            <a:r>
              <a:rPr spc="75" dirty="0"/>
              <a:t> </a:t>
            </a:r>
            <a:r>
              <a:rPr b="1" spc="-5" dirty="0">
                <a:latin typeface="Times New Roman"/>
                <a:cs typeface="Times New Roman"/>
              </a:rPr>
              <a:t>(B,D,E)</a:t>
            </a:r>
            <a:r>
              <a:rPr b="1" spc="60" dirty="0">
                <a:latin typeface="Times New Roman"/>
                <a:cs typeface="Times New Roman"/>
              </a:rPr>
              <a:t> </a:t>
            </a:r>
            <a:r>
              <a:rPr spc="-5" dirty="0"/>
              <a:t>and</a:t>
            </a:r>
            <a:r>
              <a:rPr spc="60" dirty="0"/>
              <a:t> </a:t>
            </a:r>
            <a:r>
              <a:rPr spc="-5" dirty="0"/>
              <a:t>insert</a:t>
            </a:r>
            <a:r>
              <a:rPr spc="65" dirty="0"/>
              <a:t> </a:t>
            </a:r>
            <a:r>
              <a:rPr dirty="0"/>
              <a:t>newly</a:t>
            </a:r>
            <a:r>
              <a:rPr spc="45" dirty="0"/>
              <a:t> </a:t>
            </a:r>
            <a:r>
              <a:rPr spc="-5" dirty="0"/>
              <a:t>visited </a:t>
            </a:r>
            <a:r>
              <a:rPr spc="-385" dirty="0"/>
              <a:t> </a:t>
            </a:r>
            <a:r>
              <a:rPr spc="-5" dirty="0"/>
              <a:t>vertices</a:t>
            </a:r>
            <a:r>
              <a:rPr spc="30" dirty="0"/>
              <a:t> </a:t>
            </a:r>
            <a:r>
              <a:rPr spc="-5" dirty="0"/>
              <a:t>into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queue</a:t>
            </a:r>
            <a:r>
              <a:rPr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5" dirty="0"/>
              <a:t>delete</a:t>
            </a:r>
            <a:r>
              <a:rPr spc="40" dirty="0"/>
              <a:t> </a:t>
            </a:r>
            <a:r>
              <a:rPr b="1" spc="-5" dirty="0">
                <a:latin typeface="Times New Roman"/>
                <a:cs typeface="Times New Roman"/>
              </a:rPr>
              <a:t>A </a:t>
            </a:r>
            <a:r>
              <a:rPr spc="-5" dirty="0"/>
              <a:t>from</a:t>
            </a:r>
            <a:r>
              <a:rPr spc="-20" dirty="0"/>
              <a:t> </a:t>
            </a:r>
            <a:r>
              <a:rPr spc="-5" dirty="0"/>
              <a:t>queue.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054" y="3006222"/>
            <a:ext cx="8025130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75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3:</a:t>
            </a:r>
            <a:r>
              <a:rPr sz="1600" b="1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</a:t>
            </a:r>
            <a:r>
              <a:rPr sz="1600" b="1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(no</a:t>
            </a:r>
            <a:r>
              <a:rPr sz="1600" b="1" spc="1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vertices)</a:t>
            </a:r>
            <a:r>
              <a:rPr sz="1600" b="1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delete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</a:t>
            </a:r>
            <a:r>
              <a:rPr sz="1600" b="1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from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queue.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4" y="1760220"/>
            <a:ext cx="5937504" cy="11917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5732" y="3701796"/>
            <a:ext cx="5914644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406" y="454003"/>
            <a:ext cx="7767955" cy="75819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315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4:</a:t>
            </a:r>
            <a:r>
              <a:rPr sz="1600" b="1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adjacent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</a:t>
            </a:r>
            <a:r>
              <a:rPr sz="1600" b="1" spc="3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not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(C,F)</a:t>
            </a:r>
            <a:r>
              <a:rPr sz="1600" b="1" spc="3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newly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 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delete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406" y="2904896"/>
            <a:ext cx="7766684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7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5:</a:t>
            </a:r>
            <a:r>
              <a:rPr sz="1600" b="1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</a:t>
            </a:r>
            <a:r>
              <a:rPr sz="1600" b="1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(no</a:t>
            </a:r>
            <a:r>
              <a:rPr sz="1600" b="1" spc="1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vertices)</a:t>
            </a:r>
            <a:r>
              <a:rPr sz="1600" b="1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delete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7696" y="1583436"/>
            <a:ext cx="5957315" cy="12374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4144" y="3383279"/>
            <a:ext cx="5952744" cy="1252727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331749"/>
            <a:ext cx="7849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6:</a:t>
            </a:r>
            <a:r>
              <a:rPr b="1" spc="40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45" dirty="0"/>
              <a:t> </a:t>
            </a:r>
            <a:r>
              <a:rPr dirty="0"/>
              <a:t>all</a:t>
            </a:r>
            <a:r>
              <a:rPr spc="45" dirty="0"/>
              <a:t> </a:t>
            </a:r>
            <a:r>
              <a:rPr spc="-5" dirty="0"/>
              <a:t>the</a:t>
            </a:r>
            <a:r>
              <a:rPr spc="50" dirty="0"/>
              <a:t> </a:t>
            </a:r>
            <a:r>
              <a:rPr dirty="0"/>
              <a:t>adjacent</a:t>
            </a:r>
            <a:r>
              <a:rPr spc="40" dirty="0"/>
              <a:t> </a:t>
            </a:r>
            <a:r>
              <a:rPr dirty="0"/>
              <a:t>vertices</a:t>
            </a:r>
            <a:r>
              <a:rPr spc="4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b="1" spc="-5" dirty="0">
                <a:latin typeface="Times New Roman"/>
                <a:cs typeface="Times New Roman"/>
              </a:rPr>
              <a:t>C</a:t>
            </a:r>
            <a:r>
              <a:rPr b="1" spc="45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45" dirty="0"/>
              <a:t> </a:t>
            </a:r>
            <a:r>
              <a:rPr dirty="0"/>
              <a:t>are</a:t>
            </a:r>
            <a:r>
              <a:rPr spc="434" dirty="0"/>
              <a:t> </a:t>
            </a:r>
            <a:r>
              <a:rPr dirty="0"/>
              <a:t>not</a:t>
            </a:r>
            <a:r>
              <a:rPr spc="425" dirty="0"/>
              <a:t> </a:t>
            </a:r>
            <a:r>
              <a:rPr dirty="0"/>
              <a:t>visited</a:t>
            </a:r>
            <a:r>
              <a:rPr spc="445" dirty="0"/>
              <a:t> </a:t>
            </a:r>
            <a:r>
              <a:rPr b="1" spc="-5" dirty="0">
                <a:latin typeface="Times New Roman"/>
                <a:cs typeface="Times New Roman"/>
              </a:rPr>
              <a:t>(G)</a:t>
            </a:r>
            <a:r>
              <a:rPr b="1" spc="440" dirty="0">
                <a:latin typeface="Times New Roman"/>
                <a:cs typeface="Times New Roman"/>
              </a:rPr>
              <a:t> </a:t>
            </a:r>
            <a:r>
              <a:rPr spc="-5" dirty="0"/>
              <a:t>and</a:t>
            </a:r>
            <a:r>
              <a:rPr spc="434" dirty="0"/>
              <a:t> </a:t>
            </a:r>
            <a:r>
              <a:rPr dirty="0"/>
              <a:t>insert</a:t>
            </a:r>
            <a:r>
              <a:rPr spc="430" dirty="0"/>
              <a:t> </a:t>
            </a:r>
            <a:r>
              <a:rPr dirty="0"/>
              <a:t>newly </a:t>
            </a:r>
            <a:r>
              <a:rPr spc="-385" dirty="0"/>
              <a:t> </a:t>
            </a:r>
            <a:r>
              <a:rPr spc="-5" dirty="0"/>
              <a:t>visited</a:t>
            </a:r>
            <a:r>
              <a:rPr spc="30" dirty="0"/>
              <a:t> </a:t>
            </a:r>
            <a:r>
              <a:rPr spc="-5" dirty="0"/>
              <a:t>vertices</a:t>
            </a:r>
            <a:r>
              <a:rPr spc="30" dirty="0"/>
              <a:t> </a:t>
            </a:r>
            <a:r>
              <a:rPr spc="-5" dirty="0"/>
              <a:t>into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queue</a:t>
            </a:r>
            <a:r>
              <a:rPr dirty="0"/>
              <a:t> </a:t>
            </a:r>
            <a:r>
              <a:rPr spc="-5" dirty="0"/>
              <a:t>and delete</a:t>
            </a:r>
            <a:r>
              <a:rPr spc="40" dirty="0"/>
              <a:t> </a:t>
            </a:r>
            <a:r>
              <a:rPr b="1" spc="-5" dirty="0">
                <a:latin typeface="Times New Roman"/>
                <a:cs typeface="Times New Roman"/>
              </a:rPr>
              <a:t>C </a:t>
            </a:r>
            <a:r>
              <a:rPr spc="-5" dirty="0"/>
              <a:t>from</a:t>
            </a:r>
            <a:r>
              <a:rPr spc="-20" dirty="0"/>
              <a:t> </a:t>
            </a:r>
            <a:r>
              <a:rPr spc="-5" dirty="0"/>
              <a:t>queue.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406" y="2526944"/>
            <a:ext cx="78511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7: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(no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vertices)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from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4" y="1402080"/>
            <a:ext cx="5916168" cy="12298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6776" y="3233927"/>
            <a:ext cx="5911596" cy="1214628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8482" y="281076"/>
            <a:ext cx="8005445" cy="5867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8:</a:t>
            </a:r>
            <a:r>
              <a:rPr sz="1600" b="1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600" b="1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(no</a:t>
            </a:r>
            <a:r>
              <a:rPr sz="1600" b="1" spc="2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vertices)</a:t>
            </a:r>
            <a:r>
              <a:rPr sz="1600" b="1" spc="2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delete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482" y="2525039"/>
            <a:ext cx="8003540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Now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empty.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So,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stop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traversal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here.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Remove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unnecessary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resulted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 </a:t>
            </a:r>
            <a:r>
              <a:rPr sz="1600" spc="-10" dirty="0">
                <a:latin typeface="Times New Roman"/>
                <a:cs typeface="Times New Roman"/>
              </a:rPr>
              <a:t>can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get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619" y="1406652"/>
            <a:ext cx="5957315" cy="1200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1619" y="3201923"/>
            <a:ext cx="4334256" cy="16276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96003" y="4689144"/>
            <a:ext cx="4012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resulted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are: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A,D,E,B,C,F,G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415" y="423417"/>
            <a:ext cx="2239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Times New Roman"/>
                <a:cs typeface="Times New Roman"/>
              </a:rPr>
              <a:t>DFS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(Depth First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Search)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9915" y="819536"/>
            <a:ext cx="8030845" cy="420243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489584" indent="-287020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489584" algn="l"/>
                <a:tab pos="490220" algn="l"/>
              </a:tabLst>
            </a:pPr>
            <a:r>
              <a:rPr sz="1600" spc="-10" dirty="0">
                <a:latin typeface="Times New Roman"/>
                <a:cs typeface="Times New Roman"/>
              </a:rPr>
              <a:t>DFS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produces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result.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Spanning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endParaRPr sz="1600">
              <a:latin typeface="Times New Roman"/>
              <a:cs typeface="Times New Roman"/>
            </a:endParaRPr>
          </a:p>
          <a:p>
            <a:pPr marL="489584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without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loops.</a:t>
            </a:r>
            <a:endParaRPr sz="1600">
              <a:latin typeface="Times New Roman"/>
              <a:cs typeface="Times New Roman"/>
            </a:endParaRPr>
          </a:p>
          <a:p>
            <a:pPr marL="489584" marR="5715" indent="-287020">
              <a:lnSpc>
                <a:spcPct val="150000"/>
              </a:lnSpc>
              <a:spcBef>
                <a:spcPts val="1205"/>
              </a:spcBef>
              <a:buFont typeface="Arial MT"/>
              <a:buChar char="•"/>
              <a:tabLst>
                <a:tab pos="489584" algn="l"/>
                <a:tab pos="490220" algn="l"/>
              </a:tabLst>
            </a:pPr>
            <a:r>
              <a:rPr sz="1600" spc="-10" dirty="0">
                <a:latin typeface="Times New Roman"/>
                <a:cs typeface="Times New Roman"/>
              </a:rPr>
              <a:t>We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Stack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data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structure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maximum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total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number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implement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DFS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traversal.</a:t>
            </a:r>
            <a:endParaRPr sz="1600">
              <a:latin typeface="Times New Roman"/>
              <a:cs typeface="Times New Roman"/>
            </a:endParaRPr>
          </a:p>
          <a:p>
            <a:pPr marL="12700" marR="6360795">
              <a:lnSpc>
                <a:spcPct val="150000"/>
              </a:lnSpc>
            </a:pPr>
            <a:r>
              <a:rPr sz="1600" b="1" spc="-5" dirty="0">
                <a:latin typeface="Times New Roman"/>
                <a:cs typeface="Times New Roman"/>
              </a:rPr>
              <a:t>Algorithm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for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DFS </a:t>
            </a:r>
            <a:r>
              <a:rPr sz="1600" b="1" spc="-38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1: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Define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size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total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number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graph.</a:t>
            </a:r>
            <a:endParaRPr sz="1600">
              <a:latin typeface="Times New Roman"/>
              <a:cs typeface="Times New Roman"/>
            </a:endParaRPr>
          </a:p>
          <a:p>
            <a:pPr marL="12700" marR="7620">
              <a:lnSpc>
                <a:spcPct val="150000"/>
              </a:lnSpc>
              <a:spcBef>
                <a:spcPts val="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3:</a:t>
            </a:r>
            <a:r>
              <a:rPr sz="1600" b="1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Select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starting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traversal.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push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  <a:p>
            <a:pPr marL="12700" marR="7620">
              <a:lnSpc>
                <a:spcPts val="288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75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4:</a:t>
            </a:r>
            <a:r>
              <a:rPr sz="1600" b="1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non-visited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top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stack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push 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495" y="547522"/>
            <a:ext cx="7738109" cy="351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">
              <a:lnSpc>
                <a:spcPct val="15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5: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step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no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from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stack.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994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6: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When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back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tracking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pop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one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from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Step 7: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 steps 4,5 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6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becomes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Empty.</a:t>
            </a:r>
            <a:endParaRPr sz="1600">
              <a:latin typeface="Times New Roman"/>
              <a:cs typeface="Times New Roman"/>
            </a:endParaRPr>
          </a:p>
          <a:p>
            <a:pPr marL="12700" marR="15240">
              <a:lnSpc>
                <a:spcPct val="150000"/>
              </a:lnSpc>
              <a:spcBef>
                <a:spcPts val="120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75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8:</a:t>
            </a:r>
            <a:r>
              <a:rPr sz="1600" b="1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When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stack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becomes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Empty,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produce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removing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unused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 the graph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9: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Stop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454279"/>
            <a:ext cx="66109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Times New Roman"/>
                <a:cs typeface="Times New Roman"/>
              </a:rPr>
              <a:t>Example:</a:t>
            </a:r>
            <a:r>
              <a:rPr b="1" spc="20" dirty="0">
                <a:latin typeface="Times New Roman"/>
                <a:cs typeface="Times New Roman"/>
              </a:rPr>
              <a:t> </a:t>
            </a:r>
            <a:r>
              <a:rPr spc="-5" dirty="0"/>
              <a:t>Visit</a:t>
            </a:r>
            <a:r>
              <a:rPr spc="20" dirty="0"/>
              <a:t> </a:t>
            </a:r>
            <a:r>
              <a:rPr spc="-5" dirty="0"/>
              <a:t>and</a:t>
            </a:r>
            <a:r>
              <a:rPr spc="10" dirty="0"/>
              <a:t> </a:t>
            </a:r>
            <a:r>
              <a:rPr spc="-5" dirty="0"/>
              <a:t>display</a:t>
            </a:r>
            <a:r>
              <a:rPr spc="-10" dirty="0"/>
              <a:t> </a:t>
            </a:r>
            <a:r>
              <a:rPr spc="-5" dirty="0"/>
              <a:t>all</a:t>
            </a:r>
            <a:r>
              <a:rPr spc="10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value</a:t>
            </a:r>
            <a:r>
              <a:rPr spc="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5" dirty="0"/>
              <a:t>following</a:t>
            </a:r>
            <a:r>
              <a:rPr spc="-10" dirty="0"/>
              <a:t> </a:t>
            </a:r>
            <a:r>
              <a:rPr spc="-5" dirty="0"/>
              <a:t>graph</a:t>
            </a:r>
            <a:r>
              <a:rPr spc="-10" dirty="0"/>
              <a:t> </a:t>
            </a:r>
            <a:r>
              <a:rPr spc="-5" dirty="0"/>
              <a:t>using</a:t>
            </a:r>
            <a:r>
              <a:rPr dirty="0"/>
              <a:t> </a:t>
            </a:r>
            <a:r>
              <a:rPr spc="-10" dirty="0"/>
              <a:t>DFS </a:t>
            </a:r>
            <a:r>
              <a:rPr spc="-5" dirty="0"/>
              <a:t>traversal.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1906" y="2159993"/>
            <a:ext cx="6069330" cy="75819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b="1" spc="-5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starting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insert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0" y="1005839"/>
            <a:ext cx="4276344" cy="14249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5503" y="3200400"/>
            <a:ext cx="4343400" cy="16108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1679" y="3238500"/>
            <a:ext cx="477012" cy="15803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0836" y="506455"/>
            <a:ext cx="7880350" cy="5873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40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2:</a:t>
            </a:r>
            <a:r>
              <a:rPr sz="1600" b="1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4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one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adjacent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4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40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(B),</a:t>
            </a:r>
            <a:r>
              <a:rPr sz="1600" b="1" spc="4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push</a:t>
            </a:r>
            <a:r>
              <a:rPr sz="1600" spc="4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newly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0836" y="2888386"/>
            <a:ext cx="7881620" cy="5867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3: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(C),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push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newly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1254252"/>
            <a:ext cx="3994404" cy="1395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9971" y="1258824"/>
            <a:ext cx="519684" cy="13883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68651" y="3401567"/>
            <a:ext cx="4247388" cy="1591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8335" y="3412235"/>
            <a:ext cx="498347" cy="154686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631" rIns="0" bIns="0" rtlCol="0">
            <a:spAutoFit/>
          </a:bodyPr>
          <a:lstStyle/>
          <a:p>
            <a:pPr marL="172720" marR="5080">
              <a:lnSpc>
                <a:spcPct val="114999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365" dirty="0">
                <a:latin typeface="Times New Roman"/>
                <a:cs typeface="Times New Roman"/>
              </a:rPr>
              <a:t> </a:t>
            </a:r>
            <a:r>
              <a:rPr b="1" spc="5" dirty="0">
                <a:latin typeface="Times New Roman"/>
                <a:cs typeface="Times New Roman"/>
              </a:rPr>
              <a:t>4:</a:t>
            </a:r>
            <a:r>
              <a:rPr b="1" spc="365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380" dirty="0"/>
              <a:t> </a:t>
            </a:r>
            <a:r>
              <a:rPr spc="-5" dirty="0"/>
              <a:t>any</a:t>
            </a:r>
            <a:r>
              <a:rPr spc="365" dirty="0"/>
              <a:t> </a:t>
            </a:r>
            <a:r>
              <a:rPr dirty="0"/>
              <a:t>one</a:t>
            </a:r>
            <a:r>
              <a:rPr spc="365" dirty="0"/>
              <a:t> </a:t>
            </a:r>
            <a:r>
              <a:rPr dirty="0"/>
              <a:t>adjacent</a:t>
            </a:r>
            <a:r>
              <a:rPr spc="380" dirty="0"/>
              <a:t> </a:t>
            </a:r>
            <a:r>
              <a:rPr dirty="0"/>
              <a:t>vertex</a:t>
            </a:r>
            <a:r>
              <a:rPr spc="375" dirty="0"/>
              <a:t> </a:t>
            </a:r>
            <a:r>
              <a:rPr dirty="0"/>
              <a:t>of</a:t>
            </a:r>
            <a:r>
              <a:rPr spc="380" dirty="0"/>
              <a:t> </a:t>
            </a:r>
            <a:r>
              <a:rPr b="1" spc="-5" dirty="0">
                <a:latin typeface="Times New Roman"/>
                <a:cs typeface="Times New Roman"/>
              </a:rPr>
              <a:t>C</a:t>
            </a:r>
            <a:r>
              <a:rPr b="1" spc="370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370" dirty="0"/>
              <a:t> </a:t>
            </a:r>
            <a:r>
              <a:rPr dirty="0"/>
              <a:t>is</a:t>
            </a:r>
            <a:r>
              <a:rPr spc="375" dirty="0"/>
              <a:t> </a:t>
            </a:r>
            <a:r>
              <a:rPr dirty="0"/>
              <a:t>not</a:t>
            </a:r>
            <a:r>
              <a:rPr spc="365" dirty="0"/>
              <a:t> </a:t>
            </a:r>
            <a:r>
              <a:rPr spc="-5" dirty="0"/>
              <a:t>visited</a:t>
            </a:r>
            <a:r>
              <a:rPr spc="380" dirty="0"/>
              <a:t> </a:t>
            </a:r>
            <a:r>
              <a:rPr b="1" dirty="0">
                <a:latin typeface="Times New Roman"/>
                <a:cs typeface="Times New Roman"/>
              </a:rPr>
              <a:t>(E),</a:t>
            </a:r>
            <a:r>
              <a:rPr b="1" spc="370" dirty="0">
                <a:latin typeface="Times New Roman"/>
                <a:cs typeface="Times New Roman"/>
              </a:rPr>
              <a:t> </a:t>
            </a:r>
            <a:r>
              <a:rPr spc="-5" dirty="0"/>
              <a:t>push</a:t>
            </a:r>
            <a:r>
              <a:rPr spc="370" dirty="0"/>
              <a:t> </a:t>
            </a:r>
            <a:r>
              <a:rPr spc="-5" dirty="0"/>
              <a:t>newly</a:t>
            </a:r>
            <a:r>
              <a:rPr spc="375" dirty="0"/>
              <a:t> </a:t>
            </a:r>
            <a:r>
              <a:rPr dirty="0"/>
              <a:t>visited </a:t>
            </a:r>
            <a:r>
              <a:rPr spc="-385" dirty="0"/>
              <a:t> </a:t>
            </a:r>
            <a:r>
              <a:rPr spc="-5" dirty="0"/>
              <a:t>vertex</a:t>
            </a:r>
            <a:r>
              <a:rPr spc="20" dirty="0"/>
              <a:t> </a:t>
            </a:r>
            <a:r>
              <a:rPr b="1" spc="-5" dirty="0">
                <a:latin typeface="Times New Roman"/>
                <a:cs typeface="Times New Roman"/>
              </a:rPr>
              <a:t>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spc="-5" dirty="0"/>
              <a:t>into</a:t>
            </a:r>
            <a:r>
              <a:rPr spc="15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stack.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621" y="2868045"/>
            <a:ext cx="7819390" cy="5861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5:</a:t>
            </a:r>
            <a:r>
              <a:rPr sz="1600" b="1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</a:t>
            </a:r>
            <a:r>
              <a:rPr sz="1600" b="1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(D),</a:t>
            </a:r>
            <a:r>
              <a:rPr sz="1600" b="1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push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newly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00" b="1" spc="-5" dirty="0">
                <a:latin typeface="Times New Roman"/>
                <a:cs typeface="Times New Roman"/>
              </a:rPr>
              <a:t>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647" y="1335024"/>
            <a:ext cx="3985260" cy="12780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3077" y="1297057"/>
            <a:ext cx="436232" cy="14774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10967" y="3403091"/>
            <a:ext cx="3901439" cy="14203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3179" y="3418332"/>
            <a:ext cx="460248" cy="139446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>
              <a:lnSpc>
                <a:spcPct val="114999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2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6:</a:t>
            </a:r>
            <a:r>
              <a:rPr b="1" spc="270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280" dirty="0"/>
              <a:t> </a:t>
            </a:r>
            <a:r>
              <a:rPr spc="-5" dirty="0"/>
              <a:t>any</a:t>
            </a:r>
            <a:r>
              <a:rPr spc="285" dirty="0"/>
              <a:t> </a:t>
            </a:r>
            <a:r>
              <a:rPr dirty="0"/>
              <a:t>one</a:t>
            </a:r>
            <a:r>
              <a:rPr spc="260" dirty="0"/>
              <a:t> </a:t>
            </a:r>
            <a:r>
              <a:rPr spc="-5" dirty="0"/>
              <a:t>adjacent</a:t>
            </a:r>
            <a:r>
              <a:rPr spc="290" dirty="0"/>
              <a:t> </a:t>
            </a:r>
            <a:r>
              <a:rPr dirty="0"/>
              <a:t>vertex</a:t>
            </a:r>
            <a:r>
              <a:rPr spc="270" dirty="0"/>
              <a:t> </a:t>
            </a:r>
            <a:r>
              <a:rPr dirty="0"/>
              <a:t>of</a:t>
            </a:r>
            <a:r>
              <a:rPr spc="285" dirty="0"/>
              <a:t> </a:t>
            </a:r>
            <a:r>
              <a:rPr b="1" spc="-5" dirty="0">
                <a:latin typeface="Times New Roman"/>
                <a:cs typeface="Times New Roman"/>
              </a:rPr>
              <a:t>D</a:t>
            </a:r>
            <a:r>
              <a:rPr b="1" spc="260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285" dirty="0"/>
              <a:t> </a:t>
            </a:r>
            <a:r>
              <a:rPr spc="-5" dirty="0"/>
              <a:t>is</a:t>
            </a:r>
            <a:r>
              <a:rPr spc="285" dirty="0"/>
              <a:t> </a:t>
            </a:r>
            <a:r>
              <a:rPr dirty="0"/>
              <a:t>not</a:t>
            </a:r>
            <a:r>
              <a:rPr spc="275" dirty="0"/>
              <a:t> </a:t>
            </a:r>
            <a:r>
              <a:rPr spc="-5" dirty="0"/>
              <a:t>visited</a:t>
            </a:r>
            <a:r>
              <a:rPr spc="285" dirty="0"/>
              <a:t> </a:t>
            </a:r>
            <a:r>
              <a:rPr b="1" spc="-5" dirty="0">
                <a:latin typeface="Times New Roman"/>
                <a:cs typeface="Times New Roman"/>
              </a:rPr>
              <a:t>(no</a:t>
            </a:r>
            <a:r>
              <a:rPr b="1" spc="2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vertex).</a:t>
            </a:r>
            <a:r>
              <a:rPr b="1" spc="270" dirty="0">
                <a:latin typeface="Times New Roman"/>
                <a:cs typeface="Times New Roman"/>
              </a:rPr>
              <a:t> </a:t>
            </a:r>
            <a:r>
              <a:rPr spc="-5" dirty="0"/>
              <a:t>So,</a:t>
            </a:r>
            <a:r>
              <a:rPr spc="280" dirty="0"/>
              <a:t> </a:t>
            </a:r>
            <a:r>
              <a:rPr spc="-5" dirty="0"/>
              <a:t>use</a:t>
            </a:r>
            <a:r>
              <a:rPr spc="265" dirty="0"/>
              <a:t> </a:t>
            </a:r>
            <a:r>
              <a:rPr spc="-5" dirty="0"/>
              <a:t>back </a:t>
            </a:r>
            <a:r>
              <a:rPr spc="-385" dirty="0"/>
              <a:t> </a:t>
            </a:r>
            <a:r>
              <a:rPr spc="-5" dirty="0"/>
              <a:t>tracking</a:t>
            </a:r>
            <a:r>
              <a:rPr spc="30" dirty="0"/>
              <a:t> </a:t>
            </a:r>
            <a:r>
              <a:rPr spc="-5" dirty="0"/>
              <a:t>and</a:t>
            </a:r>
            <a:r>
              <a:rPr spc="15" dirty="0"/>
              <a:t> </a:t>
            </a:r>
            <a:r>
              <a:rPr dirty="0"/>
              <a:t>pop </a:t>
            </a:r>
            <a:r>
              <a:rPr b="1" spc="-5" dirty="0">
                <a:latin typeface="Times New Roman"/>
                <a:cs typeface="Times New Roman"/>
              </a:rPr>
              <a:t>D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spc="-5" dirty="0"/>
              <a:t>from the</a:t>
            </a:r>
            <a:r>
              <a:rPr spc="10" dirty="0"/>
              <a:t> </a:t>
            </a:r>
            <a:r>
              <a:rPr spc="-5" dirty="0"/>
              <a:t>stack.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540" y="2638196"/>
            <a:ext cx="7819390" cy="5867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7: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adjacent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(F),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push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newly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spc="-5" dirty="0">
                <a:latin typeface="Times New Roman"/>
                <a:cs typeface="Times New Roman"/>
              </a:rPr>
              <a:t>into 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076" y="1203960"/>
            <a:ext cx="3957828" cy="13746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0532" y="1217675"/>
            <a:ext cx="507491" cy="134569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965960" y="3222355"/>
            <a:ext cx="4620260" cy="1581785"/>
            <a:chOff x="1965960" y="3222355"/>
            <a:chExt cx="4620260" cy="158178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5960" y="3293364"/>
              <a:ext cx="4195572" cy="15105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3152" y="3222355"/>
              <a:ext cx="412527" cy="1569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19" y="197002"/>
            <a:ext cx="7696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310" dirty="0">
                <a:latin typeface="Times New Roman"/>
                <a:cs typeface="Times New Roman"/>
              </a:rPr>
              <a:t> </a:t>
            </a:r>
            <a:r>
              <a:rPr b="1" spc="5" dirty="0">
                <a:latin typeface="Times New Roman"/>
                <a:cs typeface="Times New Roman"/>
              </a:rPr>
              <a:t>8:</a:t>
            </a:r>
            <a:r>
              <a:rPr b="1" spc="305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315" dirty="0"/>
              <a:t> </a:t>
            </a:r>
            <a:r>
              <a:rPr dirty="0"/>
              <a:t>any</a:t>
            </a:r>
            <a:r>
              <a:rPr spc="320" dirty="0"/>
              <a:t> </a:t>
            </a:r>
            <a:r>
              <a:rPr dirty="0"/>
              <a:t>one</a:t>
            </a:r>
            <a:r>
              <a:rPr spc="310" dirty="0"/>
              <a:t> </a:t>
            </a:r>
            <a:r>
              <a:rPr spc="-5" dirty="0"/>
              <a:t>adjacent</a:t>
            </a:r>
            <a:r>
              <a:rPr spc="315" dirty="0"/>
              <a:t> </a:t>
            </a:r>
            <a:r>
              <a:rPr spc="-5" dirty="0"/>
              <a:t>vertex</a:t>
            </a:r>
            <a:r>
              <a:rPr spc="320" dirty="0"/>
              <a:t> </a:t>
            </a:r>
            <a:r>
              <a:rPr dirty="0"/>
              <a:t>of</a:t>
            </a:r>
            <a:r>
              <a:rPr spc="320" dirty="0"/>
              <a:t> </a:t>
            </a:r>
            <a:r>
              <a:rPr b="1" spc="-5" dirty="0">
                <a:latin typeface="Times New Roman"/>
                <a:cs typeface="Times New Roman"/>
              </a:rPr>
              <a:t>F</a:t>
            </a:r>
            <a:r>
              <a:rPr b="1" spc="315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315" dirty="0"/>
              <a:t> </a:t>
            </a:r>
            <a:r>
              <a:rPr spc="-5" dirty="0"/>
              <a:t>is</a:t>
            </a:r>
            <a:r>
              <a:rPr spc="325" dirty="0"/>
              <a:t> </a:t>
            </a:r>
            <a:r>
              <a:rPr dirty="0"/>
              <a:t>not</a:t>
            </a:r>
            <a:r>
              <a:rPr spc="300" dirty="0"/>
              <a:t> </a:t>
            </a:r>
            <a:r>
              <a:rPr dirty="0"/>
              <a:t>visited</a:t>
            </a:r>
            <a:r>
              <a:rPr spc="325" dirty="0"/>
              <a:t> </a:t>
            </a:r>
            <a:r>
              <a:rPr b="1" spc="-5" dirty="0">
                <a:latin typeface="Times New Roman"/>
                <a:cs typeface="Times New Roman"/>
              </a:rPr>
              <a:t>(G),</a:t>
            </a:r>
            <a:r>
              <a:rPr b="1" spc="320" dirty="0">
                <a:latin typeface="Times New Roman"/>
                <a:cs typeface="Times New Roman"/>
              </a:rPr>
              <a:t> </a:t>
            </a:r>
            <a:r>
              <a:rPr spc="-5" dirty="0"/>
              <a:t>push</a:t>
            </a:r>
            <a:r>
              <a:rPr spc="320" dirty="0"/>
              <a:t> </a:t>
            </a:r>
            <a:r>
              <a:rPr spc="-5" dirty="0"/>
              <a:t>newly</a:t>
            </a:r>
            <a:r>
              <a:rPr spc="305" dirty="0"/>
              <a:t> </a:t>
            </a:r>
            <a:r>
              <a:rPr dirty="0"/>
              <a:t>visited </a:t>
            </a:r>
            <a:r>
              <a:rPr spc="-385" dirty="0"/>
              <a:t> </a:t>
            </a:r>
            <a:r>
              <a:rPr spc="-5" dirty="0"/>
              <a:t>vertex</a:t>
            </a:r>
            <a:r>
              <a:rPr spc="15" dirty="0"/>
              <a:t> </a:t>
            </a:r>
            <a:r>
              <a:rPr b="1" spc="-5" dirty="0">
                <a:latin typeface="Times New Roman"/>
                <a:cs typeface="Times New Roman"/>
              </a:rPr>
              <a:t>G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spc="-5" dirty="0"/>
              <a:t>into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stack.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119" y="2647193"/>
            <a:ext cx="7694930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04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9:</a:t>
            </a:r>
            <a:r>
              <a:rPr sz="1600" b="1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600" b="1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(no</a:t>
            </a:r>
            <a:r>
              <a:rPr sz="1600" b="1" spc="2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vertex).</a:t>
            </a:r>
            <a:r>
              <a:rPr sz="1600" b="1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So,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back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tracking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pop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stack.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5835" y="1060703"/>
            <a:ext cx="4154424" cy="15880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4935" y="1066800"/>
            <a:ext cx="512063" cy="15666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79" y="3404615"/>
            <a:ext cx="4155948" cy="15163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9923" y="3413759"/>
            <a:ext cx="521207" cy="1501139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563" y="444779"/>
            <a:ext cx="7900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2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10:</a:t>
            </a:r>
            <a:r>
              <a:rPr b="1" spc="270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290" dirty="0"/>
              <a:t> </a:t>
            </a:r>
            <a:r>
              <a:rPr spc="-5" dirty="0"/>
              <a:t>any</a:t>
            </a:r>
            <a:r>
              <a:rPr spc="270" dirty="0"/>
              <a:t> </a:t>
            </a:r>
            <a:r>
              <a:rPr dirty="0"/>
              <a:t>one</a:t>
            </a:r>
            <a:r>
              <a:rPr spc="280" dirty="0"/>
              <a:t> </a:t>
            </a:r>
            <a:r>
              <a:rPr spc="-5" dirty="0"/>
              <a:t>adjacent</a:t>
            </a:r>
            <a:r>
              <a:rPr spc="280" dirty="0"/>
              <a:t> </a:t>
            </a:r>
            <a:r>
              <a:rPr dirty="0"/>
              <a:t>vertex</a:t>
            </a:r>
            <a:r>
              <a:rPr spc="270" dirty="0"/>
              <a:t> </a:t>
            </a:r>
            <a:r>
              <a:rPr dirty="0"/>
              <a:t>of</a:t>
            </a:r>
            <a:r>
              <a:rPr spc="285" dirty="0"/>
              <a:t> </a:t>
            </a:r>
            <a:r>
              <a:rPr b="1" spc="-5" dirty="0">
                <a:latin typeface="Times New Roman"/>
                <a:cs typeface="Times New Roman"/>
              </a:rPr>
              <a:t>F</a:t>
            </a:r>
            <a:r>
              <a:rPr b="1" spc="275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285" dirty="0"/>
              <a:t> </a:t>
            </a:r>
            <a:r>
              <a:rPr dirty="0"/>
              <a:t>is</a:t>
            </a:r>
            <a:r>
              <a:rPr spc="265" dirty="0"/>
              <a:t> </a:t>
            </a:r>
            <a:r>
              <a:rPr dirty="0"/>
              <a:t>not</a:t>
            </a:r>
            <a:r>
              <a:rPr spc="275" dirty="0"/>
              <a:t> </a:t>
            </a:r>
            <a:r>
              <a:rPr spc="-5" dirty="0"/>
              <a:t>visited</a:t>
            </a:r>
            <a:r>
              <a:rPr spc="300" dirty="0"/>
              <a:t> </a:t>
            </a:r>
            <a:r>
              <a:rPr b="1" spc="-5" dirty="0">
                <a:latin typeface="Times New Roman"/>
                <a:cs typeface="Times New Roman"/>
              </a:rPr>
              <a:t>(no</a:t>
            </a:r>
            <a:r>
              <a:rPr b="1" spc="28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vertex).</a:t>
            </a:r>
            <a:r>
              <a:rPr b="1" spc="270" dirty="0">
                <a:latin typeface="Times New Roman"/>
                <a:cs typeface="Times New Roman"/>
              </a:rPr>
              <a:t> </a:t>
            </a:r>
            <a:r>
              <a:rPr spc="-5" dirty="0"/>
              <a:t>So,</a:t>
            </a:r>
            <a:r>
              <a:rPr spc="275" dirty="0"/>
              <a:t> </a:t>
            </a:r>
            <a:r>
              <a:rPr spc="-5" dirty="0"/>
              <a:t>use</a:t>
            </a:r>
            <a:r>
              <a:rPr spc="285" dirty="0"/>
              <a:t> </a:t>
            </a:r>
            <a:r>
              <a:rPr dirty="0"/>
              <a:t>back </a:t>
            </a:r>
            <a:r>
              <a:rPr spc="-385" dirty="0"/>
              <a:t> </a:t>
            </a:r>
            <a:r>
              <a:rPr spc="-5" dirty="0"/>
              <a:t>tracking</a:t>
            </a:r>
            <a:r>
              <a:rPr spc="25" dirty="0"/>
              <a:t> </a:t>
            </a:r>
            <a:r>
              <a:rPr spc="-5" dirty="0"/>
              <a:t>and</a:t>
            </a:r>
            <a:r>
              <a:rPr dirty="0"/>
              <a:t> pop </a:t>
            </a:r>
            <a:r>
              <a:rPr b="1" spc="-5" dirty="0">
                <a:latin typeface="Times New Roman"/>
                <a:cs typeface="Times New Roman"/>
              </a:rPr>
              <a:t>F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spc="-5" dirty="0"/>
              <a:t>from the</a:t>
            </a:r>
            <a:r>
              <a:rPr spc="5" dirty="0"/>
              <a:t> </a:t>
            </a:r>
            <a:r>
              <a:rPr spc="-5" dirty="0"/>
              <a:t>stack.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563" y="2639974"/>
            <a:ext cx="7901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11:</a:t>
            </a:r>
            <a:r>
              <a:rPr sz="1600" b="1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</a:t>
            </a:r>
            <a:r>
              <a:rPr sz="1600" b="1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visited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(no</a:t>
            </a:r>
            <a:r>
              <a:rPr sz="1600" b="1" spc="28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vertex).</a:t>
            </a:r>
            <a:r>
              <a:rPr sz="1600" b="1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So,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back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tracking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pop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135" y="1178052"/>
            <a:ext cx="4062984" cy="13624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9684" y="1178052"/>
            <a:ext cx="448310" cy="1550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1220" y="3508247"/>
            <a:ext cx="3916679" cy="13350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9528" y="3518915"/>
            <a:ext cx="487679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 marR="5080">
              <a:lnSpc>
                <a:spcPct val="15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2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12:</a:t>
            </a:r>
            <a:r>
              <a:rPr b="1" spc="280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290" dirty="0"/>
              <a:t> </a:t>
            </a:r>
            <a:r>
              <a:rPr dirty="0"/>
              <a:t>any</a:t>
            </a:r>
            <a:r>
              <a:rPr spc="295" dirty="0"/>
              <a:t> </a:t>
            </a:r>
            <a:r>
              <a:rPr dirty="0"/>
              <a:t>one</a:t>
            </a:r>
            <a:r>
              <a:rPr spc="285" dirty="0"/>
              <a:t> </a:t>
            </a:r>
            <a:r>
              <a:rPr spc="-5" dirty="0"/>
              <a:t>adjacent</a:t>
            </a:r>
            <a:r>
              <a:rPr spc="310" dirty="0"/>
              <a:t> </a:t>
            </a:r>
            <a:r>
              <a:rPr dirty="0"/>
              <a:t>vertex</a:t>
            </a:r>
            <a:r>
              <a:rPr spc="295" dirty="0"/>
              <a:t> </a:t>
            </a:r>
            <a:r>
              <a:rPr dirty="0"/>
              <a:t>of</a:t>
            </a:r>
            <a:r>
              <a:rPr spc="295" dirty="0"/>
              <a:t> </a:t>
            </a:r>
            <a:r>
              <a:rPr b="1" spc="-5" dirty="0">
                <a:latin typeface="Times New Roman"/>
                <a:cs typeface="Times New Roman"/>
              </a:rPr>
              <a:t>C</a:t>
            </a:r>
            <a:r>
              <a:rPr b="1" spc="290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305" dirty="0"/>
              <a:t> </a:t>
            </a:r>
            <a:r>
              <a:rPr dirty="0"/>
              <a:t>is</a:t>
            </a:r>
            <a:r>
              <a:rPr spc="290" dirty="0"/>
              <a:t> </a:t>
            </a:r>
            <a:r>
              <a:rPr dirty="0"/>
              <a:t>not</a:t>
            </a:r>
            <a:r>
              <a:rPr spc="285" dirty="0"/>
              <a:t> </a:t>
            </a:r>
            <a:r>
              <a:rPr dirty="0"/>
              <a:t>visited</a:t>
            </a:r>
            <a:r>
              <a:rPr spc="295" dirty="0"/>
              <a:t> </a:t>
            </a:r>
            <a:r>
              <a:rPr b="1" spc="-5" dirty="0">
                <a:latin typeface="Times New Roman"/>
                <a:cs typeface="Times New Roman"/>
              </a:rPr>
              <a:t>(no</a:t>
            </a:r>
            <a:r>
              <a:rPr b="1" spc="31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vertex).</a:t>
            </a:r>
            <a:r>
              <a:rPr b="1" spc="295" dirty="0">
                <a:latin typeface="Times New Roman"/>
                <a:cs typeface="Times New Roman"/>
              </a:rPr>
              <a:t> </a:t>
            </a:r>
            <a:r>
              <a:rPr spc="-5" dirty="0"/>
              <a:t>So,</a:t>
            </a:r>
            <a:r>
              <a:rPr spc="285" dirty="0"/>
              <a:t> </a:t>
            </a:r>
            <a:r>
              <a:rPr spc="-5" dirty="0"/>
              <a:t>use</a:t>
            </a:r>
            <a:r>
              <a:rPr spc="315" dirty="0"/>
              <a:t> </a:t>
            </a:r>
            <a:r>
              <a:rPr spc="-5" dirty="0"/>
              <a:t>back </a:t>
            </a:r>
            <a:r>
              <a:rPr spc="-385" dirty="0"/>
              <a:t> </a:t>
            </a:r>
            <a:r>
              <a:rPr spc="-5" dirty="0"/>
              <a:t>tracking</a:t>
            </a:r>
            <a:r>
              <a:rPr spc="20" dirty="0"/>
              <a:t> </a:t>
            </a:r>
            <a:r>
              <a:rPr spc="-5" dirty="0"/>
              <a:t>and</a:t>
            </a:r>
            <a:r>
              <a:rPr dirty="0"/>
              <a:t> pop </a:t>
            </a:r>
            <a:r>
              <a:rPr b="1" spc="-5" dirty="0">
                <a:latin typeface="Times New Roman"/>
                <a:cs typeface="Times New Roman"/>
              </a:rPr>
              <a:t>C </a:t>
            </a:r>
            <a:r>
              <a:rPr dirty="0"/>
              <a:t>from</a:t>
            </a:r>
            <a:r>
              <a:rPr spc="-15" dirty="0"/>
              <a:t> </a:t>
            </a:r>
            <a:r>
              <a:rPr spc="-5" dirty="0"/>
              <a:t>the stack.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482" y="2598826"/>
            <a:ext cx="7962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9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13:</a:t>
            </a:r>
            <a:r>
              <a:rPr sz="1600" b="1" spc="2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Visit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adjacent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</a:t>
            </a:r>
            <a:r>
              <a:rPr sz="1600" b="1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(no</a:t>
            </a:r>
            <a:r>
              <a:rPr sz="1600" b="1" spc="30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vertex).</a:t>
            </a:r>
            <a:r>
              <a:rPr sz="1600" b="1" spc="2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So,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back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tracking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pop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stack.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680" y="1516380"/>
            <a:ext cx="3732276" cy="11308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8344" y="1516380"/>
            <a:ext cx="406908" cy="11338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6191" y="3540252"/>
            <a:ext cx="4011476" cy="13197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47874" y="3492291"/>
            <a:ext cx="383078" cy="137271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Step</a:t>
            </a:r>
            <a:r>
              <a:rPr b="1" spc="2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14:</a:t>
            </a:r>
            <a:r>
              <a:rPr b="1" spc="285" dirty="0">
                <a:latin typeface="Times New Roman"/>
                <a:cs typeface="Times New Roman"/>
              </a:rPr>
              <a:t> </a:t>
            </a:r>
            <a:r>
              <a:rPr dirty="0"/>
              <a:t>Visit</a:t>
            </a:r>
            <a:r>
              <a:rPr spc="290" dirty="0"/>
              <a:t> </a:t>
            </a:r>
            <a:r>
              <a:rPr dirty="0"/>
              <a:t>any</a:t>
            </a:r>
            <a:r>
              <a:rPr spc="270" dirty="0"/>
              <a:t> </a:t>
            </a:r>
            <a:r>
              <a:rPr dirty="0"/>
              <a:t>one</a:t>
            </a:r>
            <a:r>
              <a:rPr spc="270" dirty="0"/>
              <a:t> </a:t>
            </a:r>
            <a:r>
              <a:rPr dirty="0"/>
              <a:t>adjacent</a:t>
            </a:r>
            <a:r>
              <a:rPr spc="280" dirty="0"/>
              <a:t> </a:t>
            </a:r>
            <a:r>
              <a:rPr dirty="0"/>
              <a:t>vertex</a:t>
            </a:r>
            <a:r>
              <a:rPr spc="285" dirty="0"/>
              <a:t> </a:t>
            </a:r>
            <a:r>
              <a:rPr dirty="0"/>
              <a:t>of</a:t>
            </a:r>
            <a:r>
              <a:rPr spc="285" dirty="0"/>
              <a:t> </a:t>
            </a:r>
            <a:r>
              <a:rPr b="1" spc="-5" dirty="0">
                <a:latin typeface="Times New Roman"/>
                <a:cs typeface="Times New Roman"/>
              </a:rPr>
              <a:t>A</a:t>
            </a:r>
            <a:r>
              <a:rPr b="1" spc="270" dirty="0">
                <a:latin typeface="Times New Roman"/>
                <a:cs typeface="Times New Roman"/>
              </a:rPr>
              <a:t> </a:t>
            </a:r>
            <a:r>
              <a:rPr spc="-5" dirty="0"/>
              <a:t>which</a:t>
            </a:r>
            <a:r>
              <a:rPr spc="280" dirty="0"/>
              <a:t> </a:t>
            </a:r>
            <a:r>
              <a:rPr dirty="0"/>
              <a:t>is</a:t>
            </a:r>
            <a:r>
              <a:rPr spc="280" dirty="0"/>
              <a:t> </a:t>
            </a:r>
            <a:r>
              <a:rPr dirty="0"/>
              <a:t>not</a:t>
            </a:r>
            <a:r>
              <a:rPr spc="275" dirty="0"/>
              <a:t> </a:t>
            </a:r>
            <a:r>
              <a:rPr spc="-5" dirty="0"/>
              <a:t>visited</a:t>
            </a:r>
            <a:r>
              <a:rPr spc="290" dirty="0"/>
              <a:t> </a:t>
            </a:r>
            <a:r>
              <a:rPr b="1" spc="-5" dirty="0">
                <a:latin typeface="Times New Roman"/>
                <a:cs typeface="Times New Roman"/>
              </a:rPr>
              <a:t>(no</a:t>
            </a:r>
            <a:r>
              <a:rPr b="1" spc="29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vertex).</a:t>
            </a:r>
            <a:r>
              <a:rPr b="1" spc="285" dirty="0">
                <a:latin typeface="Times New Roman"/>
                <a:cs typeface="Times New Roman"/>
              </a:rPr>
              <a:t> </a:t>
            </a:r>
            <a:r>
              <a:rPr spc="-5" dirty="0"/>
              <a:t>So,</a:t>
            </a:r>
            <a:r>
              <a:rPr spc="275" dirty="0"/>
              <a:t> </a:t>
            </a:r>
            <a:r>
              <a:rPr spc="-5" dirty="0"/>
              <a:t>use</a:t>
            </a:r>
            <a:r>
              <a:rPr spc="275" dirty="0"/>
              <a:t> </a:t>
            </a:r>
            <a:r>
              <a:rPr dirty="0"/>
              <a:t>back </a:t>
            </a:r>
            <a:r>
              <a:rPr spc="-385" dirty="0"/>
              <a:t> </a:t>
            </a:r>
            <a:r>
              <a:rPr spc="-5" dirty="0"/>
              <a:t>tracking</a:t>
            </a:r>
            <a:r>
              <a:rPr spc="20" dirty="0"/>
              <a:t> </a:t>
            </a:r>
            <a:r>
              <a:rPr spc="-5" dirty="0"/>
              <a:t>and</a:t>
            </a:r>
            <a:r>
              <a:rPr dirty="0"/>
              <a:t> pop </a:t>
            </a:r>
            <a:r>
              <a:rPr b="1" spc="-5" dirty="0">
                <a:latin typeface="Times New Roman"/>
                <a:cs typeface="Times New Roman"/>
              </a:rPr>
              <a:t>A </a:t>
            </a:r>
            <a:r>
              <a:rPr dirty="0"/>
              <a:t>from</a:t>
            </a:r>
            <a:r>
              <a:rPr spc="-15" dirty="0"/>
              <a:t> </a:t>
            </a:r>
            <a:r>
              <a:rPr spc="-5" dirty="0"/>
              <a:t>the stack.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49" y="2822600"/>
            <a:ext cx="79317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Here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stack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empty.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So,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stop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traversal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here.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Remove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unnecessary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get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 tree.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9260" y="1318260"/>
            <a:ext cx="3912108" cy="1330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90615" y="1374430"/>
            <a:ext cx="422148" cy="12758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0555" y="3576828"/>
            <a:ext cx="3869436" cy="13274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90694" y="4594352"/>
            <a:ext cx="37426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visited vertices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are: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A,B,C,E,D,F,G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121" y="115976"/>
            <a:ext cx="8001634" cy="478155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Minimum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Trees(MST)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forest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forest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vertices,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meaning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forest</a:t>
            </a:r>
            <a:r>
              <a:rPr sz="1600" dirty="0">
                <a:latin typeface="Times New Roman"/>
                <a:cs typeface="Times New Roman"/>
              </a:rPr>
              <a:t>.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definition,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connected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may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have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endParaRPr sz="1600" dirty="0">
              <a:latin typeface="Times New Roman"/>
              <a:cs typeface="Times New Roman"/>
            </a:endParaRPr>
          </a:p>
          <a:p>
            <a:pPr marL="299085" marR="6985">
              <a:lnSpc>
                <a:spcPct val="150000"/>
              </a:lnSpc>
            </a:pPr>
            <a:r>
              <a:rPr sz="1600" spc="-5" dirty="0">
                <a:latin typeface="Times New Roman"/>
                <a:cs typeface="Times New Roman"/>
              </a:rPr>
              <a:t>disconnected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spanning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forest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forest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40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forms</a:t>
            </a:r>
            <a:r>
              <a:rPr sz="1600" spc="4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4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single-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 subgraph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(reaches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out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called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subgraph.</a:t>
            </a:r>
            <a:endParaRPr sz="16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subgraph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(reaches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to)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original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Among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weighted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graph,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one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(possibly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more)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least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total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called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minimum</a:t>
            </a:r>
            <a:r>
              <a:rPr sz="1600" b="1" spc="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(MST).</a:t>
            </a:r>
            <a:endParaRPr sz="16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Minimum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minimum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total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cost.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have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/>
                <a:cs typeface="Times New Roman"/>
              </a:rPr>
              <a:t>linked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undirected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weight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(or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cost)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combine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edge.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of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would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edges.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909F-6844-73F1-376F-82B76119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1170C4-2769-635A-C975-8D21FCCF76D2}"/>
              </a:ext>
            </a:extLst>
          </p:cNvPr>
          <p:cNvSpPr txBox="1"/>
          <p:nvPr/>
        </p:nvSpPr>
        <p:spPr>
          <a:xfrm>
            <a:off x="541121" y="115976"/>
            <a:ext cx="8001634" cy="382156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Minimum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Trees(MST)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C4FD7-B322-E499-E1DD-B2128D87140D}"/>
              </a:ext>
            </a:extLst>
          </p:cNvPr>
          <p:cNvSpPr txBox="1"/>
          <p:nvPr/>
        </p:nvSpPr>
        <p:spPr>
          <a:xfrm>
            <a:off x="381000" y="971550"/>
            <a:ext cx="7924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Minimum Spanning Tree (MST)</a:t>
            </a:r>
            <a:r>
              <a:rPr lang="en-US" dirty="0"/>
              <a:t> is a subset of edges in a </a:t>
            </a:r>
            <a:r>
              <a:rPr lang="en-US" b="1" dirty="0"/>
              <a:t>connected, weighted graph</a:t>
            </a:r>
            <a:r>
              <a:rPr lang="en-US" dirty="0"/>
              <a:t> that: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Spans all vertices</a:t>
            </a:r>
            <a:r>
              <a:rPr lang="en-US" dirty="0"/>
              <a:t> (i.e., connects all nodes).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Has no cycles</a:t>
            </a:r>
            <a:r>
              <a:rPr lang="en-US" dirty="0"/>
              <a:t> (forms a tree).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Has the minimum possible total edge weight</a:t>
            </a:r>
            <a:r>
              <a:rPr lang="en-US" dirty="0"/>
              <a:t> among all spanning trees.</a:t>
            </a:r>
          </a:p>
        </p:txBody>
      </p:sp>
      <p:pic>
        <p:nvPicPr>
          <p:cNvPr id="1026" name="Picture 2" descr="Minimum Spanning Tree (MST)">
            <a:extLst>
              <a:ext uri="{FF2B5EF4-FFF2-40B4-BE49-F238E27FC236}">
                <a16:creationId xmlns:a16="http://schemas.microsoft.com/office/drawing/2014/main" id="{F5046962-1500-F9C3-3569-48ED11043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643689"/>
            <a:ext cx="3876675" cy="238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34537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9688" y="371983"/>
            <a:ext cx="7966075" cy="2769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100"/>
              </a:lnSpc>
              <a:spcBef>
                <a:spcPts val="120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A spanning tree is a subset of Graph G, which has </a:t>
            </a:r>
            <a:r>
              <a:rPr sz="1600" dirty="0">
                <a:latin typeface="Times New Roman"/>
                <a:cs typeface="Times New Roman"/>
              </a:rPr>
              <a:t>all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vertices </a:t>
            </a:r>
            <a:r>
              <a:rPr sz="1600" spc="-5" dirty="0">
                <a:latin typeface="Times New Roman"/>
                <a:cs typeface="Times New Roman"/>
              </a:rPr>
              <a:t>covered </a:t>
            </a:r>
            <a:r>
              <a:rPr sz="1600" dirty="0">
                <a:latin typeface="Times New Roman"/>
                <a:cs typeface="Times New Roman"/>
              </a:rPr>
              <a:t>with </a:t>
            </a:r>
            <a:r>
              <a:rPr sz="1600" spc="-5" dirty="0">
                <a:latin typeface="Times New Roman"/>
                <a:cs typeface="Times New Roman"/>
              </a:rPr>
              <a:t>minimum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possible number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edges. Hence, a spanning tree </a:t>
            </a:r>
            <a:r>
              <a:rPr sz="1600" dirty="0">
                <a:latin typeface="Times New Roman"/>
                <a:cs typeface="Times New Roman"/>
              </a:rPr>
              <a:t>does not </a:t>
            </a:r>
            <a:r>
              <a:rPr sz="1600" spc="-5" dirty="0">
                <a:latin typeface="Times New Roman"/>
                <a:cs typeface="Times New Roman"/>
              </a:rPr>
              <a:t>have cycles and it cannot </a:t>
            </a:r>
            <a:r>
              <a:rPr sz="1600" dirty="0">
                <a:latin typeface="Times New Roman"/>
                <a:cs typeface="Times New Roman"/>
              </a:rPr>
              <a:t>be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disconnected.</a:t>
            </a:r>
            <a:endParaRPr sz="1600">
              <a:latin typeface="Times New Roman"/>
              <a:cs typeface="Times New Roman"/>
            </a:endParaRPr>
          </a:p>
          <a:p>
            <a:pPr marL="299085" marR="5715" indent="-287020" algn="just">
              <a:lnSpc>
                <a:spcPct val="150000"/>
              </a:lnSpc>
              <a:spcBef>
                <a:spcPts val="120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By this </a:t>
            </a:r>
            <a:r>
              <a:rPr sz="1600" dirty="0">
                <a:latin typeface="Times New Roman"/>
                <a:cs typeface="Times New Roman"/>
              </a:rPr>
              <a:t>definition, </a:t>
            </a:r>
            <a:r>
              <a:rPr sz="1600" spc="-5" dirty="0">
                <a:latin typeface="Times New Roman"/>
                <a:cs typeface="Times New Roman"/>
              </a:rPr>
              <a:t>we </a:t>
            </a:r>
            <a:r>
              <a:rPr sz="1600" spc="-10" dirty="0">
                <a:latin typeface="Times New Roman"/>
                <a:cs typeface="Times New Roman"/>
              </a:rPr>
              <a:t>can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draw </a:t>
            </a:r>
            <a:r>
              <a:rPr sz="1600" spc="-5" dirty="0">
                <a:latin typeface="Times New Roman"/>
                <a:cs typeface="Times New Roman"/>
              </a:rPr>
              <a:t>a conclusion that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every </a:t>
            </a:r>
            <a:r>
              <a:rPr sz="1600" spc="-5" dirty="0">
                <a:latin typeface="Times New Roman"/>
                <a:cs typeface="Times New Roman"/>
              </a:rPr>
              <a:t>connected and undirected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 G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 </a:t>
            </a:r>
            <a:r>
              <a:rPr sz="1600" dirty="0">
                <a:latin typeface="Times New Roman"/>
                <a:cs typeface="Times New Roman"/>
              </a:rPr>
              <a:t>at least one </a:t>
            </a:r>
            <a:r>
              <a:rPr sz="1600" spc="-5" dirty="0">
                <a:latin typeface="Times New Roman"/>
                <a:cs typeface="Times New Roman"/>
              </a:rPr>
              <a:t>spanning tree. A </a:t>
            </a:r>
            <a:r>
              <a:rPr sz="1600" dirty="0">
                <a:latin typeface="Times New Roman"/>
                <a:cs typeface="Times New Roman"/>
              </a:rPr>
              <a:t>disconnected graph does not </a:t>
            </a:r>
            <a:r>
              <a:rPr sz="1600" spc="-5" dirty="0">
                <a:latin typeface="Times New Roman"/>
                <a:cs typeface="Times New Roman"/>
              </a:rPr>
              <a:t>have any spanning tree, as </a:t>
            </a:r>
            <a:r>
              <a:rPr sz="1600" spc="5" dirty="0">
                <a:latin typeface="Times New Roman"/>
                <a:cs typeface="Times New Roman"/>
              </a:rPr>
              <a:t>it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cannot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spanned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 vertices.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6928" y="2825495"/>
            <a:ext cx="3396996" cy="1926336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904" y="112140"/>
            <a:ext cx="8501380" cy="4904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152400" algn="just">
              <a:lnSpc>
                <a:spcPct val="1501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We </a:t>
            </a:r>
            <a:r>
              <a:rPr sz="1500" spc="-5" dirty="0">
                <a:latin typeface="Times New Roman"/>
                <a:cs typeface="Times New Roman"/>
              </a:rPr>
              <a:t>found three spanning trees off </a:t>
            </a:r>
            <a:r>
              <a:rPr sz="1500" dirty="0">
                <a:latin typeface="Times New Roman"/>
                <a:cs typeface="Times New Roman"/>
              </a:rPr>
              <a:t>one </a:t>
            </a:r>
            <a:r>
              <a:rPr sz="1500" spc="-5" dirty="0">
                <a:latin typeface="Times New Roman"/>
                <a:cs typeface="Times New Roman"/>
              </a:rPr>
              <a:t>complete graph. A complete undirected graph </a:t>
            </a:r>
            <a:r>
              <a:rPr sz="1500" spc="-10" dirty="0">
                <a:latin typeface="Times New Roman"/>
                <a:cs typeface="Times New Roman"/>
              </a:rPr>
              <a:t>can </a:t>
            </a:r>
            <a:r>
              <a:rPr sz="1500" dirty="0">
                <a:latin typeface="Times New Roman"/>
                <a:cs typeface="Times New Roman"/>
              </a:rPr>
              <a:t>have </a:t>
            </a:r>
            <a:r>
              <a:rPr sz="1500" spc="-10" dirty="0">
                <a:latin typeface="Times New Roman"/>
                <a:cs typeface="Times New Roman"/>
              </a:rPr>
              <a:t>maximum 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n</a:t>
            </a:r>
            <a:r>
              <a:rPr sz="1500" b="1" spc="-7" baseline="25000" dirty="0">
                <a:latin typeface="Times New Roman"/>
                <a:cs typeface="Times New Roman"/>
              </a:rPr>
              <a:t>n-2</a:t>
            </a:r>
            <a:r>
              <a:rPr sz="1500" b="1" spc="359" baseline="250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 of spanning trees, </a:t>
            </a:r>
            <a:r>
              <a:rPr sz="1500" dirty="0">
                <a:latin typeface="Times New Roman"/>
                <a:cs typeface="Times New Roman"/>
              </a:rPr>
              <a:t>where </a:t>
            </a:r>
            <a:r>
              <a:rPr sz="1500" b="1" spc="-5" dirty="0">
                <a:latin typeface="Times New Roman"/>
                <a:cs typeface="Times New Roman"/>
              </a:rPr>
              <a:t>n </a:t>
            </a:r>
            <a:r>
              <a:rPr sz="1500" spc="-5" dirty="0">
                <a:latin typeface="Times New Roman"/>
                <a:cs typeface="Times New Roman"/>
              </a:rPr>
              <a:t>is the number </a:t>
            </a:r>
            <a:r>
              <a:rPr sz="1500" dirty="0">
                <a:latin typeface="Times New Roman"/>
                <a:cs typeface="Times New Roman"/>
              </a:rPr>
              <a:t>of </a:t>
            </a:r>
            <a:r>
              <a:rPr sz="1500" spc="-5" dirty="0">
                <a:latin typeface="Times New Roman"/>
                <a:cs typeface="Times New Roman"/>
              </a:rPr>
              <a:t>nodes. </a:t>
            </a:r>
            <a:r>
              <a:rPr sz="1500" dirty="0">
                <a:latin typeface="Times New Roman"/>
                <a:cs typeface="Times New Roman"/>
              </a:rPr>
              <a:t>In the </a:t>
            </a:r>
            <a:r>
              <a:rPr sz="1500" spc="-5" dirty="0">
                <a:latin typeface="Times New Roman"/>
                <a:cs typeface="Times New Roman"/>
              </a:rPr>
              <a:t>above </a:t>
            </a:r>
            <a:r>
              <a:rPr sz="1500" spc="-10" dirty="0">
                <a:latin typeface="Times New Roman"/>
                <a:cs typeface="Times New Roman"/>
              </a:rPr>
              <a:t>example, </a:t>
            </a:r>
            <a:r>
              <a:rPr sz="1500" b="1" spc="-5" dirty="0">
                <a:latin typeface="Times New Roman"/>
                <a:cs typeface="Times New Roman"/>
              </a:rPr>
              <a:t>n is </a:t>
            </a:r>
            <a:r>
              <a:rPr sz="1500" b="1" dirty="0">
                <a:latin typeface="Times New Roman"/>
                <a:cs typeface="Times New Roman"/>
              </a:rPr>
              <a:t>3, </a:t>
            </a:r>
            <a:r>
              <a:rPr sz="1500" spc="-5" dirty="0">
                <a:latin typeface="Times New Roman"/>
                <a:cs typeface="Times New Roman"/>
              </a:rPr>
              <a:t>hence </a:t>
            </a:r>
            <a:r>
              <a:rPr sz="1500" b="1" dirty="0">
                <a:latin typeface="Times New Roman"/>
                <a:cs typeface="Times New Roman"/>
              </a:rPr>
              <a:t>3</a:t>
            </a:r>
            <a:r>
              <a:rPr sz="1500" b="1" baseline="25000" dirty="0">
                <a:latin typeface="Times New Roman"/>
                <a:cs typeface="Times New Roman"/>
              </a:rPr>
              <a:t>3-2</a:t>
            </a:r>
            <a:r>
              <a:rPr sz="1500" b="1" spc="375" baseline="2500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= 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spanning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trees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possible.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266700" algn="just">
              <a:lnSpc>
                <a:spcPct val="100000"/>
              </a:lnSpc>
            </a:pPr>
            <a:r>
              <a:rPr sz="1500" b="1" spc="-5" dirty="0">
                <a:latin typeface="Times New Roman"/>
                <a:cs typeface="Times New Roman"/>
              </a:rPr>
              <a:t>General</a:t>
            </a:r>
            <a:r>
              <a:rPr sz="1500" b="1" spc="28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Properties</a:t>
            </a:r>
            <a:r>
              <a:rPr sz="1500" b="1" spc="27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28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Spanning</a:t>
            </a:r>
            <a:r>
              <a:rPr sz="1500" b="1" spc="29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Tree:</a:t>
            </a:r>
            <a:r>
              <a:rPr sz="1500" b="1" spc="2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now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understand</a:t>
            </a:r>
            <a:r>
              <a:rPr sz="1500" spc="2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25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graph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can</a:t>
            </a:r>
            <a:r>
              <a:rPr sz="1500" spc="2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more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than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endParaRPr sz="1500">
              <a:latin typeface="Times New Roman"/>
              <a:cs typeface="Times New Roman"/>
            </a:endParaRPr>
          </a:p>
          <a:p>
            <a:pPr marL="266700" algn="just">
              <a:lnSpc>
                <a:spcPct val="100000"/>
              </a:lnSpc>
              <a:spcBef>
                <a:spcPts val="905"/>
              </a:spcBef>
            </a:pPr>
            <a:r>
              <a:rPr sz="1500" dirty="0">
                <a:latin typeface="Times New Roman"/>
                <a:cs typeface="Times New Roman"/>
              </a:rPr>
              <a:t>spanning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Following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few </a:t>
            </a:r>
            <a:r>
              <a:rPr sz="1500" dirty="0">
                <a:latin typeface="Times New Roman"/>
                <a:cs typeface="Times New Roman"/>
              </a:rPr>
              <a:t>properties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spanning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connected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-5" dirty="0">
                <a:latin typeface="Times New Roman"/>
                <a:cs typeface="Times New Roman"/>
              </a:rPr>
              <a:t> G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419100" indent="-342900">
              <a:lnSpc>
                <a:spcPct val="100000"/>
              </a:lnSpc>
              <a:buSzPct val="93333"/>
              <a:buFont typeface="Symbol"/>
              <a:buChar char=""/>
              <a:tabLst>
                <a:tab pos="418465" algn="l"/>
                <a:tab pos="419100" algn="l"/>
              </a:tabLst>
            </a:pP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connected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</a:t>
            </a:r>
            <a:r>
              <a:rPr sz="1500" spc="-10" dirty="0">
                <a:latin typeface="Times New Roman"/>
                <a:cs typeface="Times New Roman"/>
              </a:rPr>
              <a:t> can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more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spanning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650">
              <a:latin typeface="Times New Roman"/>
              <a:cs typeface="Times New Roman"/>
            </a:endParaRPr>
          </a:p>
          <a:p>
            <a:pPr marL="419100" indent="-342900">
              <a:lnSpc>
                <a:spcPct val="100000"/>
              </a:lnSpc>
              <a:spcBef>
                <a:spcPts val="5"/>
              </a:spcBef>
              <a:buSzPct val="93333"/>
              <a:buFont typeface="Symbol"/>
              <a:buChar char=""/>
              <a:tabLst>
                <a:tab pos="418465" algn="l"/>
                <a:tab pos="419100" algn="l"/>
              </a:tabLst>
            </a:pPr>
            <a:r>
              <a:rPr sz="1500" spc="-5" dirty="0">
                <a:latin typeface="Times New Roman"/>
                <a:cs typeface="Times New Roman"/>
              </a:rPr>
              <a:t>All</a:t>
            </a:r>
            <a:r>
              <a:rPr sz="1500" dirty="0">
                <a:latin typeface="Times New Roman"/>
                <a:cs typeface="Times New Roman"/>
              </a:rPr>
              <a:t> possible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spanning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 graph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same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and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vertices.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419100" indent="-342900">
              <a:lnSpc>
                <a:spcPct val="100000"/>
              </a:lnSpc>
              <a:buSzPct val="93333"/>
              <a:buFont typeface="Symbol"/>
              <a:buChar char=""/>
              <a:tabLst>
                <a:tab pos="418465" algn="l"/>
                <a:tab pos="419100" algn="l"/>
              </a:tabLst>
            </a:pP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spanning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does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any </a:t>
            </a:r>
            <a:r>
              <a:rPr sz="1500" spc="-10" dirty="0">
                <a:latin typeface="Times New Roman"/>
                <a:cs typeface="Times New Roman"/>
              </a:rPr>
              <a:t>cycle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(loops).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419100" indent="-342900">
              <a:lnSpc>
                <a:spcPct val="100000"/>
              </a:lnSpc>
              <a:buSzPct val="93333"/>
              <a:buFont typeface="Symbol"/>
              <a:buChar char=""/>
              <a:tabLst>
                <a:tab pos="418465" algn="l"/>
                <a:tab pos="419100" algn="l"/>
              </a:tabLst>
            </a:pPr>
            <a:r>
              <a:rPr sz="1500" spc="-5" dirty="0">
                <a:latin typeface="Times New Roman"/>
                <a:cs typeface="Times New Roman"/>
              </a:rPr>
              <a:t>Removing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spanning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will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make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graph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disconnected,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i.e.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spanning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tree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endParaRPr sz="150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minimally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connected.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419100" indent="-342900">
              <a:lnSpc>
                <a:spcPct val="100000"/>
              </a:lnSpc>
              <a:spcBef>
                <a:spcPts val="5"/>
              </a:spcBef>
              <a:buSzPct val="93333"/>
              <a:buFont typeface="Symbol"/>
              <a:buChar char=""/>
              <a:tabLst>
                <a:tab pos="418465" algn="l"/>
                <a:tab pos="419100" algn="l"/>
              </a:tabLst>
            </a:pPr>
            <a:r>
              <a:rPr sz="1500" spc="-5" dirty="0">
                <a:latin typeface="Times New Roman"/>
                <a:cs typeface="Times New Roman"/>
              </a:rPr>
              <a:t>Adding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one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spanning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tree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will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circuit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loop,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i.e.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spanning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maximally</a:t>
            </a:r>
            <a:endParaRPr sz="150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spcBef>
                <a:spcPts val="900"/>
              </a:spcBef>
            </a:pPr>
            <a:r>
              <a:rPr sz="1500" b="1" spc="-5" dirty="0">
                <a:latin typeface="Times New Roman"/>
                <a:cs typeface="Times New Roman"/>
              </a:rPr>
              <a:t>acyclic</a:t>
            </a:r>
            <a:r>
              <a:rPr sz="1500" spc="-5" dirty="0">
                <a:latin typeface="Times New Roman"/>
                <a:cs typeface="Times New Roman"/>
              </a:rPr>
              <a:t>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" y="1216007"/>
            <a:ext cx="3019851" cy="22780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040" y="1583461"/>
            <a:ext cx="3495674" cy="2105371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054" y="454279"/>
            <a:ext cx="7939405" cy="23256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Generic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MST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600" dirty="0"/>
              <a:t>A </a:t>
            </a:r>
            <a:r>
              <a:rPr lang="en-US" sz="1600" b="1" dirty="0"/>
              <a:t>greedy algorithm</a:t>
            </a:r>
            <a:r>
              <a:rPr lang="en-US" sz="1600" dirty="0"/>
              <a:t> is an approach where we make the best possible choice at each step, hoping to find the global optimum. It </a:t>
            </a:r>
            <a:r>
              <a:rPr lang="en-US" sz="1600" b="1" dirty="0"/>
              <a:t>does not always guarantee the optimal solution</a:t>
            </a:r>
            <a:r>
              <a:rPr lang="en-US" sz="1600" dirty="0"/>
              <a:t> for every problem, but it works well for problems like </a:t>
            </a:r>
            <a:r>
              <a:rPr lang="en-US" sz="1600" b="1" dirty="0"/>
              <a:t>Minimum Spanning Tree (MST)</a:t>
            </a:r>
            <a:r>
              <a:rPr lang="en-US" sz="1600" dirty="0"/>
              <a:t>. 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greedy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algorithm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only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chance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compute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optimal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thus,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cannot</a:t>
            </a:r>
            <a:endParaRPr sz="16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go back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look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alternate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solutions.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Times New Roman"/>
                <a:cs typeface="Times New Roman"/>
              </a:rPr>
              <a:t>Example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2876550"/>
            <a:ext cx="2439054" cy="1504288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915" y="319785"/>
            <a:ext cx="8083550" cy="473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To </a:t>
            </a:r>
            <a:r>
              <a:rPr sz="1500" dirty="0">
                <a:latin typeface="Times New Roman"/>
                <a:cs typeface="Times New Roman"/>
              </a:rPr>
              <a:t>find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path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largest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sum.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latin typeface="Times New Roman"/>
                <a:cs typeface="Times New Roman"/>
              </a:rPr>
              <a:t>Following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steps are followed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 find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solution: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1: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Initialize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Select</a:t>
            </a:r>
            <a:r>
              <a:rPr sz="1500" dirty="0">
                <a:latin typeface="Times New Roman"/>
                <a:cs typeface="Times New Roman"/>
              </a:rPr>
              <a:t> 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root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node,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 </a:t>
            </a:r>
            <a:r>
              <a:rPr sz="1500" spc="-5" dirty="0">
                <a:latin typeface="Times New Roman"/>
                <a:cs typeface="Times New Roman"/>
              </a:rPr>
              <a:t>0+8</a:t>
            </a:r>
            <a:r>
              <a:rPr sz="1500" dirty="0">
                <a:latin typeface="Times New Roman"/>
                <a:cs typeface="Times New Roman"/>
              </a:rPr>
              <a:t> = 8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3: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algorithm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compares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next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level,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selects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largest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which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12,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so,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sum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8+12=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dirty="0">
                <a:latin typeface="Times New Roman"/>
                <a:cs typeface="Times New Roman"/>
              </a:rPr>
              <a:t>20.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latin typeface="Times New Roman"/>
                <a:cs typeface="Times New Roman"/>
              </a:rPr>
              <a:t>Step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4: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algorithm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compares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nodes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next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level,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selects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largest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node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which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10,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making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30.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spcBef>
                <a:spcPts val="8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Thus,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using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greedy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algorithm,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get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8-12-10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as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path.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But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this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not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optimal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solution,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since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path </a:t>
            </a:r>
            <a:r>
              <a:rPr sz="1500" dirty="0">
                <a:latin typeface="Times New Roman"/>
                <a:cs typeface="Times New Roman"/>
              </a:rPr>
              <a:t>8-2-89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has</a:t>
            </a:r>
            <a:r>
              <a:rPr sz="1500" dirty="0">
                <a:latin typeface="Times New Roman"/>
                <a:cs typeface="Times New Roman"/>
              </a:rPr>
              <a:t> 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largest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sum</a:t>
            </a:r>
            <a:r>
              <a:rPr sz="1500" spc="-5" dirty="0">
                <a:latin typeface="Times New Roman"/>
                <a:cs typeface="Times New Roman"/>
              </a:rPr>
              <a:t> i,e.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99.</a:t>
            </a:r>
            <a:endParaRPr sz="1500">
              <a:latin typeface="Times New Roman"/>
              <a:cs typeface="Times New Roman"/>
            </a:endParaRPr>
          </a:p>
          <a:p>
            <a:pPr marL="299085" marR="5715" indent="-287020">
              <a:lnSpc>
                <a:spcPct val="1500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500" spc="-5" dirty="0">
                <a:latin typeface="Times New Roman"/>
                <a:cs typeface="Times New Roman"/>
              </a:rPr>
              <a:t>This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happens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because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algorithm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makes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decision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based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information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available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at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each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step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considering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overall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problem.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772" y="547522"/>
            <a:ext cx="6920230" cy="331851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latin typeface="Times New Roman"/>
                <a:cs typeface="Times New Roman"/>
              </a:rPr>
              <a:t>Most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networking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greedy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approach.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few</a:t>
            </a:r>
            <a:r>
              <a:rPr sz="1600" dirty="0">
                <a:latin typeface="Times New Roman"/>
                <a:cs typeface="Times New Roman"/>
              </a:rPr>
              <a:t>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−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Travelling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Salesman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Problem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Prim's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Minimal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Kruskal's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Minimal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Dijkstra's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Minimal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-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Map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Coloring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-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Cover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Knapsack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Problem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Job Scheduling Problem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848" y="403631"/>
            <a:ext cx="7569834" cy="441579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Applications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MST:</a:t>
            </a:r>
            <a:endParaRPr sz="1600">
              <a:latin typeface="Times New Roman"/>
              <a:cs typeface="Times New Roman"/>
            </a:endParaRPr>
          </a:p>
          <a:p>
            <a:pPr marL="297180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180" algn="l"/>
                <a:tab pos="297815" algn="l"/>
                <a:tab pos="1245870" algn="l"/>
                <a:tab pos="2117090" algn="l"/>
                <a:tab pos="2635250" algn="l"/>
                <a:tab pos="3018155" algn="l"/>
                <a:tab pos="3527425" algn="l"/>
                <a:tab pos="3898900" algn="l"/>
                <a:tab pos="4699000" algn="l"/>
                <a:tab pos="5445125" algn="l"/>
                <a:tab pos="5895975" algn="l"/>
                <a:tab pos="6824345" algn="l"/>
                <a:tab pos="7127875" algn="l"/>
              </a:tabLst>
            </a:pPr>
            <a:r>
              <a:rPr sz="1600" spc="-5" dirty="0">
                <a:latin typeface="Times New Roman"/>
                <a:cs typeface="Times New Roman"/>
              </a:rPr>
              <a:t>Min</a:t>
            </a:r>
            <a:r>
              <a:rPr sz="1600" spc="20" dirty="0">
                <a:latin typeface="Times New Roman"/>
                <a:cs typeface="Times New Roman"/>
              </a:rPr>
              <a:t>i</a:t>
            </a:r>
            <a:r>
              <a:rPr sz="1600" spc="-25" dirty="0">
                <a:latin typeface="Times New Roman"/>
                <a:cs typeface="Times New Roman"/>
              </a:rPr>
              <a:t>m</a:t>
            </a:r>
            <a:r>
              <a:rPr sz="1600" spc="20" dirty="0">
                <a:latin typeface="Times New Roman"/>
                <a:cs typeface="Times New Roman"/>
              </a:rPr>
              <a:t>u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5" dirty="0">
                <a:latin typeface="Times New Roman"/>
                <a:cs typeface="Times New Roman"/>
              </a:rPr>
              <a:t>ann</a:t>
            </a:r>
            <a:r>
              <a:rPr sz="1600" spc="5" dirty="0">
                <a:latin typeface="Times New Roman"/>
                <a:cs typeface="Times New Roman"/>
              </a:rPr>
              <a:t>i</a:t>
            </a:r>
            <a:r>
              <a:rPr sz="1600" spc="-5" dirty="0">
                <a:latin typeface="Times New Roman"/>
                <a:cs typeface="Times New Roman"/>
              </a:rPr>
              <a:t>ng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us</a:t>
            </a:r>
            <a:r>
              <a:rPr sz="1600" spc="5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dirty="0">
                <a:latin typeface="Times New Roman"/>
                <a:cs typeface="Times New Roman"/>
              </a:rPr>
              <a:t>	f</a:t>
            </a:r>
            <a:r>
              <a:rPr sz="1600" spc="-5" dirty="0">
                <a:latin typeface="Times New Roman"/>
                <a:cs typeface="Times New Roman"/>
              </a:rPr>
              <a:t>or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network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desi</a:t>
            </a: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-5" dirty="0">
                <a:latin typeface="Times New Roman"/>
                <a:cs typeface="Times New Roman"/>
              </a:rPr>
              <a:t>ns</a:t>
            </a:r>
            <a:r>
              <a:rPr sz="1600" dirty="0">
                <a:latin typeface="Times New Roman"/>
                <a:cs typeface="Times New Roman"/>
              </a:rPr>
              <a:t>	(</a:t>
            </a:r>
            <a:r>
              <a:rPr sz="1600" spc="-5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r>
              <a:rPr sz="1600" spc="5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.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le</a:t>
            </a:r>
            <a:r>
              <a:rPr sz="1600" spc="10" dirty="0">
                <a:latin typeface="Times New Roman"/>
                <a:cs typeface="Times New Roman"/>
              </a:rPr>
              <a:t>p</a:t>
            </a:r>
            <a:r>
              <a:rPr sz="1600" spc="-5" dirty="0">
                <a:latin typeface="Times New Roman"/>
                <a:cs typeface="Times New Roman"/>
              </a:rPr>
              <a:t>hone</a:t>
            </a:r>
            <a:r>
              <a:rPr sz="1600" dirty="0">
                <a:latin typeface="Times New Roman"/>
                <a:cs typeface="Times New Roman"/>
              </a:rPr>
              <a:t>	o</a:t>
            </a:r>
            <a:r>
              <a:rPr sz="1600" spc="-5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cable</a:t>
            </a:r>
            <a:endParaRPr sz="16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networks).</a:t>
            </a:r>
            <a:endParaRPr sz="160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50000"/>
              </a:lnSpc>
              <a:buFont typeface="Arial MT"/>
              <a:buChar char="•"/>
              <a:tabLst>
                <a:tab pos="297180" algn="l"/>
                <a:tab pos="297815" algn="l"/>
              </a:tabLst>
            </a:pPr>
            <a:r>
              <a:rPr sz="1600" spc="-5" dirty="0">
                <a:latin typeface="Times New Roman"/>
                <a:cs typeface="Times New Roman"/>
              </a:rPr>
              <a:t>They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also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approximate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solutions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complex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mathematical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like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Traveling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Salesman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Problem.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diverse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applications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include:</a:t>
            </a:r>
            <a:endParaRPr sz="1600">
              <a:latin typeface="Times New Roman"/>
              <a:cs typeface="Times New Roman"/>
            </a:endParaRPr>
          </a:p>
          <a:p>
            <a:pPr marL="869315" lvl="1" indent="-22987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869315" algn="l"/>
                <a:tab pos="869950" algn="l"/>
              </a:tabLst>
            </a:pPr>
            <a:r>
              <a:rPr sz="1600" spc="-5" dirty="0">
                <a:latin typeface="Times New Roman"/>
                <a:cs typeface="Times New Roman"/>
              </a:rPr>
              <a:t>Cluster Analysis.</a:t>
            </a:r>
            <a:endParaRPr sz="1600">
              <a:latin typeface="Times New Roman"/>
              <a:cs typeface="Times New Roman"/>
            </a:endParaRPr>
          </a:p>
          <a:p>
            <a:pPr marL="869315" marR="5080" lvl="1" indent="-229235">
              <a:lnSpc>
                <a:spcPct val="150000"/>
              </a:lnSpc>
              <a:spcBef>
                <a:spcPts val="5"/>
              </a:spcBef>
              <a:buSzPct val="62500"/>
              <a:buFont typeface="Symbol"/>
              <a:buChar char=""/>
              <a:tabLst>
                <a:tab pos="869315" algn="l"/>
                <a:tab pos="869950" algn="l"/>
              </a:tabLst>
            </a:pPr>
            <a:r>
              <a:rPr sz="1600" dirty="0">
                <a:latin typeface="Times New Roman"/>
                <a:cs typeface="Times New Roman"/>
              </a:rPr>
              <a:t>Real-time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face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tracking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verification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(i.e.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locating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human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faces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video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stream).</a:t>
            </a:r>
            <a:endParaRPr sz="1600">
              <a:latin typeface="Times New Roman"/>
              <a:cs typeface="Times New Roman"/>
            </a:endParaRPr>
          </a:p>
          <a:p>
            <a:pPr marL="869315" lvl="1" indent="-22987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869315" algn="l"/>
                <a:tab pos="869950" algn="l"/>
              </a:tabLst>
            </a:pPr>
            <a:r>
              <a:rPr sz="1600" spc="-5" dirty="0">
                <a:latin typeface="Times New Roman"/>
                <a:cs typeface="Times New Roman"/>
              </a:rPr>
              <a:t>Protocols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computer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science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avoid </a:t>
            </a:r>
            <a:r>
              <a:rPr sz="1600" spc="-5" dirty="0">
                <a:latin typeface="Times New Roman"/>
                <a:cs typeface="Times New Roman"/>
              </a:rPr>
              <a:t>network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cycles.</a:t>
            </a:r>
            <a:endParaRPr sz="1600">
              <a:latin typeface="Times New Roman"/>
              <a:cs typeface="Times New Roman"/>
            </a:endParaRPr>
          </a:p>
          <a:p>
            <a:pPr marL="869315" lvl="1" indent="-22987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869315" algn="l"/>
                <a:tab pos="869950" algn="l"/>
              </a:tabLst>
            </a:pPr>
            <a:r>
              <a:rPr sz="1600" spc="-5" dirty="0">
                <a:latin typeface="Times New Roman"/>
                <a:cs typeface="Times New Roman"/>
              </a:rPr>
              <a:t>Entropy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based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image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registration.</a:t>
            </a:r>
            <a:endParaRPr sz="1600">
              <a:latin typeface="Times New Roman"/>
              <a:cs typeface="Times New Roman"/>
            </a:endParaRPr>
          </a:p>
          <a:p>
            <a:pPr marL="869315" lvl="1" indent="-22987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869315" algn="l"/>
                <a:tab pos="869950" algn="l"/>
              </a:tabLst>
            </a:pPr>
            <a:r>
              <a:rPr sz="1600" spc="-5" dirty="0">
                <a:latin typeface="Times New Roman"/>
                <a:cs typeface="Times New Roman"/>
              </a:rPr>
              <a:t>Max bottleneck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paths.</a:t>
            </a:r>
            <a:endParaRPr sz="1600">
              <a:latin typeface="Times New Roman"/>
              <a:cs typeface="Times New Roman"/>
            </a:endParaRPr>
          </a:p>
          <a:p>
            <a:pPr marL="869315" lvl="1" indent="-229870">
              <a:lnSpc>
                <a:spcPct val="100000"/>
              </a:lnSpc>
              <a:spcBef>
                <a:spcPts val="960"/>
              </a:spcBef>
              <a:buSzPct val="62500"/>
              <a:buFont typeface="Symbol"/>
              <a:buChar char=""/>
              <a:tabLst>
                <a:tab pos="869315" algn="l"/>
                <a:tab pos="869950" algn="l"/>
              </a:tabLst>
            </a:pPr>
            <a:r>
              <a:rPr sz="1600" spc="-5" dirty="0">
                <a:latin typeface="Times New Roman"/>
                <a:cs typeface="Times New Roman"/>
              </a:rPr>
              <a:t>Dithering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(adding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white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noise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digital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recording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order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reduce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distortion)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666" y="255501"/>
            <a:ext cx="7882890" cy="451866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65"/>
              </a:spcBef>
            </a:pPr>
            <a:r>
              <a:rPr sz="1600" b="1" spc="-5" dirty="0">
                <a:latin typeface="Times New Roman"/>
                <a:cs typeface="Times New Roman"/>
              </a:rPr>
              <a:t>Spanning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Tree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Algorithms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212121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Kruskal's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212121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Prim's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212121"/>
              </a:buClr>
              <a:buAutoNum type="arabi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Round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Robin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Times New Roman"/>
                <a:cs typeface="Times New Roman"/>
              </a:rPr>
              <a:t>Kruskal's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5" dirty="0">
                <a:latin typeface="Times New Roman"/>
                <a:cs typeface="Times New Roman"/>
              </a:rPr>
              <a:t>Prim’s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Kruskal’s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famous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greedy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algorithms.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Kruskal's</a:t>
            </a:r>
            <a:r>
              <a:rPr sz="1600" b="1" spc="2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algorithm</a:t>
            </a:r>
            <a:r>
              <a:rPr sz="1600" b="1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minimum-spanning-tree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algorithm</a:t>
            </a:r>
            <a:r>
              <a:rPr sz="1600" b="1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least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possible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forest.</a:t>
            </a:r>
            <a:endParaRPr sz="1600">
              <a:latin typeface="Times New Roman"/>
              <a:cs typeface="Times New Roman"/>
            </a:endParaRPr>
          </a:p>
          <a:p>
            <a:pPr marL="299085" marR="7620" indent="-287020">
              <a:lnSpc>
                <a:spcPts val="2880"/>
              </a:lnSpc>
              <a:spcBef>
                <a:spcPts val="254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greedy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theory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minimum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adding </a:t>
            </a:r>
            <a:r>
              <a:rPr sz="1600" spc="-5" dirty="0">
                <a:latin typeface="Times New Roman"/>
                <a:cs typeface="Times New Roman"/>
              </a:rPr>
              <a:t>increasing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arcs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step.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288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ordering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representing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blue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test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whether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blue tree.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848" y="433578"/>
            <a:ext cx="8058784" cy="3942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latin typeface="Times New Roman"/>
                <a:cs typeface="Times New Roman"/>
              </a:rPr>
              <a:t>Step</a:t>
            </a:r>
            <a:r>
              <a:rPr sz="1600" b="1" spc="6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to</a:t>
            </a:r>
            <a:r>
              <a:rPr sz="1600" b="1" spc="55" dirty="0">
                <a:latin typeface="Times New Roman"/>
                <a:cs typeface="Times New Roman"/>
              </a:rPr>
              <a:t> </a:t>
            </a:r>
            <a:r>
              <a:rPr sz="1600" b="1" spc="10" dirty="0">
                <a:latin typeface="Times New Roman"/>
                <a:cs typeface="Times New Roman"/>
              </a:rPr>
              <a:t>Kruskal’s</a:t>
            </a:r>
            <a:r>
              <a:rPr sz="1600" b="1" spc="114" dirty="0">
                <a:latin typeface="Times New Roman"/>
                <a:cs typeface="Times New Roman"/>
              </a:rPr>
              <a:t> </a:t>
            </a:r>
            <a:r>
              <a:rPr sz="1600" b="1" spc="1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10" dirty="0">
                <a:latin typeface="Times New Roman"/>
                <a:cs typeface="Times New Roman"/>
              </a:rPr>
              <a:t>Sort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the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graph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with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respect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their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weights.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15" dirty="0">
                <a:latin typeface="Times New Roman"/>
                <a:cs typeface="Times New Roman"/>
              </a:rPr>
              <a:t>Start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adding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edges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the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minimum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spanning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tree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from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the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with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the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smallest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weight</a:t>
            </a:r>
            <a:endParaRPr sz="16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960"/>
              </a:spcBef>
            </a:pPr>
            <a:r>
              <a:rPr sz="1600" spc="15" dirty="0">
                <a:latin typeface="Times New Roman"/>
                <a:cs typeface="Times New Roman"/>
              </a:rPr>
              <a:t>until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the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of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the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largest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weight.</a:t>
            </a:r>
            <a:endParaRPr sz="1600">
              <a:latin typeface="Times New Roman"/>
              <a:cs typeface="Times New Roman"/>
            </a:endParaRPr>
          </a:p>
          <a:p>
            <a:pPr marL="354965" marR="6350" indent="-342900">
              <a:lnSpc>
                <a:spcPct val="150000"/>
              </a:lnSpc>
              <a:spcBef>
                <a:spcPts val="790"/>
              </a:spcBef>
              <a:buSzPct val="62500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600" spc="10" dirty="0">
                <a:latin typeface="Times New Roman"/>
                <a:cs typeface="Times New Roman"/>
              </a:rPr>
              <a:t>Only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add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which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don’t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form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cycle—edges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which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connect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only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disconnected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components.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Or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simpler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explanation,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10" dirty="0">
                <a:latin typeface="Times New Roman"/>
                <a:cs typeface="Times New Roman"/>
              </a:rPr>
              <a:t>Remove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all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loops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and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parallel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edges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15" dirty="0">
                <a:latin typeface="Times New Roman"/>
                <a:cs typeface="Times New Roman"/>
              </a:rPr>
              <a:t>Arrange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all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the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ascending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order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of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cost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10" dirty="0">
                <a:latin typeface="Times New Roman"/>
                <a:cs typeface="Times New Roman"/>
              </a:rPr>
              <a:t>Add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edges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with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least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weight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565" y="443865"/>
            <a:ext cx="1040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Times New Roman"/>
                <a:cs typeface="Times New Roman"/>
              </a:rPr>
              <a:t>Pseudocode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4565" y="1000505"/>
            <a:ext cx="3347085" cy="3752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KRUSKAL(G):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∅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For each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∈</a:t>
            </a:r>
            <a:r>
              <a:rPr sz="1600" spc="3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G.V:</a:t>
            </a:r>
            <a:endParaRPr sz="16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MAKE-SET(v)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each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(u,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v)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∈</a:t>
            </a:r>
            <a:r>
              <a:rPr sz="1600" spc="24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G.E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ordered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increasing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order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 </a:t>
            </a:r>
            <a:r>
              <a:rPr sz="1600" dirty="0">
                <a:latin typeface="Times New Roman"/>
                <a:cs typeface="Times New Roman"/>
              </a:rPr>
              <a:t>weight(u,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v):</a:t>
            </a:r>
            <a:endParaRPr sz="16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FIND-SET(u)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≠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FIND-SET(v):</a:t>
            </a:r>
            <a:endParaRPr sz="16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65" dirty="0">
                <a:latin typeface="Cambria Math"/>
                <a:cs typeface="Cambria Math"/>
              </a:rPr>
              <a:t>𝖴</a:t>
            </a:r>
            <a:r>
              <a:rPr sz="1600" spc="3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{(u, v)}</a:t>
            </a:r>
            <a:endParaRPr sz="16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UNION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(u,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4404" y="1742058"/>
            <a:ext cx="3676015" cy="212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Kruskal’s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Algorithm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preferred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when-</a:t>
            </a: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sparse.</a:t>
            </a:r>
            <a:endParaRPr sz="15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50000"/>
              </a:lnSpc>
              <a:spcBef>
                <a:spcPts val="6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There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less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number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like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 </a:t>
            </a:r>
            <a:r>
              <a:rPr sz="1500" spc="-5" dirty="0">
                <a:latin typeface="Times New Roman"/>
                <a:cs typeface="Times New Roman"/>
              </a:rPr>
              <a:t>O(V)</a:t>
            </a: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4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spc="4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already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sorted</a:t>
            </a:r>
            <a:r>
              <a:rPr sz="1500" spc="4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or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can</a:t>
            </a:r>
            <a:r>
              <a:rPr sz="1500" spc="4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endParaRPr sz="15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905"/>
              </a:spcBef>
            </a:pPr>
            <a:r>
              <a:rPr sz="1500" dirty="0">
                <a:latin typeface="Times New Roman"/>
                <a:cs typeface="Times New Roman"/>
              </a:rPr>
              <a:t>sorted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linear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time.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067" y="307847"/>
            <a:ext cx="4232644" cy="470154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08203"/>
            <a:ext cx="7830184" cy="433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Prim’s</a:t>
            </a:r>
            <a:r>
              <a:rPr sz="1500" b="1" spc="-5" dirty="0">
                <a:latin typeface="Times New Roman"/>
                <a:cs typeface="Times New Roman"/>
              </a:rPr>
              <a:t> Algorithm:</a:t>
            </a: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used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finding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Minimum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Spanning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(MST)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given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graph.</a:t>
            </a:r>
            <a:endParaRPr sz="1500">
              <a:latin typeface="Times New Roman"/>
              <a:cs typeface="Times New Roman"/>
            </a:endParaRPr>
          </a:p>
          <a:p>
            <a:pPr marL="12700" marR="685800">
              <a:lnSpc>
                <a:spcPts val="3300"/>
              </a:lnSpc>
              <a:spcBef>
                <a:spcPts val="359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To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apply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Prim’s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algorithm,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given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-5" dirty="0">
                <a:latin typeface="Times New Roman"/>
                <a:cs typeface="Times New Roman"/>
              </a:rPr>
              <a:t> must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 </a:t>
            </a:r>
            <a:r>
              <a:rPr sz="1500" spc="-5" dirty="0">
                <a:latin typeface="Times New Roman"/>
                <a:cs typeface="Times New Roman"/>
              </a:rPr>
              <a:t>weighted,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connected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undirected.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implementation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Prim’s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Algorithm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explained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steps-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Step-1:</a:t>
            </a: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Randomly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choose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any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vertex.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spc="-5" dirty="0">
                <a:latin typeface="Times New Roman"/>
                <a:cs typeface="Times New Roman"/>
              </a:rPr>
              <a:t>The vertex connecting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 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 having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least</a:t>
            </a:r>
            <a:r>
              <a:rPr sz="1500" dirty="0">
                <a:latin typeface="Times New Roman"/>
                <a:cs typeface="Times New Roman"/>
              </a:rPr>
              <a:t> weight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is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usually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selected.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b="1" dirty="0">
                <a:latin typeface="Times New Roman"/>
                <a:cs typeface="Times New Roman"/>
              </a:rPr>
              <a:t>Step-2:</a:t>
            </a:r>
            <a:endParaRPr sz="1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dirty="0">
                <a:latin typeface="Times New Roman"/>
                <a:cs typeface="Times New Roman"/>
              </a:rPr>
              <a:t>Find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all</a:t>
            </a:r>
            <a:r>
              <a:rPr sz="1500" dirty="0">
                <a:latin typeface="Times New Roman"/>
                <a:cs typeface="Times New Roman"/>
              </a:rPr>
              <a:t> 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connect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new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vertices.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dirty="0">
                <a:latin typeface="Times New Roman"/>
                <a:cs typeface="Times New Roman"/>
              </a:rPr>
              <a:t>Find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least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 edge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among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those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dirty="0">
                <a:latin typeface="Times New Roman"/>
                <a:cs typeface="Times New Roman"/>
              </a:rPr>
              <a:t> 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include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" dirty="0">
                <a:latin typeface="Times New Roman"/>
                <a:cs typeface="Times New Roman"/>
              </a:rPr>
              <a:t> existing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66666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including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creates</a:t>
            </a:r>
            <a:r>
              <a:rPr sz="1500" dirty="0">
                <a:latin typeface="Times New Roman"/>
                <a:cs typeface="Times New Roman"/>
              </a:rPr>
              <a:t> a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cycle,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reject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that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 and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look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next least weight edge.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417" y="454863"/>
            <a:ext cx="788924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Step-3:</a:t>
            </a:r>
            <a:endParaRPr sz="1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50000"/>
              </a:lnSpc>
              <a:spcBef>
                <a:spcPts val="300"/>
              </a:spcBef>
              <a:buSzPct val="71428"/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400" spc="-5" dirty="0">
                <a:latin typeface="Times New Roman"/>
                <a:cs typeface="Times New Roman"/>
              </a:rPr>
              <a:t>Keep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repeating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step-02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until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all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vertices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are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included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Minimum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Spanning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Tree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(MST)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is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obtained.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4222" y="2001392"/>
            <a:ext cx="5154930" cy="250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Prim’s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Algorithm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is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preferred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when-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431800" indent="-343535">
              <a:lnSpc>
                <a:spcPct val="100000"/>
              </a:lnSpc>
              <a:buSzPct val="66666"/>
              <a:buFont typeface="Symbol"/>
              <a:buChar char=""/>
              <a:tabLst>
                <a:tab pos="431800" algn="l"/>
                <a:tab pos="432434" algn="l"/>
              </a:tabLst>
            </a:pP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dense.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431800" indent="-343535">
              <a:lnSpc>
                <a:spcPct val="100000"/>
              </a:lnSpc>
              <a:buSzPct val="66666"/>
              <a:buFont typeface="Symbol"/>
              <a:buChar char=""/>
              <a:tabLst>
                <a:tab pos="431800" algn="l"/>
                <a:tab pos="432434" algn="l"/>
              </a:tabLst>
            </a:pPr>
            <a:r>
              <a:rPr sz="1500" spc="-5" dirty="0">
                <a:latin typeface="Times New Roman"/>
                <a:cs typeface="Times New Roman"/>
              </a:rPr>
              <a:t>There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are </a:t>
            </a:r>
            <a:r>
              <a:rPr sz="1500" dirty="0">
                <a:latin typeface="Times New Roman"/>
                <a:cs typeface="Times New Roman"/>
              </a:rPr>
              <a:t>large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number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edges</a:t>
            </a:r>
            <a:r>
              <a:rPr sz="1500" dirty="0">
                <a:latin typeface="Times New Roman"/>
                <a:cs typeface="Times New Roman"/>
              </a:rPr>
              <a:t> 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like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O(V</a:t>
            </a:r>
            <a:r>
              <a:rPr sz="1500" spc="-7" baseline="25000" dirty="0">
                <a:latin typeface="Times New Roman"/>
                <a:cs typeface="Times New Roman"/>
              </a:rPr>
              <a:t>2</a:t>
            </a:r>
            <a:r>
              <a:rPr sz="1500" spc="-5" dirty="0">
                <a:latin typeface="Times New Roman"/>
                <a:cs typeface="Times New Roman"/>
              </a:rPr>
              <a:t>).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500" b="1" spc="-5" dirty="0">
                <a:latin typeface="Times New Roman"/>
                <a:cs typeface="Times New Roman"/>
              </a:rPr>
              <a:t>Worst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case</a:t>
            </a:r>
            <a:r>
              <a:rPr sz="1500" b="1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time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complexity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10" dirty="0">
                <a:latin typeface="Times New Roman"/>
                <a:cs typeface="Times New Roman"/>
              </a:rPr>
              <a:t> Prim’s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Algorithm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is-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Times New Roman"/>
              <a:cs typeface="Times New Roman"/>
            </a:endParaRPr>
          </a:p>
          <a:p>
            <a:pPr marL="431800" indent="-343535">
              <a:lnSpc>
                <a:spcPct val="100000"/>
              </a:lnSpc>
              <a:buSzPct val="66666"/>
              <a:buFont typeface="Symbol"/>
              <a:buChar char=""/>
              <a:tabLst>
                <a:tab pos="431800" algn="l"/>
                <a:tab pos="432434" algn="l"/>
              </a:tabLst>
            </a:pPr>
            <a:r>
              <a:rPr sz="1500" spc="-5" dirty="0">
                <a:latin typeface="Times New Roman"/>
                <a:cs typeface="Times New Roman"/>
              </a:rPr>
              <a:t>O(ElogV)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binary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heap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300">
              <a:latin typeface="Times New Roman"/>
              <a:cs typeface="Times New Roman"/>
            </a:endParaRPr>
          </a:p>
          <a:p>
            <a:pPr marL="431800" indent="-343535">
              <a:lnSpc>
                <a:spcPct val="100000"/>
              </a:lnSpc>
              <a:buSzPct val="66666"/>
              <a:buFont typeface="Symbol"/>
              <a:buChar char=""/>
              <a:tabLst>
                <a:tab pos="431800" algn="l"/>
                <a:tab pos="432434" algn="l"/>
              </a:tabLst>
            </a:pPr>
            <a:r>
              <a:rPr sz="1500" spc="-5" dirty="0">
                <a:latin typeface="Times New Roman"/>
                <a:cs typeface="Times New Roman"/>
              </a:rPr>
              <a:t>O(E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VlogV)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Fibonacci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heap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915" y="423417"/>
            <a:ext cx="75965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Q. Construct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(MST)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given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Prim’s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9915" y="3227273"/>
            <a:ext cx="815340" cy="75819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Solution-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Step-01: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1339" y="1380947"/>
            <a:ext cx="2667983" cy="1420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2755" y="3479291"/>
            <a:ext cx="13517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9208" y="434162"/>
            <a:ext cx="612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Ste</a:t>
            </a:r>
            <a:r>
              <a:rPr sz="1600" spc="-5" dirty="0">
                <a:latin typeface="Times New Roman"/>
                <a:cs typeface="Times New Roman"/>
              </a:rPr>
              <a:t>p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-5" dirty="0">
                <a:latin typeface="Times New Roman"/>
                <a:cs typeface="Times New Roman"/>
              </a:rPr>
              <a:t>2: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208" y="2263901"/>
            <a:ext cx="613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Step-3: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644" y="329184"/>
            <a:ext cx="1524000" cy="17693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4732" y="2749295"/>
            <a:ext cx="2343912" cy="16363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35422" y="501777"/>
            <a:ext cx="613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Step-4: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6840" y="1110996"/>
            <a:ext cx="3144012" cy="164989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36770" y="3068827"/>
            <a:ext cx="6121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Ste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5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96840" y="3105911"/>
            <a:ext cx="3076956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428" y="485902"/>
            <a:ext cx="6121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Ste</a:t>
            </a:r>
            <a:r>
              <a:rPr dirty="0"/>
              <a:t>p</a:t>
            </a:r>
            <a:r>
              <a:rPr spc="-10" dirty="0"/>
              <a:t>-</a:t>
            </a:r>
            <a:r>
              <a:rPr dirty="0"/>
              <a:t>6</a:t>
            </a:r>
            <a:r>
              <a:rPr spc="-5" dirty="0"/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36" y="1112519"/>
            <a:ext cx="3166872" cy="16619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17897" y="1178387"/>
            <a:ext cx="3958590" cy="269430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500" dirty="0">
                <a:latin typeface="Times New Roman"/>
                <a:cs typeface="Times New Roman"/>
              </a:rPr>
              <a:t>Since</a:t>
            </a:r>
            <a:r>
              <a:rPr sz="1500" spc="3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all</a:t>
            </a:r>
            <a:r>
              <a:rPr sz="1500" spc="3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r>
              <a:rPr sz="1500" spc="3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vertices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have</a:t>
            </a:r>
            <a:r>
              <a:rPr sz="1500" spc="3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been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included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in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spc="-5" dirty="0">
                <a:latin typeface="Times New Roman"/>
                <a:cs typeface="Times New Roman"/>
              </a:rPr>
              <a:t>MST,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</a:t>
            </a:r>
            <a:r>
              <a:rPr sz="1500" dirty="0">
                <a:latin typeface="Times New Roman"/>
                <a:cs typeface="Times New Roman"/>
              </a:rPr>
              <a:t> stop.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Times New Roman"/>
                <a:cs typeface="Times New Roman"/>
              </a:rPr>
              <a:t>Now,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Cost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Minimum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Spanning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Tree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5" dirty="0">
                <a:latin typeface="Times New Roman"/>
                <a:cs typeface="Times New Roman"/>
              </a:rPr>
              <a:t> 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edge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weights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10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25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22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12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16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+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14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99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units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8" y="705612"/>
            <a:ext cx="7789129" cy="3625977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686" y="104343"/>
            <a:ext cx="8452485" cy="4690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Round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Robin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marR="5715" indent="-287020">
              <a:lnSpc>
                <a:spcPct val="15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round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robin</a:t>
            </a:r>
            <a:r>
              <a:rPr sz="1600" dirty="0">
                <a:latin typeface="Times New Roman"/>
                <a:cs typeface="Times New Roman"/>
              </a:rPr>
              <a:t> algorithm 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minimum </a:t>
            </a:r>
            <a:r>
              <a:rPr sz="1600" spc="-5" dirty="0">
                <a:latin typeface="Times New Roman"/>
                <a:cs typeface="Times New Roman"/>
              </a:rPr>
              <a:t>spanning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dirty="0">
                <a:latin typeface="Times New Roman"/>
                <a:cs typeface="Times New Roman"/>
              </a:rPr>
              <a:t> problem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</a:t>
            </a:r>
            <a:r>
              <a:rPr sz="1600" dirty="0">
                <a:latin typeface="Times New Roman"/>
                <a:cs typeface="Times New Roman"/>
              </a:rPr>
              <a:t> be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viewed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another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special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case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 general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greedy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method.</a:t>
            </a:r>
            <a:endParaRPr sz="1600">
              <a:latin typeface="Times New Roman"/>
              <a:cs typeface="Times New Roman"/>
            </a:endParaRPr>
          </a:p>
          <a:p>
            <a:pPr marL="299085" marR="5715" indent="-287020">
              <a:lnSpc>
                <a:spcPct val="15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builds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collection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blue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trees,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by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repeatedly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merging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rule,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until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just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-5" dirty="0">
                <a:latin typeface="Times New Roman"/>
                <a:cs typeface="Times New Roman"/>
              </a:rPr>
              <a:t> tree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left.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Coloring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Rule.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Select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blue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incident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it.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Color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 </a:t>
            </a:r>
            <a:r>
              <a:rPr sz="1600" spc="-5" dirty="0">
                <a:latin typeface="Times New Roman"/>
                <a:cs typeface="Times New Roman"/>
              </a:rPr>
              <a:t>blue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299085" indent="-287020" algn="just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An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incident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endpoints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spcBef>
                <a:spcPts val="1200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carry </a:t>
            </a:r>
            <a:r>
              <a:rPr sz="1600" spc="-5" dirty="0">
                <a:latin typeface="Times New Roman"/>
                <a:cs typeface="Times New Roman"/>
              </a:rPr>
              <a:t>out a </a:t>
            </a:r>
            <a:r>
              <a:rPr sz="1600" dirty="0">
                <a:latin typeface="Times New Roman"/>
                <a:cs typeface="Times New Roman"/>
              </a:rPr>
              <a:t>coloring step, </a:t>
            </a:r>
            <a:r>
              <a:rPr sz="1600" spc="-5" dirty="0">
                <a:latin typeface="Times New Roman"/>
                <a:cs typeface="Times New Roman"/>
              </a:rPr>
              <a:t>we </a:t>
            </a:r>
            <a:r>
              <a:rPr sz="1600" dirty="0">
                <a:latin typeface="Times New Roman"/>
                <a:cs typeface="Times New Roman"/>
              </a:rPr>
              <a:t>remove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first tree, say </a:t>
            </a:r>
            <a:r>
              <a:rPr sz="1600" spc="-5" dirty="0">
                <a:latin typeface="Times New Roman"/>
                <a:cs typeface="Times New Roman"/>
              </a:rPr>
              <a:t>T1, </a:t>
            </a:r>
            <a:r>
              <a:rPr sz="1600" spc="5" dirty="0">
                <a:latin typeface="Times New Roman"/>
                <a:cs typeface="Times New Roman"/>
              </a:rPr>
              <a:t>from </a:t>
            </a:r>
            <a:r>
              <a:rPr sz="1600" dirty="0">
                <a:latin typeface="Times New Roman"/>
                <a:cs typeface="Times New Roman"/>
              </a:rPr>
              <a:t>the front </a:t>
            </a:r>
            <a:r>
              <a:rPr sz="1600" spc="-5" dirty="0">
                <a:latin typeface="Times New Roman"/>
                <a:cs typeface="Times New Roman"/>
              </a:rPr>
              <a:t>of the </a:t>
            </a:r>
            <a:r>
              <a:rPr sz="1600" dirty="0">
                <a:latin typeface="Times New Roman"/>
                <a:cs typeface="Times New Roman"/>
              </a:rPr>
              <a:t>queue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 perform </a:t>
            </a:r>
            <a:r>
              <a:rPr sz="1600" spc="-5" dirty="0">
                <a:latin typeface="Times New Roman"/>
                <a:cs typeface="Times New Roman"/>
              </a:rPr>
              <a:t>a </a:t>
            </a:r>
            <a:r>
              <a:rPr sz="1600" dirty="0">
                <a:latin typeface="Times New Roman"/>
                <a:cs typeface="Times New Roman"/>
              </a:rPr>
              <a:t>findmin on </a:t>
            </a:r>
            <a:r>
              <a:rPr sz="1600" spc="-5" dirty="0">
                <a:latin typeface="Times New Roman"/>
                <a:cs typeface="Times New Roman"/>
              </a:rPr>
              <a:t>its heap. </a:t>
            </a:r>
            <a:r>
              <a:rPr sz="1600" spc="-10" dirty="0">
                <a:latin typeface="Times New Roman"/>
                <a:cs typeface="Times New Roman"/>
              </a:rPr>
              <a:t>We </a:t>
            </a:r>
            <a:r>
              <a:rPr sz="1600" dirty="0">
                <a:latin typeface="Times New Roman"/>
                <a:cs typeface="Times New Roman"/>
              </a:rPr>
              <a:t>color </a:t>
            </a:r>
            <a:r>
              <a:rPr sz="1600" spc="-5" dirty="0">
                <a:latin typeface="Times New Roman"/>
                <a:cs typeface="Times New Roman"/>
              </a:rPr>
              <a:t>blue the edge, say e, returned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findmin. </a:t>
            </a:r>
            <a:r>
              <a:rPr sz="1600" spc="-10" dirty="0">
                <a:latin typeface="Times New Roman"/>
                <a:cs typeface="Times New Roman"/>
              </a:rPr>
              <a:t>We </a:t>
            </a:r>
            <a:r>
              <a:rPr sz="1600" spc="-5" dirty="0">
                <a:latin typeface="Times New Roman"/>
                <a:cs typeface="Times New Roman"/>
              </a:rPr>
              <a:t>remove </a:t>
            </a:r>
            <a:r>
              <a:rPr sz="1600" dirty="0">
                <a:latin typeface="Times New Roman"/>
                <a:cs typeface="Times New Roman"/>
              </a:rPr>
              <a:t> from </a:t>
            </a:r>
            <a:r>
              <a:rPr sz="1600" spc="-5" dirty="0">
                <a:latin typeface="Times New Roman"/>
                <a:cs typeface="Times New Roman"/>
              </a:rPr>
              <a:t>the queue the other </a:t>
            </a:r>
            <a:r>
              <a:rPr sz="1600" dirty="0">
                <a:latin typeface="Times New Roman"/>
                <a:cs typeface="Times New Roman"/>
              </a:rPr>
              <a:t>tree, say T2, incident </a:t>
            </a:r>
            <a:r>
              <a:rPr sz="1600" spc="-5" dirty="0">
                <a:latin typeface="Times New Roman"/>
                <a:cs typeface="Times New Roman"/>
              </a:rPr>
              <a:t>to e. </a:t>
            </a:r>
            <a:r>
              <a:rPr sz="1600" spc="-10" dirty="0">
                <a:latin typeface="Times New Roman"/>
                <a:cs typeface="Times New Roman"/>
              </a:rPr>
              <a:t>We </a:t>
            </a:r>
            <a:r>
              <a:rPr sz="1600" spc="-5" dirty="0">
                <a:latin typeface="Times New Roman"/>
                <a:cs typeface="Times New Roman"/>
              </a:rPr>
              <a:t>update the vertex </a:t>
            </a:r>
            <a:r>
              <a:rPr sz="1600" dirty="0">
                <a:latin typeface="Times New Roman"/>
                <a:cs typeface="Times New Roman"/>
              </a:rPr>
              <a:t>sets </a:t>
            </a:r>
            <a:r>
              <a:rPr sz="1600" spc="-5" dirty="0">
                <a:latin typeface="Times New Roman"/>
                <a:cs typeface="Times New Roman"/>
              </a:rPr>
              <a:t>and edge heaps to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reflect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combining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T1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T2</a:t>
            </a:r>
            <a:r>
              <a:rPr sz="1600" dirty="0">
                <a:latin typeface="Times New Roman"/>
                <a:cs typeface="Times New Roman"/>
              </a:rPr>
              <a:t> 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new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blue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tree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rear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 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queue.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O(n).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556" y="586192"/>
            <a:ext cx="3827393" cy="30747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3780" y="3813025"/>
            <a:ext cx="8176895" cy="985519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spc="-5" dirty="0">
                <a:latin typeface="Times New Roman"/>
                <a:cs typeface="Times New Roman"/>
              </a:rPr>
              <a:t>Fig: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Execution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round-robin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algorithm,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Input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graph.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queue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contains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vertex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blue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trees,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latin typeface="Times New Roman"/>
                <a:cs typeface="Times New Roman"/>
              </a:rPr>
              <a:t>(b)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After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initial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pass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through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queue.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Edges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{a,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c},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{b,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d},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{e,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g},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{c,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f}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become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blue,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(c)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After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another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pass.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Edges </a:t>
            </a:r>
            <a:r>
              <a:rPr sz="1400" dirty="0">
                <a:latin typeface="Times New Roman"/>
                <a:cs typeface="Times New Roman"/>
              </a:rPr>
              <a:t>{c,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d}and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{d, e}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become</a:t>
            </a:r>
            <a:r>
              <a:rPr sz="1400" dirty="0">
                <a:latin typeface="Times New Roman"/>
                <a:cs typeface="Times New Roman"/>
              </a:rPr>
              <a:t> blue.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6699" y="242697"/>
            <a:ext cx="2634615" cy="1174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Times New Roman"/>
                <a:cs typeface="Times New Roman"/>
              </a:rPr>
              <a:t>set</a:t>
            </a:r>
            <a:r>
              <a:rPr sz="1300" b="1" spc="-10" dirty="0">
                <a:latin typeface="Times New Roman"/>
                <a:cs typeface="Times New Roman"/>
              </a:rPr>
              <a:t> function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minspantree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b="1" spc="-5" dirty="0">
                <a:latin typeface="Times New Roman"/>
                <a:cs typeface="Times New Roman"/>
              </a:rPr>
              <a:t>(set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vertices),</a:t>
            </a:r>
            <a:endParaRPr sz="1300">
              <a:latin typeface="Times New Roman"/>
              <a:cs typeface="Times New Roman"/>
            </a:endParaRPr>
          </a:p>
          <a:p>
            <a:pPr marL="154305" indent="-13970">
              <a:lnSpc>
                <a:spcPct val="100000"/>
              </a:lnSpc>
              <a:spcBef>
                <a:spcPts val="915"/>
              </a:spcBef>
            </a:pPr>
            <a:r>
              <a:rPr sz="1300" spc="-5" dirty="0">
                <a:latin typeface="Times New Roman"/>
                <a:cs typeface="Times New Roman"/>
              </a:rPr>
              <a:t>set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blue;</a:t>
            </a:r>
            <a:endParaRPr sz="1300">
              <a:latin typeface="Times New Roman"/>
              <a:cs typeface="Times New Roman"/>
            </a:endParaRPr>
          </a:p>
          <a:p>
            <a:pPr marL="147955" marR="1797050" indent="5715">
              <a:lnSpc>
                <a:spcPct val="156900"/>
              </a:lnSpc>
              <a:spcBef>
                <a:spcPts val="120"/>
              </a:spcBef>
            </a:pPr>
            <a:r>
              <a:rPr sz="1300" spc="-10" dirty="0">
                <a:latin typeface="Times New Roman"/>
                <a:cs typeface="Times New Roman"/>
              </a:rPr>
              <a:t>map</a:t>
            </a:r>
            <a:r>
              <a:rPr sz="1300" spc="30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h; 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list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queue;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8767" y="1375616"/>
            <a:ext cx="4504690" cy="3584575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995"/>
              </a:spcBef>
            </a:pPr>
            <a:r>
              <a:rPr sz="1300" spc="-5" dirty="0">
                <a:latin typeface="Times New Roman"/>
                <a:cs typeface="Times New Roman"/>
              </a:rPr>
              <a:t>vertex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w; blue={};</a:t>
            </a:r>
            <a:endParaRPr sz="13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890"/>
              </a:spcBef>
            </a:pPr>
            <a:r>
              <a:rPr sz="1300" spc="-5" dirty="0">
                <a:latin typeface="Times New Roman"/>
                <a:cs typeface="Times New Roman"/>
              </a:rPr>
              <a:t>queue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= [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]</a:t>
            </a:r>
            <a:endParaRPr sz="1300">
              <a:latin typeface="Times New Roman"/>
              <a:cs typeface="Times New Roman"/>
            </a:endParaRPr>
          </a:p>
          <a:p>
            <a:pPr marL="360045" marR="5080" indent="2540">
              <a:lnSpc>
                <a:spcPct val="106200"/>
              </a:lnSpc>
              <a:spcBef>
                <a:spcPts val="919"/>
              </a:spcBef>
            </a:pP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-5" dirty="0">
                <a:latin typeface="Times New Roman"/>
                <a:cs typeface="Times New Roman"/>
              </a:rPr>
              <a:t> v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Cambria Math"/>
                <a:cs typeface="Cambria Math"/>
              </a:rPr>
              <a:t>⊂</a:t>
            </a:r>
            <a:r>
              <a:rPr sz="1300" spc="50" dirty="0">
                <a:latin typeface="Cambria Math"/>
                <a:cs typeface="Cambria Math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vertices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—&gt;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makeset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(v);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h[v)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-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makeheap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(edges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(v)); </a:t>
            </a:r>
            <a:r>
              <a:rPr sz="1300" spc="-3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queue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=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queue &amp;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[v]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rof;</a:t>
            </a:r>
            <a:endParaRPr sz="1300">
              <a:latin typeface="Times New Roman"/>
              <a:cs typeface="Times New Roman"/>
            </a:endParaRPr>
          </a:p>
          <a:p>
            <a:pPr marL="360045">
              <a:lnSpc>
                <a:spcPct val="100000"/>
              </a:lnSpc>
              <a:spcBef>
                <a:spcPts val="915"/>
              </a:spcBef>
            </a:pPr>
            <a:r>
              <a:rPr sz="1300" spc="-5" dirty="0">
                <a:latin typeface="Times New Roman"/>
                <a:cs typeface="Times New Roman"/>
              </a:rPr>
              <a:t>do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|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queue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|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&gt;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1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—&gt;</a:t>
            </a:r>
            <a:endParaRPr sz="1300">
              <a:latin typeface="Times New Roman"/>
              <a:cs typeface="Times New Roman"/>
            </a:endParaRPr>
          </a:p>
          <a:p>
            <a:pPr marL="489584" marR="417195" indent="-6350">
              <a:lnSpc>
                <a:spcPts val="2440"/>
              </a:lnSpc>
              <a:spcBef>
                <a:spcPts val="190"/>
              </a:spcBef>
            </a:pPr>
            <a:r>
              <a:rPr sz="1300" spc="-5" dirty="0">
                <a:latin typeface="Times New Roman"/>
                <a:cs typeface="Times New Roman"/>
              </a:rPr>
              <a:t>{v, w)=findmin h(queue </a:t>
            </a:r>
            <a:r>
              <a:rPr sz="1300" spc="-15" dirty="0">
                <a:latin typeface="Times New Roman"/>
                <a:cs typeface="Times New Roman"/>
              </a:rPr>
              <a:t>(1))); </a:t>
            </a:r>
            <a:r>
              <a:rPr sz="1300" spc="-5" dirty="0">
                <a:latin typeface="Times New Roman"/>
                <a:cs typeface="Times New Roman"/>
              </a:rPr>
              <a:t>blue=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blue </a:t>
            </a:r>
            <a:r>
              <a:rPr sz="1300" spc="50" dirty="0">
                <a:latin typeface="Cambria Math"/>
                <a:cs typeface="Cambria Math"/>
              </a:rPr>
              <a:t>𝖴 </a:t>
            </a:r>
            <a:r>
              <a:rPr sz="1300" spc="-5" dirty="0">
                <a:latin typeface="Times New Roman"/>
                <a:cs typeface="Times New Roman"/>
              </a:rPr>
              <a:t>(v, w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,};- </a:t>
            </a:r>
            <a:r>
              <a:rPr sz="1300" spc="-3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Queue=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queue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–</a:t>
            </a:r>
            <a:r>
              <a:rPr sz="1300" dirty="0">
                <a:latin typeface="Times New Roman"/>
                <a:cs typeface="Times New Roman"/>
              </a:rPr>
              <a:t> {find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(v),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find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(w)};</a:t>
            </a:r>
            <a:endParaRPr sz="13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785"/>
              </a:spcBef>
            </a:pPr>
            <a:r>
              <a:rPr sz="1300" spc="-5" dirty="0">
                <a:latin typeface="Times New Roman"/>
                <a:cs typeface="Times New Roman"/>
              </a:rPr>
              <a:t>h{link</a:t>
            </a:r>
            <a:r>
              <a:rPr sz="1300" dirty="0">
                <a:latin typeface="Times New Roman"/>
                <a:cs typeface="Times New Roman"/>
              </a:rPr>
              <a:t> (find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(v),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find </a:t>
            </a:r>
            <a:r>
              <a:rPr sz="1300" spc="-5" dirty="0">
                <a:latin typeface="Times New Roman"/>
                <a:cs typeface="Times New Roman"/>
              </a:rPr>
              <a:t>(w)))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=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meld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(h(find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(v)),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h(find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(w)));</a:t>
            </a:r>
            <a:endParaRPr sz="1300">
              <a:latin typeface="Times New Roman"/>
              <a:cs typeface="Times New Roman"/>
            </a:endParaRPr>
          </a:p>
          <a:p>
            <a:pPr marL="489584">
              <a:lnSpc>
                <a:spcPct val="100000"/>
              </a:lnSpc>
              <a:spcBef>
                <a:spcPts val="30"/>
              </a:spcBef>
            </a:pPr>
            <a:r>
              <a:rPr sz="1300" spc="-5" dirty="0">
                <a:latin typeface="Times New Roman"/>
                <a:cs typeface="Times New Roman"/>
              </a:rPr>
              <a:t>queue=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queue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&amp;</a:t>
            </a:r>
            <a:r>
              <a:rPr sz="1300" dirty="0">
                <a:latin typeface="Times New Roman"/>
                <a:cs typeface="Times New Roman"/>
              </a:rPr>
              <a:t> [find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(v)]</a:t>
            </a:r>
            <a:endParaRPr sz="1300">
              <a:latin typeface="Times New Roman"/>
              <a:cs typeface="Times New Roman"/>
            </a:endParaRPr>
          </a:p>
          <a:p>
            <a:pPr marL="530860">
              <a:lnSpc>
                <a:spcPct val="100000"/>
              </a:lnSpc>
              <a:spcBef>
                <a:spcPts val="910"/>
              </a:spcBef>
            </a:pPr>
            <a:r>
              <a:rPr sz="1300" spc="-5" dirty="0">
                <a:latin typeface="Times New Roman"/>
                <a:cs typeface="Times New Roman"/>
              </a:rPr>
              <a:t>od;</a:t>
            </a:r>
            <a:endParaRPr sz="1300">
              <a:latin typeface="Times New Roman"/>
              <a:cs typeface="Times New Roman"/>
            </a:endParaRPr>
          </a:p>
          <a:p>
            <a:pPr marL="489584">
              <a:lnSpc>
                <a:spcPct val="100000"/>
              </a:lnSpc>
              <a:spcBef>
                <a:spcPts val="910"/>
              </a:spcBef>
            </a:pPr>
            <a:r>
              <a:rPr sz="1300" spc="-5" dirty="0">
                <a:latin typeface="Times New Roman"/>
                <a:cs typeface="Times New Roman"/>
              </a:rPr>
              <a:t>return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blue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300" spc="-5" dirty="0">
                <a:latin typeface="Times New Roman"/>
                <a:cs typeface="Times New Roman"/>
              </a:rPr>
              <a:t>end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minspantree;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1970" y="1457985"/>
            <a:ext cx="270065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 marR="5080" indent="-50800">
              <a:lnSpc>
                <a:spcPct val="15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predicate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(edge</a:t>
            </a:r>
            <a:r>
              <a:rPr sz="1600" dirty="0">
                <a:latin typeface="Times New Roman"/>
                <a:cs typeface="Times New Roman"/>
              </a:rPr>
              <a:t> {v,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›w});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(v)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=find </a:t>
            </a:r>
            <a:r>
              <a:rPr sz="1600" spc="-10" dirty="0">
                <a:latin typeface="Times New Roman"/>
                <a:cs typeface="Times New Roman"/>
              </a:rPr>
              <a:t>(w)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end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deleted;</a:t>
            </a:r>
            <a:endParaRPr sz="1600">
              <a:latin typeface="Times New Roman"/>
              <a:cs typeface="Times New Roman"/>
            </a:endParaRPr>
          </a:p>
          <a:p>
            <a:pPr marL="12700" marR="532130">
              <a:lnSpc>
                <a:spcPct val="150000"/>
              </a:lnSpc>
            </a:pPr>
            <a:r>
              <a:rPr sz="1600" spc="-5" dirty="0">
                <a:latin typeface="Times New Roman"/>
                <a:cs typeface="Times New Roman"/>
              </a:rPr>
              <a:t>real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function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(edge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e);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return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(e)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end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key;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417" y="352684"/>
            <a:ext cx="8011795" cy="405002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sz="1600" b="1" spc="-5" dirty="0">
                <a:latin typeface="Times New Roman"/>
                <a:cs typeface="Times New Roman"/>
              </a:rPr>
              <a:t>Shortest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Path Algorithms</a:t>
            </a:r>
            <a:endParaRPr sz="16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shortest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about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finding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such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  <a:p>
            <a:pPr marL="299085" algn="just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total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sum</a:t>
            </a:r>
            <a:r>
              <a:rPr sz="1600" dirty="0">
                <a:latin typeface="Times New Roman"/>
                <a:cs typeface="Times New Roman"/>
              </a:rPr>
              <a:t> of 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ts val="2880"/>
              </a:lnSpc>
              <a:spcBef>
                <a:spcPts val="259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most </a:t>
            </a:r>
            <a:r>
              <a:rPr sz="1600" spc="-5" dirty="0">
                <a:latin typeface="Times New Roman"/>
                <a:cs typeface="Times New Roman"/>
              </a:rPr>
              <a:t>important algorithms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solving this </a:t>
            </a:r>
            <a:r>
              <a:rPr sz="1600" dirty="0">
                <a:latin typeface="Times New Roman"/>
                <a:cs typeface="Times New Roman"/>
              </a:rPr>
              <a:t>problem are: </a:t>
            </a:r>
            <a:r>
              <a:rPr sz="1600" b="1" dirty="0">
                <a:latin typeface="Times New Roman"/>
                <a:cs typeface="Times New Roman"/>
              </a:rPr>
              <a:t>Dijkstra's </a:t>
            </a:r>
            <a:r>
              <a:rPr sz="1600" b="1" spc="-5" dirty="0">
                <a:latin typeface="Times New Roman"/>
                <a:cs typeface="Times New Roman"/>
              </a:rPr>
              <a:t>algorithm </a:t>
            </a:r>
            <a:r>
              <a:rPr sz="1600" spc="-5" dirty="0">
                <a:latin typeface="Times New Roman"/>
                <a:cs typeface="Times New Roman"/>
              </a:rPr>
              <a:t>solves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single-source 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shortest</a:t>
            </a:r>
            <a:r>
              <a:rPr sz="1600" spc="7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7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 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7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non-negative</a:t>
            </a:r>
            <a:r>
              <a:rPr sz="1600" spc="390" dirty="0">
                <a:latin typeface="Times New Roman"/>
                <a:cs typeface="Times New Roman"/>
              </a:rPr>
              <a:t> 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spc="390" dirty="0">
                <a:latin typeface="Times New Roman"/>
                <a:cs typeface="Times New Roman"/>
              </a:rPr>
              <a:t>  </a:t>
            </a:r>
            <a:r>
              <a:rPr sz="1600" spc="-5" dirty="0">
                <a:latin typeface="Times New Roman"/>
                <a:cs typeface="Times New Roman"/>
              </a:rPr>
              <a:t>weight.</a:t>
            </a:r>
            <a:r>
              <a:rPr sz="1600" spc="390" dirty="0">
                <a:latin typeface="Times New Roman"/>
                <a:cs typeface="Times New Roman"/>
              </a:rPr>
              <a:t>  </a:t>
            </a:r>
            <a:r>
              <a:rPr sz="1600" b="1" dirty="0">
                <a:latin typeface="Times New Roman"/>
                <a:cs typeface="Times New Roman"/>
              </a:rPr>
              <a:t>Bellman– 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Ford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solves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single-source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problem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may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 </a:t>
            </a:r>
            <a:r>
              <a:rPr sz="1600" spc="-5" dirty="0">
                <a:latin typeface="Times New Roman"/>
                <a:cs typeface="Times New Roman"/>
              </a:rPr>
              <a:t>negative.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705"/>
              </a:spcBef>
            </a:pPr>
            <a:r>
              <a:rPr sz="1600" b="1" spc="-5" dirty="0">
                <a:latin typeface="Times New Roman"/>
                <a:cs typeface="Times New Roman"/>
              </a:rPr>
              <a:t>Dijkstra's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299085" marR="6350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Dijkstra's </a:t>
            </a:r>
            <a:r>
              <a:rPr sz="1600" dirty="0">
                <a:latin typeface="Times New Roman"/>
                <a:cs typeface="Times New Roman"/>
              </a:rPr>
              <a:t>Algorithm </a:t>
            </a:r>
            <a:r>
              <a:rPr sz="1600" spc="-5" dirty="0">
                <a:latin typeface="Times New Roman"/>
                <a:cs typeface="Times New Roman"/>
              </a:rPr>
              <a:t>finds the </a:t>
            </a:r>
            <a:r>
              <a:rPr sz="1600" dirty="0">
                <a:latin typeface="Times New Roman"/>
                <a:cs typeface="Times New Roman"/>
              </a:rPr>
              <a:t>shortest </a:t>
            </a:r>
            <a:r>
              <a:rPr sz="1600" spc="-5" dirty="0">
                <a:latin typeface="Times New Roman"/>
                <a:cs typeface="Times New Roman"/>
              </a:rPr>
              <a:t>path between a </a:t>
            </a:r>
            <a:r>
              <a:rPr sz="1600" dirty="0">
                <a:latin typeface="Times New Roman"/>
                <a:cs typeface="Times New Roman"/>
              </a:rPr>
              <a:t>given node </a:t>
            </a:r>
            <a:r>
              <a:rPr sz="1600" spc="-5" dirty="0">
                <a:latin typeface="Times New Roman"/>
                <a:cs typeface="Times New Roman"/>
              </a:rPr>
              <a:t>(which is </a:t>
            </a:r>
            <a:r>
              <a:rPr sz="1600" dirty="0">
                <a:latin typeface="Times New Roman"/>
                <a:cs typeface="Times New Roman"/>
              </a:rPr>
              <a:t>called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"source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node")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graph.</a:t>
            </a:r>
            <a:endParaRPr sz="1600">
              <a:latin typeface="Times New Roman"/>
              <a:cs typeface="Times New Roman"/>
            </a:endParaRPr>
          </a:p>
          <a:p>
            <a:pPr marL="299085" marR="6350" indent="-287020" algn="just">
              <a:lnSpc>
                <a:spcPts val="2880"/>
              </a:lnSpc>
              <a:spcBef>
                <a:spcPts val="10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This </a:t>
            </a:r>
            <a:r>
              <a:rPr sz="1600" dirty="0">
                <a:latin typeface="Times New Roman"/>
                <a:cs typeface="Times New Roman"/>
              </a:rPr>
              <a:t>algorithm uses </a:t>
            </a:r>
            <a:r>
              <a:rPr sz="1600" spc="-5" dirty="0">
                <a:latin typeface="Times New Roman"/>
                <a:cs typeface="Times New Roman"/>
              </a:rPr>
              <a:t>the weights </a:t>
            </a:r>
            <a:r>
              <a:rPr sz="1600" dirty="0">
                <a:latin typeface="Times New Roman"/>
                <a:cs typeface="Times New Roman"/>
              </a:rPr>
              <a:t>of the </a:t>
            </a:r>
            <a:r>
              <a:rPr sz="1600" spc="-5" dirty="0">
                <a:latin typeface="Times New Roman"/>
                <a:cs typeface="Times New Roman"/>
              </a:rPr>
              <a:t>edges to find the path that minimizes the </a:t>
            </a:r>
            <a:r>
              <a:rPr sz="1600" dirty="0">
                <a:latin typeface="Times New Roman"/>
                <a:cs typeface="Times New Roman"/>
              </a:rPr>
              <a:t>total distance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(weight)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source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nodes.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3554" y="434492"/>
            <a:ext cx="7891780" cy="368427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Remove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loops.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2: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Remove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parallel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between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higherweight/cost.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dirty="0">
                <a:latin typeface="Times New Roman"/>
                <a:cs typeface="Times New Roman"/>
              </a:rPr>
              <a:t> 3: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Create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source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infinite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remaining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65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Mark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smallest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unmarked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write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column.</a:t>
            </a:r>
            <a:endParaRPr sz="16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buAutoNum type="alphaL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those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directly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marked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all.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d[u]</a:t>
            </a:r>
            <a:r>
              <a:rPr sz="1600" b="1" spc="8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+ </a:t>
            </a:r>
            <a:r>
              <a:rPr sz="1600" b="1" spc="-38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c[u,v]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&lt;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d[v]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d[v]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=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d[u]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+ c[u,v]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OR,</a:t>
            </a:r>
            <a:endParaRPr sz="1600">
              <a:latin typeface="Times New Roman"/>
              <a:cs typeface="Times New Roman"/>
            </a:endParaRPr>
          </a:p>
          <a:p>
            <a:pPr marL="736600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latin typeface="Times New Roman"/>
                <a:cs typeface="Times New Roman"/>
              </a:rPr>
              <a:t>New</a:t>
            </a:r>
            <a:r>
              <a:rPr sz="1600" b="1" spc="-5" dirty="0">
                <a:latin typeface="Times New Roman"/>
                <a:cs typeface="Times New Roman"/>
              </a:rPr>
              <a:t> destination</a:t>
            </a:r>
            <a:r>
              <a:rPr sz="1600" b="1" spc="4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= Min(Old</a:t>
            </a:r>
            <a:r>
              <a:rPr sz="1600" b="1" spc="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dest,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Marked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+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Edge Weight)</a:t>
            </a:r>
            <a:endParaRPr sz="16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960"/>
              </a:spcBef>
              <a:buAutoNum type="alphaLcPeriod" startAt="4"/>
              <a:tabLst>
                <a:tab pos="316865" algn="l"/>
                <a:tab pos="317500" algn="l"/>
              </a:tabLst>
            </a:pPr>
            <a:r>
              <a:rPr sz="1600" spc="-5" dirty="0">
                <a:latin typeface="Times New Roman"/>
                <a:cs typeface="Times New Roman"/>
              </a:rPr>
              <a:t>Repeat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stem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495" y="515873"/>
            <a:ext cx="7665084" cy="322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Step </a:t>
            </a:r>
            <a:r>
              <a:rPr sz="1600" b="1" dirty="0">
                <a:latin typeface="Times New Roman"/>
                <a:cs typeface="Times New Roman"/>
              </a:rPr>
              <a:t>4: </a:t>
            </a: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shortest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backward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tracking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method.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lphaL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Point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final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take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initial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lphaLcPeriod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lphaLcPeriod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Move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pointer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position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change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samevertex.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lphaLcPeriod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lphaLcPeriod"/>
              <a:tabLst>
                <a:tab pos="354965" algn="l"/>
                <a:tab pos="355600" algn="l"/>
              </a:tabLst>
            </a:pP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pointer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where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smallest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(which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value).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lphaLcPeriod" startAt="4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Repeat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 and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source 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reached.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lphaLcPeriod" startAt="4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lphaLcPeriod" startAt="4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Finally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reverse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order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904" y="393832"/>
            <a:ext cx="8003540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b="1" spc="-5" dirty="0">
                <a:latin typeface="Times New Roman"/>
                <a:cs typeface="Times New Roman"/>
              </a:rPr>
              <a:t>Example:</a:t>
            </a:r>
            <a:r>
              <a:rPr sz="1600" b="1" spc="3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Dijkstra’s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algorithm</a:t>
            </a:r>
            <a:r>
              <a:rPr sz="1600" spc="4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4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shortest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path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 the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following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graph.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8904" y="2954781"/>
            <a:ext cx="8004175" cy="151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1205"/>
              </a:spcBef>
            </a:pPr>
            <a:r>
              <a:rPr sz="1600" b="1" spc="-5" dirty="0">
                <a:latin typeface="Times New Roman"/>
                <a:cs typeface="Times New Roman"/>
              </a:rPr>
              <a:t>Step </a:t>
            </a:r>
            <a:r>
              <a:rPr sz="1600" b="1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: </a:t>
            </a:r>
            <a:r>
              <a:rPr sz="1600" spc="-5" dirty="0">
                <a:latin typeface="Times New Roman"/>
                <a:cs typeface="Times New Roman"/>
              </a:rPr>
              <a:t>Remove </a:t>
            </a:r>
            <a:r>
              <a:rPr sz="1600" dirty="0">
                <a:latin typeface="Times New Roman"/>
                <a:cs typeface="Times New Roman"/>
              </a:rPr>
              <a:t>all the </a:t>
            </a:r>
            <a:r>
              <a:rPr sz="1600" spc="-5" dirty="0">
                <a:latin typeface="Times New Roman"/>
                <a:cs typeface="Times New Roman"/>
              </a:rPr>
              <a:t>loops. (Edges that </a:t>
            </a:r>
            <a:r>
              <a:rPr sz="1600" dirty="0">
                <a:latin typeface="Times New Roman"/>
                <a:cs typeface="Times New Roman"/>
              </a:rPr>
              <a:t>start </a:t>
            </a:r>
            <a:r>
              <a:rPr sz="1600" spc="-5" dirty="0">
                <a:latin typeface="Times New Roman"/>
                <a:cs typeface="Times New Roman"/>
              </a:rPr>
              <a:t>and end at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same </a:t>
            </a:r>
            <a:r>
              <a:rPr sz="1600" dirty="0">
                <a:latin typeface="Times New Roman"/>
                <a:cs typeface="Times New Roman"/>
              </a:rPr>
              <a:t>vertex </a:t>
            </a:r>
            <a:r>
              <a:rPr sz="1600" spc="-5" dirty="0">
                <a:latin typeface="Times New Roman"/>
                <a:cs typeface="Times New Roman"/>
              </a:rPr>
              <a:t>is called loop) </a:t>
            </a:r>
            <a:r>
              <a:rPr sz="1600" dirty="0">
                <a:latin typeface="Times New Roman"/>
                <a:cs typeface="Times New Roman"/>
              </a:rPr>
              <a:t>In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above graph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 </a:t>
            </a:r>
            <a:r>
              <a:rPr sz="1600" dirty="0">
                <a:latin typeface="Times New Roman"/>
                <a:cs typeface="Times New Roman"/>
              </a:rPr>
              <a:t>are </a:t>
            </a:r>
            <a:r>
              <a:rPr sz="1600" spc="-5" dirty="0">
                <a:latin typeface="Times New Roman"/>
                <a:cs typeface="Times New Roman"/>
              </a:rPr>
              <a:t>two loops. One 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vertex </a:t>
            </a:r>
            <a:r>
              <a:rPr sz="1600" b="1" spc="-5" dirty="0">
                <a:latin typeface="Times New Roman"/>
                <a:cs typeface="Times New Roman"/>
              </a:rPr>
              <a:t>C </a:t>
            </a:r>
            <a:r>
              <a:rPr sz="1600" spc="-5" dirty="0">
                <a:latin typeface="Times New Roman"/>
                <a:cs typeface="Times New Roman"/>
              </a:rPr>
              <a:t>and another</a:t>
            </a:r>
            <a:r>
              <a:rPr sz="1600" dirty="0">
                <a:latin typeface="Times New Roman"/>
                <a:cs typeface="Times New Roman"/>
              </a:rPr>
              <a:t> one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Vertex </a:t>
            </a:r>
            <a:r>
              <a:rPr sz="1600" b="1" spc="-5" dirty="0">
                <a:latin typeface="Times New Roman"/>
                <a:cs typeface="Times New Roman"/>
              </a:rPr>
              <a:t>F 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(starting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ending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same),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thus</a:t>
            </a:r>
            <a:r>
              <a:rPr sz="1600" spc="-5" dirty="0">
                <a:latin typeface="Times New Roman"/>
                <a:cs typeface="Times New Roman"/>
              </a:rPr>
              <a:t> we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remove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692" y="1094232"/>
            <a:ext cx="3880104" cy="1906524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267" y="320040"/>
            <a:ext cx="5023104" cy="18729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202" y="2416914"/>
            <a:ext cx="7826375" cy="222186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03200" algn="just">
              <a:lnSpc>
                <a:spcPct val="100000"/>
              </a:lnSpc>
              <a:spcBef>
                <a:spcPts val="106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14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2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Remove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parallel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edges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except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leastweight.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above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cost/weight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 and 2.This two edges </a:t>
            </a:r>
            <a:r>
              <a:rPr sz="1600" dirty="0">
                <a:latin typeface="Times New Roman"/>
                <a:cs typeface="Times New Roman"/>
              </a:rPr>
              <a:t>are called parallel edges. </a:t>
            </a:r>
            <a:r>
              <a:rPr sz="1600" spc="-5" dirty="0">
                <a:latin typeface="Times New Roman"/>
                <a:cs typeface="Times New Roman"/>
              </a:rPr>
              <a:t>We remove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 which </a:t>
            </a:r>
            <a:r>
              <a:rPr sz="1600" dirty="0">
                <a:latin typeface="Times New Roman"/>
                <a:cs typeface="Times New Roman"/>
              </a:rPr>
              <a:t>one </a:t>
            </a:r>
            <a:r>
              <a:rPr sz="1600" spc="-5" dirty="0">
                <a:latin typeface="Times New Roman"/>
                <a:cs typeface="Times New Roman"/>
              </a:rPr>
              <a:t>has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greater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(4&gt;2)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4.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-10" dirty="0">
                <a:latin typeface="Times New Roman"/>
                <a:cs typeface="Times New Roman"/>
              </a:rPr>
              <a:t> remove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edge</a:t>
            </a:r>
            <a:r>
              <a:rPr sz="1600" spc="-5" dirty="0">
                <a:latin typeface="Times New Roman"/>
                <a:cs typeface="Times New Roman"/>
              </a:rPr>
              <a:t> 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4.</a:t>
            </a:r>
            <a:endParaRPr sz="1600">
              <a:latin typeface="Times New Roman"/>
              <a:cs typeface="Times New Roman"/>
            </a:endParaRPr>
          </a:p>
          <a:p>
            <a:pPr marL="299085" marR="5715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600" dirty="0">
                <a:latin typeface="Times New Roman"/>
                <a:cs typeface="Times New Roman"/>
              </a:rPr>
              <a:t>Similarly, </a:t>
            </a:r>
            <a:r>
              <a:rPr sz="1600" spc="-5" dirty="0">
                <a:latin typeface="Times New Roman"/>
                <a:cs typeface="Times New Roman"/>
              </a:rPr>
              <a:t>there is another </a:t>
            </a:r>
            <a:r>
              <a:rPr sz="1600" dirty="0">
                <a:latin typeface="Times New Roman"/>
                <a:cs typeface="Times New Roman"/>
              </a:rPr>
              <a:t>parallel </a:t>
            </a:r>
            <a:r>
              <a:rPr sz="1600" spc="-5" dirty="0">
                <a:latin typeface="Times New Roman"/>
                <a:cs typeface="Times New Roman"/>
              </a:rPr>
              <a:t>edge </a:t>
            </a:r>
            <a:r>
              <a:rPr sz="1600" spc="5" dirty="0">
                <a:latin typeface="Times New Roman"/>
                <a:cs typeface="Times New Roman"/>
              </a:rPr>
              <a:t>from </a:t>
            </a:r>
            <a:r>
              <a:rPr sz="1600" b="1" spc="-5" dirty="0">
                <a:latin typeface="Times New Roman"/>
                <a:cs typeface="Times New Roman"/>
              </a:rPr>
              <a:t>E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b="1" dirty="0">
                <a:latin typeface="Times New Roman"/>
                <a:cs typeface="Times New Roman"/>
              </a:rPr>
              <a:t>F</a:t>
            </a:r>
            <a:r>
              <a:rPr sz="1600" dirty="0">
                <a:latin typeface="Times New Roman"/>
                <a:cs typeface="Times New Roman"/>
              </a:rPr>
              <a:t>, </a:t>
            </a:r>
            <a:r>
              <a:rPr sz="1600" spc="-5" dirty="0">
                <a:latin typeface="Times New Roman"/>
                <a:cs typeface="Times New Roman"/>
              </a:rPr>
              <a:t>and as </a:t>
            </a:r>
            <a:r>
              <a:rPr sz="1600" dirty="0">
                <a:latin typeface="Times New Roman"/>
                <a:cs typeface="Times New Roman"/>
              </a:rPr>
              <a:t>per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rules </a:t>
            </a:r>
            <a:r>
              <a:rPr sz="1600" spc="-5" dirty="0">
                <a:latin typeface="Times New Roman"/>
                <a:cs typeface="Times New Roman"/>
              </a:rPr>
              <a:t>we remove that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 which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 </a:t>
            </a:r>
            <a:r>
              <a:rPr sz="1600" spc="-5" dirty="0">
                <a:latin typeface="Times New Roman"/>
                <a:cs typeface="Times New Roman"/>
              </a:rPr>
              <a:t>has greater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(6&gt;3)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6.</a:t>
            </a:r>
            <a:r>
              <a:rPr sz="1600" spc="-5" dirty="0">
                <a:latin typeface="Times New Roman"/>
                <a:cs typeface="Times New Roman"/>
              </a:rPr>
              <a:t> So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 </a:t>
            </a:r>
            <a:r>
              <a:rPr sz="1600" spc="-10" dirty="0">
                <a:latin typeface="Times New Roman"/>
                <a:cs typeface="Times New Roman"/>
              </a:rPr>
              <a:t>remove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cost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79" y="117347"/>
            <a:ext cx="3610355" cy="18684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2769" y="2090115"/>
            <a:ext cx="5420360" cy="128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3: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create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weight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matrix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(i)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source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infinite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remaining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Times New Roman"/>
                <a:cs typeface="Times New Roman"/>
              </a:rPr>
              <a:t>Weight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Matrix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table: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1388" y="3558540"/>
            <a:ext cx="5303520" cy="1232916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473" y="392125"/>
            <a:ext cx="7164070" cy="178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For all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(ii)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(iii)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314325" indent="-302260">
              <a:lnSpc>
                <a:spcPct val="100000"/>
              </a:lnSpc>
              <a:buAutoNum type="romanLcParenBoth" startAt="2"/>
              <a:tabLst>
                <a:tab pos="314960" algn="l"/>
              </a:tabLst>
            </a:pPr>
            <a:r>
              <a:rPr sz="1600" spc="-5" dirty="0">
                <a:latin typeface="Times New Roman"/>
                <a:cs typeface="Times New Roman"/>
              </a:rPr>
              <a:t>Find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smallest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unmarked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mark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romanLcParenBoth" startAt="2"/>
            </a:pPr>
            <a:endParaRPr sz="1750">
              <a:latin typeface="Times New Roman"/>
              <a:cs typeface="Times New Roman"/>
            </a:endParaRPr>
          </a:p>
          <a:p>
            <a:pPr marL="370840" indent="-358775">
              <a:lnSpc>
                <a:spcPct val="100000"/>
              </a:lnSpc>
              <a:buAutoNum type="romanLcParenBoth" startAt="2"/>
              <a:tabLst>
                <a:tab pos="371475" algn="l"/>
              </a:tabLst>
            </a:pP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those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directly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andupdate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So, smallest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first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 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put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0473" y="3932326"/>
            <a:ext cx="6984365" cy="773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those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directly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vertex.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andE.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update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080" y="2523744"/>
            <a:ext cx="4879848" cy="122682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563" y="628904"/>
            <a:ext cx="1984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Times New Roman"/>
                <a:cs typeface="Times New Roman"/>
              </a:rPr>
              <a:t>Update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value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formula: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1065"/>
              </a:spcBef>
            </a:pPr>
            <a:r>
              <a:rPr spc="-5" dirty="0"/>
              <a:t>New</a:t>
            </a:r>
            <a:r>
              <a:rPr spc="260" dirty="0"/>
              <a:t> </a:t>
            </a:r>
            <a:r>
              <a:rPr spc="-5" dirty="0"/>
              <a:t>Destination</a:t>
            </a:r>
            <a:r>
              <a:rPr spc="270" dirty="0"/>
              <a:t> </a:t>
            </a:r>
            <a:r>
              <a:rPr spc="-5" dirty="0"/>
              <a:t>value</a:t>
            </a:r>
            <a:r>
              <a:rPr spc="260" dirty="0"/>
              <a:t> </a:t>
            </a:r>
            <a:r>
              <a:rPr spc="-5" dirty="0"/>
              <a:t>=</a:t>
            </a:r>
            <a:r>
              <a:rPr spc="270" dirty="0"/>
              <a:t> </a:t>
            </a:r>
            <a:r>
              <a:rPr spc="-10" dirty="0"/>
              <a:t>minimum</a:t>
            </a:r>
            <a:r>
              <a:rPr spc="290" dirty="0"/>
              <a:t> </a:t>
            </a:r>
            <a:r>
              <a:rPr spc="-5" dirty="0"/>
              <a:t>(Old</a:t>
            </a:r>
            <a:r>
              <a:rPr spc="280" dirty="0"/>
              <a:t> </a:t>
            </a:r>
            <a:r>
              <a:rPr spc="-5" dirty="0"/>
              <a:t>Destination</a:t>
            </a:r>
            <a:r>
              <a:rPr spc="285" dirty="0"/>
              <a:t> </a:t>
            </a:r>
            <a:r>
              <a:rPr spc="-5" dirty="0"/>
              <a:t>value,</a:t>
            </a:r>
            <a:r>
              <a:rPr spc="254" dirty="0"/>
              <a:t> </a:t>
            </a:r>
            <a:r>
              <a:rPr spc="-5" dirty="0"/>
              <a:t>Marked</a:t>
            </a:r>
            <a:r>
              <a:rPr spc="280" dirty="0"/>
              <a:t> </a:t>
            </a:r>
            <a:r>
              <a:rPr spc="5" dirty="0"/>
              <a:t>value+Edge</a:t>
            </a:r>
            <a:r>
              <a:rPr dirty="0"/>
              <a:t> </a:t>
            </a:r>
            <a:r>
              <a:rPr spc="-5" dirty="0"/>
              <a:t>Weight</a:t>
            </a:r>
            <a:r>
              <a:rPr b="0" spc="-5" dirty="0">
                <a:latin typeface="Times New Roman"/>
                <a:cs typeface="Times New Roman"/>
              </a:rPr>
              <a:t>)</a:t>
            </a:r>
          </a:p>
          <a:p>
            <a:pPr marL="75565" marR="3277235">
              <a:lnSpc>
                <a:spcPct val="150100"/>
              </a:lnSpc>
            </a:pPr>
            <a:r>
              <a:rPr b="0" spc="-5" dirty="0">
                <a:latin typeface="Times New Roman"/>
                <a:cs typeface="Times New Roman"/>
              </a:rPr>
              <a:t>New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Value</a:t>
            </a:r>
            <a:r>
              <a:rPr b="0" spc="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 </a:t>
            </a:r>
            <a:r>
              <a:rPr b="0" spc="-5" dirty="0">
                <a:latin typeface="Times New Roman"/>
                <a:cs typeface="Times New Roman"/>
              </a:rPr>
              <a:t>B</a:t>
            </a:r>
            <a:r>
              <a:rPr b="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= </a:t>
            </a:r>
            <a:r>
              <a:rPr b="0" spc="-10" dirty="0">
                <a:latin typeface="Times New Roman"/>
                <a:cs typeface="Times New Roman"/>
              </a:rPr>
              <a:t>minimum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(</a:t>
            </a:r>
            <a:r>
              <a:rPr spc="-5" dirty="0"/>
              <a:t>∞</a:t>
            </a:r>
            <a:r>
              <a:rPr b="0" spc="-5" dirty="0">
                <a:latin typeface="Times New Roman"/>
                <a:cs typeface="Times New Roman"/>
              </a:rPr>
              <a:t>,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0+2) =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minimum(</a:t>
            </a:r>
            <a:r>
              <a:rPr spc="-10" dirty="0"/>
              <a:t>∞</a:t>
            </a:r>
            <a:r>
              <a:rPr b="0" spc="-10" dirty="0">
                <a:latin typeface="Times New Roman"/>
                <a:cs typeface="Times New Roman"/>
              </a:rPr>
              <a:t>,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2)=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2 </a:t>
            </a:r>
            <a:r>
              <a:rPr b="0" spc="-38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New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Value</a:t>
            </a:r>
            <a:r>
              <a:rPr b="0" spc="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D =</a:t>
            </a:r>
            <a:r>
              <a:rPr b="0" spc="1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minimum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(</a:t>
            </a:r>
            <a:r>
              <a:rPr spc="-5" dirty="0"/>
              <a:t>∞</a:t>
            </a:r>
            <a:r>
              <a:rPr b="0" spc="-5" dirty="0">
                <a:latin typeface="Times New Roman"/>
                <a:cs typeface="Times New Roman"/>
              </a:rPr>
              <a:t>,</a:t>
            </a:r>
            <a:r>
              <a:rPr b="0" spc="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0+3)=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minimum(</a:t>
            </a:r>
            <a:r>
              <a:rPr spc="-10" dirty="0"/>
              <a:t>∞</a:t>
            </a:r>
            <a:r>
              <a:rPr b="0" spc="-10" dirty="0">
                <a:latin typeface="Times New Roman"/>
                <a:cs typeface="Times New Roman"/>
              </a:rPr>
              <a:t>,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3)=</a:t>
            </a:r>
            <a:r>
              <a:rPr b="0" spc="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3 </a:t>
            </a:r>
            <a:r>
              <a:rPr b="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New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Value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of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= </a:t>
            </a:r>
            <a:r>
              <a:rPr b="0" spc="-10" dirty="0">
                <a:latin typeface="Times New Roman"/>
                <a:cs typeface="Times New Roman"/>
              </a:rPr>
              <a:t>minimum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(</a:t>
            </a:r>
            <a:r>
              <a:rPr spc="-5" dirty="0"/>
              <a:t>∞</a:t>
            </a:r>
            <a:r>
              <a:rPr b="0" spc="-5" dirty="0">
                <a:latin typeface="Times New Roman"/>
                <a:cs typeface="Times New Roman"/>
              </a:rPr>
              <a:t>,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0+2)=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minimum(</a:t>
            </a:r>
            <a:r>
              <a:rPr spc="-5" dirty="0"/>
              <a:t>∞</a:t>
            </a:r>
            <a:r>
              <a:rPr b="0" spc="-5" dirty="0">
                <a:latin typeface="Times New Roman"/>
                <a:cs typeface="Times New Roman"/>
              </a:rPr>
              <a:t>,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2)=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2 </a:t>
            </a:r>
            <a:r>
              <a:rPr b="0" dirty="0">
                <a:latin typeface="Times New Roman"/>
                <a:cs typeface="Times New Roman"/>
              </a:rPr>
              <a:t> Value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-5" dirty="0">
                <a:latin typeface="Times New Roman"/>
                <a:cs typeface="Times New Roman"/>
              </a:rPr>
              <a:t> all other vertices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remains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same.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Now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the table</a:t>
            </a:r>
            <a:r>
              <a:rPr b="0" spc="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is: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563" y="3377184"/>
            <a:ext cx="5743955" cy="1060703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454279"/>
            <a:ext cx="7976870" cy="1165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repeat: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50100"/>
              </a:lnSpc>
              <a:spcBef>
                <a:spcPts val="1295"/>
              </a:spcBef>
            </a:pPr>
            <a:r>
              <a:rPr sz="1600" spc="-5" dirty="0">
                <a:latin typeface="Times New Roman"/>
                <a:cs typeface="Times New Roman"/>
              </a:rPr>
              <a:t>Smallest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second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2.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there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multiple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smallest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one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10" dirty="0">
                <a:latin typeface="Times New Roman"/>
                <a:cs typeface="Times New Roman"/>
              </a:rPr>
              <a:t>them.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first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put</a:t>
            </a:r>
            <a:r>
              <a:rPr sz="1600" spc="-5" dirty="0">
                <a:latin typeface="Times New Roman"/>
                <a:cs typeface="Times New Roman"/>
              </a:rPr>
              <a:t> 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040" y="3718966"/>
            <a:ext cx="81629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those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directly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vertex.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A,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C.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But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already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Marked,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5" dirty="0">
                <a:latin typeface="Times New Roman"/>
                <a:cs typeface="Times New Roman"/>
              </a:rPr>
              <a:t> chose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update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155" y="1857755"/>
            <a:ext cx="5475732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473" y="372897"/>
            <a:ext cx="7902575" cy="22205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Times New Roman"/>
                <a:cs typeface="Times New Roman"/>
              </a:rPr>
              <a:t>Update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formula: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tabLst>
                <a:tab pos="539750" algn="l"/>
                <a:tab pos="1679575" algn="l"/>
                <a:tab pos="2286635" algn="l"/>
                <a:tab pos="2548890" algn="l"/>
                <a:tab pos="3540760" algn="l"/>
                <a:tab pos="4081779" algn="l"/>
                <a:tab pos="5222240" algn="l"/>
                <a:tab pos="5882005" algn="l"/>
                <a:tab pos="6725284" algn="l"/>
                <a:tab pos="7449184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N</a:t>
            </a:r>
            <a:r>
              <a:rPr sz="1600" b="1" spc="-20" dirty="0">
                <a:latin typeface="Times New Roman"/>
                <a:cs typeface="Times New Roman"/>
              </a:rPr>
              <a:t>e</a:t>
            </a:r>
            <a:r>
              <a:rPr sz="1600" b="1" spc="-5" dirty="0">
                <a:latin typeface="Times New Roman"/>
                <a:cs typeface="Times New Roman"/>
              </a:rPr>
              <a:t>w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Destin</a:t>
            </a:r>
            <a:r>
              <a:rPr sz="1600" b="1" spc="10" dirty="0">
                <a:latin typeface="Times New Roman"/>
                <a:cs typeface="Times New Roman"/>
              </a:rPr>
              <a:t>a</a:t>
            </a:r>
            <a:r>
              <a:rPr sz="1600" b="1" spc="-5" dirty="0">
                <a:latin typeface="Times New Roman"/>
                <a:cs typeface="Times New Roman"/>
              </a:rPr>
              <a:t>tion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=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15" dirty="0">
                <a:latin typeface="Times New Roman"/>
                <a:cs typeface="Times New Roman"/>
              </a:rPr>
              <a:t>m</a:t>
            </a:r>
            <a:r>
              <a:rPr sz="1600" b="1" spc="-5" dirty="0">
                <a:latin typeface="Times New Roman"/>
                <a:cs typeface="Times New Roman"/>
              </a:rPr>
              <a:t>i</a:t>
            </a:r>
            <a:r>
              <a:rPr sz="1600" b="1" spc="5" dirty="0">
                <a:latin typeface="Times New Roman"/>
                <a:cs typeface="Times New Roman"/>
              </a:rPr>
              <a:t>ni</a:t>
            </a:r>
            <a:r>
              <a:rPr sz="1600" b="1" spc="-15" dirty="0">
                <a:latin typeface="Times New Roman"/>
                <a:cs typeface="Times New Roman"/>
              </a:rPr>
              <a:t>m</a:t>
            </a:r>
            <a:r>
              <a:rPr sz="1600" b="1" spc="15" dirty="0">
                <a:latin typeface="Times New Roman"/>
                <a:cs typeface="Times New Roman"/>
              </a:rPr>
              <a:t>u</a:t>
            </a:r>
            <a:r>
              <a:rPr sz="1600" b="1" spc="-5" dirty="0">
                <a:latin typeface="Times New Roman"/>
                <a:cs typeface="Times New Roman"/>
              </a:rPr>
              <a:t>m</a:t>
            </a:r>
            <a:r>
              <a:rPr sz="1600" b="1" dirty="0">
                <a:latin typeface="Times New Roman"/>
                <a:cs typeface="Times New Roman"/>
              </a:rPr>
              <a:t>	(</a:t>
            </a:r>
            <a:r>
              <a:rPr sz="1600" b="1" spc="-5" dirty="0">
                <a:latin typeface="Times New Roman"/>
                <a:cs typeface="Times New Roman"/>
              </a:rPr>
              <a:t>Old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De</a:t>
            </a:r>
            <a:r>
              <a:rPr sz="1600" b="1" spc="5" dirty="0">
                <a:latin typeface="Times New Roman"/>
                <a:cs typeface="Times New Roman"/>
              </a:rPr>
              <a:t>s</a:t>
            </a:r>
            <a:r>
              <a:rPr sz="1600" b="1" dirty="0">
                <a:latin typeface="Times New Roman"/>
                <a:cs typeface="Times New Roman"/>
              </a:rPr>
              <a:t>t</a:t>
            </a:r>
            <a:r>
              <a:rPr sz="1600" b="1" spc="-5" dirty="0">
                <a:latin typeface="Times New Roman"/>
                <a:cs typeface="Times New Roman"/>
              </a:rPr>
              <a:t>ination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value,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Mar</a:t>
            </a:r>
            <a:r>
              <a:rPr sz="1600" b="1" spc="-20" dirty="0">
                <a:latin typeface="Times New Roman"/>
                <a:cs typeface="Times New Roman"/>
              </a:rPr>
              <a:t>k</a:t>
            </a:r>
            <a:r>
              <a:rPr sz="1600" b="1" spc="-5" dirty="0">
                <a:latin typeface="Times New Roman"/>
                <a:cs typeface="Times New Roman"/>
              </a:rPr>
              <a:t>ed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value+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Ed</a:t>
            </a:r>
            <a:r>
              <a:rPr sz="1600" b="1" dirty="0">
                <a:latin typeface="Times New Roman"/>
                <a:cs typeface="Times New Roman"/>
              </a:rPr>
              <a:t>g</a:t>
            </a:r>
            <a:r>
              <a:rPr sz="1600" b="1" spc="-5" dirty="0">
                <a:latin typeface="Times New Roman"/>
                <a:cs typeface="Times New Roman"/>
              </a:rPr>
              <a:t>e  Weight)</a:t>
            </a:r>
            <a:endParaRPr sz="1600">
              <a:latin typeface="Times New Roman"/>
              <a:cs typeface="Times New Roman"/>
            </a:endParaRPr>
          </a:p>
          <a:p>
            <a:pPr marL="12700" marR="3085465">
              <a:lnSpc>
                <a:spcPct val="150000"/>
              </a:lnSpc>
            </a:pPr>
            <a:r>
              <a:rPr sz="1600" spc="-10" dirty="0">
                <a:latin typeface="Times New Roman"/>
                <a:cs typeface="Times New Roman"/>
              </a:rPr>
              <a:t>New</a:t>
            </a:r>
            <a:r>
              <a:rPr sz="1600" spc="-5" dirty="0">
                <a:latin typeface="Times New Roman"/>
                <a:cs typeface="Times New Roman"/>
              </a:rPr>
              <a:t> 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 =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2+4)=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minimum(</a:t>
            </a:r>
            <a:r>
              <a:rPr sz="1600" b="1" spc="-10" dirty="0">
                <a:latin typeface="Times New Roman"/>
                <a:cs typeface="Times New Roman"/>
              </a:rPr>
              <a:t>3</a:t>
            </a:r>
            <a:r>
              <a:rPr sz="1600" spc="-10" dirty="0">
                <a:latin typeface="Times New Roman"/>
                <a:cs typeface="Times New Roman"/>
              </a:rPr>
              <a:t>,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6)=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New</a:t>
            </a:r>
            <a:r>
              <a:rPr sz="1600" spc="-5" dirty="0">
                <a:latin typeface="Times New Roman"/>
                <a:cs typeface="Times New Roman"/>
              </a:rPr>
              <a:t> 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∞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2+2)=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minimum(</a:t>
            </a:r>
            <a:r>
              <a:rPr sz="1600" b="1" spc="-10" dirty="0">
                <a:latin typeface="Times New Roman"/>
                <a:cs typeface="Times New Roman"/>
              </a:rPr>
              <a:t>∞</a:t>
            </a:r>
            <a:r>
              <a:rPr sz="1600" spc="-10" dirty="0">
                <a:latin typeface="Times New Roman"/>
                <a:cs typeface="Times New Roman"/>
              </a:rPr>
              <a:t>,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4)=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all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remains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same.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Now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088" y="2699004"/>
            <a:ext cx="5740908" cy="1990344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621" y="454279"/>
            <a:ext cx="637921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Smallest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3rd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2.</a:t>
            </a:r>
            <a:r>
              <a:rPr sz="1600" spc="-5" dirty="0">
                <a:latin typeface="Times New Roman"/>
                <a:cs typeface="Times New Roman"/>
              </a:rPr>
              <a:t> So, we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first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 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121" y="3288262"/>
            <a:ext cx="8215630" cy="112395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those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directly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vertex.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F.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already</a:t>
            </a:r>
            <a:endParaRPr sz="1600">
              <a:latin typeface="Times New Roman"/>
              <a:cs typeface="Times New Roman"/>
            </a:endParaRPr>
          </a:p>
          <a:p>
            <a:pPr marL="12700" marR="5549900">
              <a:lnSpc>
                <a:spcPct val="150000"/>
              </a:lnSpc>
            </a:pPr>
            <a:r>
              <a:rPr sz="1600" spc="-5" dirty="0">
                <a:latin typeface="Times New Roman"/>
                <a:cs typeface="Times New Roman"/>
              </a:rPr>
              <a:t>Marked,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 we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chose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A.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update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5835" y="1458467"/>
            <a:ext cx="5184648" cy="2007107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479298"/>
            <a:ext cx="7955280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Update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formula: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600" b="1" spc="-10" dirty="0">
                <a:latin typeface="Times New Roman"/>
                <a:cs typeface="Times New Roman"/>
              </a:rPr>
              <a:t>New</a:t>
            </a:r>
            <a:r>
              <a:rPr sz="1600" b="1" spc="26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Destination</a:t>
            </a:r>
            <a:r>
              <a:rPr sz="1600" b="1" spc="2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spc="254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=</a:t>
            </a:r>
            <a:r>
              <a:rPr sz="1600" b="1" spc="2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minimum</a:t>
            </a:r>
            <a:r>
              <a:rPr sz="1600" b="1" spc="2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(Old</a:t>
            </a:r>
            <a:r>
              <a:rPr sz="1600" b="1" spc="27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Destination</a:t>
            </a:r>
            <a:r>
              <a:rPr sz="1600" b="1" spc="2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value,</a:t>
            </a:r>
            <a:r>
              <a:rPr sz="1600" b="1" spc="2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Marked</a:t>
            </a:r>
            <a:r>
              <a:rPr sz="1600" b="1" spc="28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value+Edge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Weight)</a:t>
            </a:r>
            <a:endParaRPr sz="1600">
              <a:latin typeface="Times New Roman"/>
              <a:cs typeface="Times New Roman"/>
            </a:endParaRPr>
          </a:p>
          <a:p>
            <a:pPr marL="12700" marR="3159760">
              <a:lnSpc>
                <a:spcPts val="4380"/>
              </a:lnSpc>
              <a:spcBef>
                <a:spcPts val="90"/>
              </a:spcBef>
            </a:pPr>
            <a:r>
              <a:rPr sz="1600" spc="-10" dirty="0">
                <a:latin typeface="Times New Roman"/>
                <a:cs typeface="Times New Roman"/>
              </a:rPr>
              <a:t>New</a:t>
            </a:r>
            <a:r>
              <a:rPr sz="1600" spc="-5" dirty="0">
                <a:latin typeface="Times New Roman"/>
                <a:cs typeface="Times New Roman"/>
              </a:rPr>
              <a:t> 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∞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2+3)=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minimum(</a:t>
            </a:r>
            <a:r>
              <a:rPr sz="1600" b="1" spc="-10" dirty="0">
                <a:latin typeface="Times New Roman"/>
                <a:cs typeface="Times New Roman"/>
              </a:rPr>
              <a:t>∞</a:t>
            </a:r>
            <a:r>
              <a:rPr sz="1600" spc="-10" dirty="0">
                <a:latin typeface="Times New Roman"/>
                <a:cs typeface="Times New Roman"/>
              </a:rPr>
              <a:t>,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5)=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 other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remains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Now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5832" y="2286000"/>
            <a:ext cx="5445252" cy="2235708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083" y="498729"/>
            <a:ext cx="642810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Now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Smallest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</a:t>
            </a:r>
            <a:r>
              <a:rPr sz="1575" baseline="26455" dirty="0">
                <a:latin typeface="Times New Roman"/>
                <a:cs typeface="Times New Roman"/>
              </a:rPr>
              <a:t>th</a:t>
            </a:r>
            <a:r>
              <a:rPr sz="1575" spc="217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3.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 as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932" y="1335024"/>
            <a:ext cx="5865876" cy="2825496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121" y="341099"/>
            <a:ext cx="8134984" cy="344551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65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those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directly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vertex.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A,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B,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C,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F.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already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chose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update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Update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value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formula: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latin typeface="Times New Roman"/>
                <a:cs typeface="Times New Roman"/>
              </a:rPr>
              <a:t>New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Destination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=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minimum</a:t>
            </a:r>
            <a:r>
              <a:rPr sz="1600" b="1" spc="6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(Old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Destination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value,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Marked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value+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Edge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Weight)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Times New Roman"/>
                <a:cs typeface="Times New Roman"/>
              </a:rPr>
              <a:t>New</a:t>
            </a:r>
            <a:r>
              <a:rPr sz="1600" spc="-5" dirty="0">
                <a:latin typeface="Times New Roman"/>
                <a:cs typeface="Times New Roman"/>
              </a:rPr>
              <a:t> 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C =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4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3+2)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4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5)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 marL="12700" marR="3274060">
              <a:lnSpc>
                <a:spcPct val="150000"/>
              </a:lnSpc>
              <a:spcBef>
                <a:spcPts val="5"/>
              </a:spcBef>
            </a:pPr>
            <a:r>
              <a:rPr sz="1600" spc="-10" dirty="0">
                <a:latin typeface="Times New Roman"/>
                <a:cs typeface="Times New Roman"/>
              </a:rPr>
              <a:t>New</a:t>
            </a:r>
            <a:r>
              <a:rPr sz="1600" spc="-5" dirty="0">
                <a:latin typeface="Times New Roman"/>
                <a:cs typeface="Times New Roman"/>
              </a:rPr>
              <a:t> 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5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4+3)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5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7)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 5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remains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Now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table is: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5835" y="355091"/>
            <a:ext cx="4788408" cy="18074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4702" y="2268473"/>
            <a:ext cx="6376035" cy="685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Now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repeat: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600" spc="-10" dirty="0">
                <a:latin typeface="Times New Roman"/>
                <a:cs typeface="Times New Roman"/>
              </a:rPr>
              <a:t>Smallest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 the </a:t>
            </a:r>
            <a:r>
              <a:rPr sz="1600" dirty="0">
                <a:latin typeface="Times New Roman"/>
                <a:cs typeface="Times New Roman"/>
              </a:rPr>
              <a:t>5th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4.</a:t>
            </a:r>
            <a:r>
              <a:rPr sz="1600" spc="-5" dirty="0">
                <a:latin typeface="Times New Roman"/>
                <a:cs typeface="Times New Roman"/>
              </a:rPr>
              <a:t> So, we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first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 as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939" y="3000755"/>
            <a:ext cx="4079748" cy="1796795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769" y="526161"/>
            <a:ext cx="7270750" cy="248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Now, Find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those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directly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vertex.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i.e.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D,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600" spc="-5" dirty="0">
                <a:latin typeface="Times New Roman"/>
                <a:cs typeface="Times New Roman"/>
              </a:rPr>
              <a:t>F.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But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already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Marked,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dirty="0">
                <a:latin typeface="Times New Roman"/>
                <a:cs typeface="Times New Roman"/>
              </a:rPr>
              <a:t> not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chose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D.Now,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update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Times New Roman"/>
                <a:cs typeface="Times New Roman"/>
              </a:rPr>
              <a:t>Update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formula: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tabLst>
                <a:tab pos="535305" algn="l"/>
                <a:tab pos="1669414" algn="l"/>
                <a:tab pos="2271395" algn="l"/>
                <a:tab pos="2528570" algn="l"/>
                <a:tab pos="3516629" algn="l"/>
                <a:tab pos="4051300" algn="l"/>
                <a:tab pos="5185410" algn="l"/>
                <a:tab pos="5840730" algn="l"/>
                <a:tab pos="667893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N</a:t>
            </a:r>
            <a:r>
              <a:rPr sz="1600" b="1" spc="-20" dirty="0">
                <a:latin typeface="Times New Roman"/>
                <a:cs typeface="Times New Roman"/>
              </a:rPr>
              <a:t>e</a:t>
            </a:r>
            <a:r>
              <a:rPr sz="1600" b="1" spc="-5" dirty="0">
                <a:latin typeface="Times New Roman"/>
                <a:cs typeface="Times New Roman"/>
              </a:rPr>
              <a:t>w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Destina</a:t>
            </a:r>
            <a:r>
              <a:rPr sz="1600" b="1" dirty="0">
                <a:latin typeface="Times New Roman"/>
                <a:cs typeface="Times New Roman"/>
              </a:rPr>
              <a:t>t</a:t>
            </a:r>
            <a:r>
              <a:rPr sz="1600" b="1" spc="-5" dirty="0">
                <a:latin typeface="Times New Roman"/>
                <a:cs typeface="Times New Roman"/>
              </a:rPr>
              <a:t>ion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value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=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15" dirty="0">
                <a:latin typeface="Times New Roman"/>
                <a:cs typeface="Times New Roman"/>
              </a:rPr>
              <a:t>m</a:t>
            </a:r>
            <a:r>
              <a:rPr sz="1600" b="1" spc="-5" dirty="0">
                <a:latin typeface="Times New Roman"/>
                <a:cs typeface="Times New Roman"/>
              </a:rPr>
              <a:t>i</a:t>
            </a:r>
            <a:r>
              <a:rPr sz="1600" b="1" spc="5" dirty="0">
                <a:latin typeface="Times New Roman"/>
                <a:cs typeface="Times New Roman"/>
              </a:rPr>
              <a:t>ni</a:t>
            </a:r>
            <a:r>
              <a:rPr sz="1600" b="1" spc="-15" dirty="0">
                <a:latin typeface="Times New Roman"/>
                <a:cs typeface="Times New Roman"/>
              </a:rPr>
              <a:t>m</a:t>
            </a:r>
            <a:r>
              <a:rPr sz="1600" b="1" spc="15" dirty="0">
                <a:latin typeface="Times New Roman"/>
                <a:cs typeface="Times New Roman"/>
              </a:rPr>
              <a:t>u</a:t>
            </a:r>
            <a:r>
              <a:rPr sz="1600" b="1" spc="-5" dirty="0">
                <a:latin typeface="Times New Roman"/>
                <a:cs typeface="Times New Roman"/>
              </a:rPr>
              <a:t>m</a:t>
            </a:r>
            <a:r>
              <a:rPr sz="1600" b="1" dirty="0">
                <a:latin typeface="Times New Roman"/>
                <a:cs typeface="Times New Roman"/>
              </a:rPr>
              <a:t>	(</a:t>
            </a:r>
            <a:r>
              <a:rPr sz="1600" b="1" spc="-5" dirty="0">
                <a:latin typeface="Times New Roman"/>
                <a:cs typeface="Times New Roman"/>
              </a:rPr>
              <a:t>Old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De</a:t>
            </a:r>
            <a:r>
              <a:rPr sz="1600" b="1" spc="5" dirty="0">
                <a:latin typeface="Times New Roman"/>
                <a:cs typeface="Times New Roman"/>
              </a:rPr>
              <a:t>s</a:t>
            </a:r>
            <a:r>
              <a:rPr sz="1600" b="1" dirty="0">
                <a:latin typeface="Times New Roman"/>
                <a:cs typeface="Times New Roman"/>
              </a:rPr>
              <a:t>t</a:t>
            </a:r>
            <a:r>
              <a:rPr sz="1600" b="1" spc="-5" dirty="0">
                <a:latin typeface="Times New Roman"/>
                <a:cs typeface="Times New Roman"/>
              </a:rPr>
              <a:t>ination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val</a:t>
            </a:r>
            <a:r>
              <a:rPr sz="1600" b="1" spc="5" dirty="0">
                <a:latin typeface="Times New Roman"/>
                <a:cs typeface="Times New Roman"/>
              </a:rPr>
              <a:t>u</a:t>
            </a:r>
            <a:r>
              <a:rPr sz="1600" b="1" spc="-5" dirty="0">
                <a:latin typeface="Times New Roman"/>
                <a:cs typeface="Times New Roman"/>
              </a:rPr>
              <a:t>e,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Mar</a:t>
            </a:r>
            <a:r>
              <a:rPr sz="1600" b="1" spc="-20" dirty="0">
                <a:latin typeface="Times New Roman"/>
                <a:cs typeface="Times New Roman"/>
              </a:rPr>
              <a:t>k</a:t>
            </a:r>
            <a:r>
              <a:rPr sz="1600" b="1" spc="-5" dirty="0">
                <a:latin typeface="Times New Roman"/>
                <a:cs typeface="Times New Roman"/>
              </a:rPr>
              <a:t>ed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value+  Weight)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Times New Roman"/>
                <a:cs typeface="Times New Roman"/>
              </a:rPr>
              <a:t>New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5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4+2)=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minimum(</a:t>
            </a:r>
            <a:r>
              <a:rPr sz="1600" b="1" spc="-5" dirty="0">
                <a:latin typeface="Times New Roman"/>
                <a:cs typeface="Times New Roman"/>
              </a:rPr>
              <a:t>5</a:t>
            </a:r>
            <a:r>
              <a:rPr sz="1600" spc="-5" dirty="0">
                <a:latin typeface="Times New Roman"/>
                <a:cs typeface="Times New Roman"/>
              </a:rPr>
              <a:t>,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6)=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other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remains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same.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Now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table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9242" y="1649729"/>
            <a:ext cx="466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Ed</a:t>
            </a:r>
            <a:r>
              <a:rPr sz="1600" b="1" dirty="0">
                <a:latin typeface="Times New Roman"/>
                <a:cs typeface="Times New Roman"/>
              </a:rPr>
              <a:t>g</a:t>
            </a:r>
            <a:r>
              <a:rPr sz="1600" b="1" spc="-5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983" y="3020567"/>
            <a:ext cx="4026408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415" y="433578"/>
            <a:ext cx="7880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As we</a:t>
            </a:r>
            <a:r>
              <a:rPr spc="10" dirty="0"/>
              <a:t> </a:t>
            </a:r>
            <a:r>
              <a:rPr spc="-5" dirty="0"/>
              <a:t>see</a:t>
            </a:r>
            <a:r>
              <a:rPr spc="15" dirty="0"/>
              <a:t> </a:t>
            </a:r>
            <a:r>
              <a:rPr spc="-5" dirty="0"/>
              <a:t>there</a:t>
            </a:r>
            <a:r>
              <a:rPr spc="20" dirty="0"/>
              <a:t> </a:t>
            </a:r>
            <a:r>
              <a:rPr spc="-5" dirty="0"/>
              <a:t>is</a:t>
            </a:r>
            <a:r>
              <a:rPr spc="15" dirty="0"/>
              <a:t> </a:t>
            </a:r>
            <a:r>
              <a:rPr spc="-5" dirty="0"/>
              <a:t>only</a:t>
            </a:r>
            <a:r>
              <a:rPr spc="10" dirty="0"/>
              <a:t> </a:t>
            </a:r>
            <a:r>
              <a:rPr dirty="0"/>
              <a:t>one </a:t>
            </a:r>
            <a:r>
              <a:rPr spc="-10" dirty="0"/>
              <a:t>unmarked</a:t>
            </a:r>
            <a:r>
              <a:rPr spc="55" dirty="0"/>
              <a:t> </a:t>
            </a:r>
            <a:r>
              <a:rPr spc="-5" dirty="0"/>
              <a:t>vertex</a:t>
            </a:r>
            <a:r>
              <a:rPr spc="15" dirty="0"/>
              <a:t> </a:t>
            </a:r>
            <a:r>
              <a:rPr spc="-5" dirty="0"/>
              <a:t>remaining</a:t>
            </a:r>
            <a:r>
              <a:rPr spc="45" dirty="0"/>
              <a:t> </a:t>
            </a:r>
            <a:r>
              <a:rPr spc="-5" dirty="0"/>
              <a:t>i.e.</a:t>
            </a:r>
            <a:r>
              <a:rPr spc="20" dirty="0"/>
              <a:t> </a:t>
            </a:r>
            <a:r>
              <a:rPr spc="-5" dirty="0"/>
              <a:t>F.</a:t>
            </a:r>
            <a:r>
              <a:rPr spc="10" dirty="0"/>
              <a:t> </a:t>
            </a:r>
            <a:r>
              <a:rPr spc="-5" dirty="0"/>
              <a:t>So</a:t>
            </a:r>
            <a:r>
              <a:rPr spc="5" dirty="0"/>
              <a:t> </a:t>
            </a:r>
            <a:r>
              <a:rPr spc="-10" dirty="0"/>
              <a:t>marked</a:t>
            </a:r>
            <a:r>
              <a:rPr spc="60" dirty="0"/>
              <a:t> </a:t>
            </a:r>
            <a:r>
              <a:rPr spc="-5" dirty="0"/>
              <a:t>5</a:t>
            </a:r>
            <a:r>
              <a:rPr spc="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15" dirty="0"/>
              <a:t>putF</a:t>
            </a:r>
            <a:r>
              <a:rPr dirty="0"/>
              <a:t> </a:t>
            </a:r>
            <a:r>
              <a:rPr spc="-5" dirty="0"/>
              <a:t>as</a:t>
            </a:r>
            <a:r>
              <a:rPr spc="15" dirty="0"/>
              <a:t> </a:t>
            </a:r>
            <a:r>
              <a:rPr spc="-5" dirty="0"/>
              <a:t>Marked.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0415" y="2961258"/>
            <a:ext cx="3239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So we cover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vertices.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over.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632" y="952500"/>
            <a:ext cx="4413504" cy="1862327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987" y="474725"/>
            <a:ext cx="7856220" cy="3957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Now,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4: </a:t>
            </a:r>
            <a:r>
              <a:rPr sz="1600" spc="-5" dirty="0">
                <a:latin typeface="Times New Roman"/>
                <a:cs typeface="Times New Roman"/>
              </a:rPr>
              <a:t>Find the shortest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source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backtracking.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Put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destination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‘shortest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path’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87500"/>
              <a:buAutoNum type="romanLcParenBoth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Set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pointer</a:t>
            </a:r>
            <a:r>
              <a:rPr sz="1600" spc="-5" dirty="0">
                <a:latin typeface="Times New Roman"/>
                <a:cs typeface="Times New Roman"/>
              </a:rPr>
              <a:t> 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last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5" dirty="0">
                <a:latin typeface="Times New Roman"/>
                <a:cs typeface="Times New Roman"/>
              </a:rPr>
              <a:t> and </a:t>
            </a:r>
            <a:r>
              <a:rPr sz="1600" dirty="0">
                <a:latin typeface="Times New Roman"/>
                <a:cs typeface="Times New Roman"/>
              </a:rPr>
              <a:t>put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‘shortest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path’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romanLcParenBoth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87500"/>
              <a:buAutoNum type="romanLcParenBoth"/>
              <a:tabLst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Move 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pointer</a:t>
            </a:r>
            <a:r>
              <a:rPr sz="1600" dirty="0">
                <a:latin typeface="Times New Roman"/>
                <a:cs typeface="Times New Roman"/>
              </a:rPr>
              <a:t> up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 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change.</a:t>
            </a:r>
            <a:endParaRPr sz="1600">
              <a:latin typeface="Times New Roman"/>
              <a:cs typeface="Times New Roman"/>
            </a:endParaRPr>
          </a:p>
          <a:p>
            <a:pPr marL="355600" marR="82550" indent="-342900">
              <a:lnSpc>
                <a:spcPct val="150000"/>
              </a:lnSpc>
              <a:spcBef>
                <a:spcPts val="1200"/>
              </a:spcBef>
              <a:buSzPct val="87500"/>
              <a:buAutoNum type="romanLcParenBoth"/>
              <a:tabLst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If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changed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move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pointer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‘shortest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path’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ts val="2880"/>
              </a:lnSpc>
              <a:spcBef>
                <a:spcPts val="105"/>
              </a:spcBef>
            </a:pPr>
            <a:r>
              <a:rPr sz="1600" spc="-5" dirty="0">
                <a:latin typeface="Times New Roman"/>
                <a:cs typeface="Times New Roman"/>
              </a:rPr>
              <a:t>Repeat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(ii)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(iii)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until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will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move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source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vertex.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last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‘shortest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path’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769" y="341099"/>
            <a:ext cx="7741920" cy="424434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65"/>
              </a:spcBef>
            </a:pPr>
            <a:r>
              <a:rPr sz="1600" b="1" spc="-5" dirty="0">
                <a:latin typeface="Times New Roman"/>
                <a:cs typeface="Times New Roman"/>
              </a:rPr>
              <a:t>Shortest </a:t>
            </a:r>
            <a:r>
              <a:rPr sz="1600" b="1" dirty="0">
                <a:latin typeface="Times New Roman"/>
                <a:cs typeface="Times New Roman"/>
              </a:rPr>
              <a:t>path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: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</a:pPr>
            <a:r>
              <a:rPr sz="1600" spc="-5" dirty="0">
                <a:latin typeface="Times New Roman"/>
                <a:cs typeface="Times New Roman"/>
              </a:rPr>
              <a:t>Now, Move the pointer </a:t>
            </a:r>
            <a:r>
              <a:rPr sz="1600" dirty="0">
                <a:latin typeface="Times New Roman"/>
                <a:cs typeface="Times New Roman"/>
              </a:rPr>
              <a:t>up, </a:t>
            </a:r>
            <a:r>
              <a:rPr sz="1600" spc="-5" dirty="0">
                <a:latin typeface="Times New Roman"/>
                <a:cs typeface="Times New Roman"/>
              </a:rPr>
              <a:t>the value is </a:t>
            </a:r>
            <a:r>
              <a:rPr sz="1600" dirty="0">
                <a:latin typeface="Times New Roman"/>
                <a:cs typeface="Times New Roman"/>
              </a:rPr>
              <a:t>same. </a:t>
            </a:r>
            <a:r>
              <a:rPr sz="1600" spc="-5" dirty="0">
                <a:latin typeface="Times New Roman"/>
                <a:cs typeface="Times New Roman"/>
              </a:rPr>
              <a:t>So again move the </a:t>
            </a:r>
            <a:r>
              <a:rPr sz="1600" dirty="0">
                <a:latin typeface="Times New Roman"/>
                <a:cs typeface="Times New Roman"/>
              </a:rPr>
              <a:t>pointer up </a:t>
            </a:r>
            <a:r>
              <a:rPr sz="1600" spc="-5" dirty="0">
                <a:latin typeface="Times New Roman"/>
                <a:cs typeface="Times New Roman"/>
              </a:rPr>
              <a:t>again, the value </a:t>
            </a:r>
            <a:r>
              <a:rPr sz="1600" spc="5" dirty="0">
                <a:latin typeface="Times New Roman"/>
                <a:cs typeface="Times New Roman"/>
              </a:rPr>
              <a:t>is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same.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again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pointer,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changed(infinity).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now,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move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pointer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marked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put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thevertex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‘shortest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path’ list.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Shortest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path 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-&gt;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100"/>
              </a:lnSpc>
              <a:spcBef>
                <a:spcPts val="1200"/>
              </a:spcBef>
            </a:pPr>
            <a:r>
              <a:rPr sz="1600" spc="-5" dirty="0">
                <a:latin typeface="Times New Roman"/>
                <a:cs typeface="Times New Roman"/>
              </a:rPr>
              <a:t>Now again, Move the </a:t>
            </a:r>
            <a:r>
              <a:rPr sz="1600" dirty="0">
                <a:latin typeface="Times New Roman"/>
                <a:cs typeface="Times New Roman"/>
              </a:rPr>
              <a:t>pointer </a:t>
            </a:r>
            <a:r>
              <a:rPr sz="1600" spc="-5" dirty="0">
                <a:latin typeface="Times New Roman"/>
                <a:cs typeface="Times New Roman"/>
              </a:rPr>
              <a:t>up, the value is </a:t>
            </a:r>
            <a:r>
              <a:rPr sz="1600" dirty="0">
                <a:latin typeface="Times New Roman"/>
                <a:cs typeface="Times New Roman"/>
              </a:rPr>
              <a:t>same. </a:t>
            </a:r>
            <a:r>
              <a:rPr sz="1600" spc="-5" dirty="0">
                <a:latin typeface="Times New Roman"/>
                <a:cs typeface="Times New Roman"/>
              </a:rPr>
              <a:t>So again </a:t>
            </a:r>
            <a:r>
              <a:rPr sz="1600" spc="-10" dirty="0">
                <a:latin typeface="Times New Roman"/>
                <a:cs typeface="Times New Roman"/>
              </a:rPr>
              <a:t>move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pointer </a:t>
            </a:r>
            <a:r>
              <a:rPr sz="1600" spc="-5" dirty="0">
                <a:latin typeface="Times New Roman"/>
                <a:cs typeface="Times New Roman"/>
              </a:rPr>
              <a:t>up </a:t>
            </a:r>
            <a:r>
              <a:rPr sz="1600" dirty="0">
                <a:latin typeface="Times New Roman"/>
                <a:cs typeface="Times New Roman"/>
              </a:rPr>
              <a:t>again, the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changed(infinity).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now,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move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pointer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marked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row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0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put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 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‘shortest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path’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list.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Shortest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path : 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-&gt;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-&gt;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So </a:t>
            </a:r>
            <a:r>
              <a:rPr sz="1600" b="1" spc="-10" dirty="0">
                <a:latin typeface="Times New Roman"/>
                <a:cs typeface="Times New Roman"/>
              </a:rPr>
              <a:t>minimum</a:t>
            </a:r>
            <a:r>
              <a:rPr sz="1600" b="1" spc="3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cost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from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to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is: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2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+ 3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=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49" y="577037"/>
            <a:ext cx="7954009" cy="305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Bellman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Ford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810"/>
              </a:spcBef>
            </a:pPr>
            <a:r>
              <a:rPr sz="1600" spc="-5" dirty="0">
                <a:latin typeface="Times New Roman"/>
                <a:cs typeface="Times New Roman"/>
              </a:rPr>
              <a:t>Given a </a:t>
            </a:r>
            <a:r>
              <a:rPr sz="1600" dirty="0">
                <a:latin typeface="Times New Roman"/>
                <a:cs typeface="Times New Roman"/>
              </a:rPr>
              <a:t>graph </a:t>
            </a:r>
            <a:r>
              <a:rPr sz="1600" spc="-5" dirty="0">
                <a:latin typeface="Times New Roman"/>
                <a:cs typeface="Times New Roman"/>
              </a:rPr>
              <a:t>and a source </a:t>
            </a:r>
            <a:r>
              <a:rPr sz="1600" dirty="0">
                <a:latin typeface="Times New Roman"/>
                <a:cs typeface="Times New Roman"/>
              </a:rPr>
              <a:t>vertex </a:t>
            </a:r>
            <a:r>
              <a:rPr sz="1600" b="1" i="1" dirty="0">
                <a:latin typeface="Times New Roman"/>
                <a:cs typeface="Times New Roman"/>
              </a:rPr>
              <a:t>src </a:t>
            </a:r>
            <a:r>
              <a:rPr sz="1600" spc="-5" dirty="0">
                <a:latin typeface="Times New Roman"/>
                <a:cs typeface="Times New Roman"/>
              </a:rPr>
              <a:t>in </a:t>
            </a:r>
            <a:r>
              <a:rPr sz="1600" dirty="0">
                <a:latin typeface="Times New Roman"/>
                <a:cs typeface="Times New Roman"/>
              </a:rPr>
              <a:t>graph, </a:t>
            </a:r>
            <a:r>
              <a:rPr sz="1600" spc="-5" dirty="0">
                <a:latin typeface="Times New Roman"/>
                <a:cs typeface="Times New Roman"/>
              </a:rPr>
              <a:t>find </a:t>
            </a:r>
            <a:r>
              <a:rPr sz="1600" dirty="0">
                <a:latin typeface="Times New Roman"/>
                <a:cs typeface="Times New Roman"/>
              </a:rPr>
              <a:t>shortest </a:t>
            </a:r>
            <a:r>
              <a:rPr sz="1600" spc="-5" dirty="0">
                <a:latin typeface="Times New Roman"/>
                <a:cs typeface="Times New Roman"/>
              </a:rPr>
              <a:t>paths </a:t>
            </a:r>
            <a:r>
              <a:rPr sz="1600" spc="5" dirty="0">
                <a:latin typeface="Times New Roman"/>
                <a:cs typeface="Times New Roman"/>
              </a:rPr>
              <a:t>from </a:t>
            </a:r>
            <a:r>
              <a:rPr sz="1600" b="1" i="1" dirty="0">
                <a:latin typeface="Times New Roman"/>
                <a:cs typeface="Times New Roman"/>
              </a:rPr>
              <a:t>src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all vertices </a:t>
            </a:r>
            <a:r>
              <a:rPr sz="1600" spc="-5" dirty="0">
                <a:latin typeface="Times New Roman"/>
                <a:cs typeface="Times New Roman"/>
              </a:rPr>
              <a:t>in the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given </a:t>
            </a:r>
            <a:r>
              <a:rPr sz="1600" dirty="0">
                <a:latin typeface="Times New Roman"/>
                <a:cs typeface="Times New Roman"/>
              </a:rPr>
              <a:t>graph. </a:t>
            </a:r>
            <a:r>
              <a:rPr sz="1600" spc="-5" dirty="0">
                <a:latin typeface="Times New Roman"/>
                <a:cs typeface="Times New Roman"/>
              </a:rPr>
              <a:t>The graph </a:t>
            </a:r>
            <a:r>
              <a:rPr sz="1600" spc="-10" dirty="0">
                <a:latin typeface="Times New Roman"/>
                <a:cs typeface="Times New Roman"/>
              </a:rPr>
              <a:t>may </a:t>
            </a:r>
            <a:r>
              <a:rPr sz="1600" spc="-5" dirty="0">
                <a:latin typeface="Times New Roman"/>
                <a:cs typeface="Times New Roman"/>
              </a:rPr>
              <a:t>contain negative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weight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edges. Dijkstra </a:t>
            </a:r>
            <a:r>
              <a:rPr sz="1600" spc="-15" dirty="0">
                <a:latin typeface="Times New Roman"/>
                <a:cs typeface="Times New Roman"/>
              </a:rPr>
              <a:t>doesn’t work </a:t>
            </a:r>
            <a:r>
              <a:rPr sz="1600" spc="-5" dirty="0">
                <a:latin typeface="Times New Roman"/>
                <a:cs typeface="Times New Roman"/>
              </a:rPr>
              <a:t>for </a:t>
            </a:r>
            <a:r>
              <a:rPr sz="1600" spc="-15" dirty="0">
                <a:latin typeface="Times New Roman"/>
                <a:cs typeface="Times New Roman"/>
              </a:rPr>
              <a:t>Graphs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 </a:t>
            </a:r>
            <a:r>
              <a:rPr sz="1600" dirty="0">
                <a:latin typeface="Times New Roman"/>
                <a:cs typeface="Times New Roman"/>
              </a:rPr>
              <a:t>negative weight </a:t>
            </a:r>
            <a:r>
              <a:rPr sz="1600" spc="-5" dirty="0">
                <a:latin typeface="Times New Roman"/>
                <a:cs typeface="Times New Roman"/>
              </a:rPr>
              <a:t>cycle, </a:t>
            </a:r>
            <a:r>
              <a:rPr sz="1600" dirty="0">
                <a:latin typeface="Times New Roman"/>
                <a:cs typeface="Times New Roman"/>
              </a:rPr>
              <a:t>Bellman-Ford </a:t>
            </a:r>
            <a:r>
              <a:rPr sz="1600" spc="-5" dirty="0">
                <a:latin typeface="Times New Roman"/>
                <a:cs typeface="Times New Roman"/>
              </a:rPr>
              <a:t>works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such graphs. </a:t>
            </a:r>
            <a:r>
              <a:rPr sz="1600" dirty="0">
                <a:latin typeface="Times New Roman"/>
                <a:cs typeface="Times New Roman"/>
              </a:rPr>
              <a:t>Bellman-Ford </a:t>
            </a:r>
            <a:r>
              <a:rPr sz="1600" spc="-5" dirty="0">
                <a:latin typeface="Times New Roman"/>
                <a:cs typeface="Times New Roman"/>
              </a:rPr>
              <a:t>is also </a:t>
            </a:r>
            <a:r>
              <a:rPr sz="1600" dirty="0">
                <a:latin typeface="Times New Roman"/>
                <a:cs typeface="Times New Roman"/>
              </a:rPr>
              <a:t>simpler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Dijkstra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suites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well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distributed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systems.</a:t>
            </a:r>
            <a:endParaRPr sz="1600">
              <a:latin typeface="Times New Roman"/>
              <a:cs typeface="Times New Roman"/>
            </a:endParaRPr>
          </a:p>
          <a:p>
            <a:pPr marL="12700" marR="15875" algn="just">
              <a:lnSpc>
                <a:spcPct val="150100"/>
              </a:lnSpc>
              <a:spcBef>
                <a:spcPts val="995"/>
              </a:spcBef>
            </a:pPr>
            <a:r>
              <a:rPr sz="1600" i="1" spc="-5" dirty="0">
                <a:latin typeface="Times New Roman"/>
                <a:cs typeface="Times New Roman"/>
              </a:rPr>
              <a:t>If there is a negative weight </a:t>
            </a:r>
            <a:r>
              <a:rPr sz="1600" i="1" dirty="0">
                <a:latin typeface="Times New Roman"/>
                <a:cs typeface="Times New Roman"/>
              </a:rPr>
              <a:t>cycle </a:t>
            </a:r>
            <a:r>
              <a:rPr sz="1600" i="1" spc="-5" dirty="0">
                <a:latin typeface="Times New Roman"/>
                <a:cs typeface="Times New Roman"/>
              </a:rPr>
              <a:t>(a cycle </a:t>
            </a:r>
            <a:r>
              <a:rPr sz="1600" i="1" dirty="0">
                <a:latin typeface="Times New Roman"/>
                <a:cs typeface="Times New Roman"/>
              </a:rPr>
              <a:t>of </a:t>
            </a:r>
            <a:r>
              <a:rPr sz="1600" i="1" spc="-5" dirty="0">
                <a:latin typeface="Times New Roman"/>
                <a:cs typeface="Times New Roman"/>
              </a:rPr>
              <a:t>graph whose sum value is </a:t>
            </a:r>
            <a:r>
              <a:rPr sz="1600" i="1" dirty="0">
                <a:latin typeface="Times New Roman"/>
                <a:cs typeface="Times New Roman"/>
              </a:rPr>
              <a:t>negative), </a:t>
            </a:r>
            <a:r>
              <a:rPr sz="1600" i="1" spc="-5" dirty="0">
                <a:latin typeface="Times New Roman"/>
                <a:cs typeface="Times New Roman"/>
              </a:rPr>
              <a:t>then </a:t>
            </a:r>
            <a:r>
              <a:rPr sz="1600" i="1" dirty="0">
                <a:latin typeface="Times New Roman"/>
                <a:cs typeface="Times New Roman"/>
              </a:rPr>
              <a:t>shortest 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distances </a:t>
            </a:r>
            <a:r>
              <a:rPr sz="1600" i="1" dirty="0">
                <a:latin typeface="Times New Roman"/>
                <a:cs typeface="Times New Roman"/>
              </a:rPr>
              <a:t>are not calculated, negative </a:t>
            </a:r>
            <a:r>
              <a:rPr sz="1600" i="1" spc="-5" dirty="0">
                <a:latin typeface="Times New Roman"/>
                <a:cs typeface="Times New Roman"/>
              </a:rPr>
              <a:t>weight cycle is reported, </a:t>
            </a:r>
            <a:r>
              <a:rPr sz="1600" i="1" dirty="0">
                <a:latin typeface="Times New Roman"/>
                <a:cs typeface="Times New Roman"/>
              </a:rPr>
              <a:t>this </a:t>
            </a:r>
            <a:r>
              <a:rPr sz="1600" i="1" spc="-5" dirty="0">
                <a:latin typeface="Times New Roman"/>
                <a:cs typeface="Times New Roman"/>
              </a:rPr>
              <a:t>is the drawback </a:t>
            </a:r>
            <a:r>
              <a:rPr sz="1600" i="1" dirty="0">
                <a:latin typeface="Times New Roman"/>
                <a:cs typeface="Times New Roman"/>
              </a:rPr>
              <a:t>of this 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algorithm.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0051" y="407288"/>
            <a:ext cx="7851775" cy="3923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15199"/>
              </a:lnSpc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2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step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initializes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distances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from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vertices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infinite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source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itself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</a:t>
            </a:r>
            <a:endParaRPr sz="1600">
              <a:latin typeface="Times New Roman"/>
              <a:cs typeface="Times New Roman"/>
            </a:endParaRPr>
          </a:p>
          <a:p>
            <a:pPr marL="12700" marR="1487805">
              <a:lnSpc>
                <a:spcPct val="109400"/>
              </a:lnSpc>
              <a:spcBef>
                <a:spcPts val="110"/>
              </a:spcBef>
            </a:pPr>
            <a:r>
              <a:rPr sz="1600" b="1" spc="-5" dirty="0">
                <a:latin typeface="Times New Roman"/>
                <a:cs typeface="Times New Roman"/>
              </a:rPr>
              <a:t>Step </a:t>
            </a:r>
            <a:r>
              <a:rPr sz="1600" b="1" dirty="0">
                <a:latin typeface="Times New Roman"/>
                <a:cs typeface="Times New Roman"/>
              </a:rPr>
              <a:t>2: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 step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calculates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shortest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distances.Do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following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edge u-v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 </a:t>
            </a:r>
            <a:r>
              <a:rPr sz="1600" b="1" spc="-5" dirty="0">
                <a:latin typeface="Times New Roman"/>
                <a:cs typeface="Times New Roman"/>
              </a:rPr>
              <a:t>d[u]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+ c[u,v]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&lt; d[v]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latin typeface="Times New Roman"/>
                <a:cs typeface="Times New Roman"/>
              </a:rPr>
              <a:t>Then,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d[v]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=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d[u]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+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c[u,v]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latin typeface="Times New Roman"/>
                <a:cs typeface="Times New Roman"/>
              </a:rPr>
              <a:t>Repeat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step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(n-1)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iteration.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600" b="1" spc="-5" dirty="0">
                <a:latin typeface="Times New Roman"/>
                <a:cs typeface="Times New Roman"/>
              </a:rPr>
              <a:t>Step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3: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complete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graph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weight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each </a:t>
            </a:r>
            <a:r>
              <a:rPr sz="1600" spc="-5" dirty="0">
                <a:latin typeface="Times New Roman"/>
                <a:cs typeface="Times New Roman"/>
              </a:rPr>
              <a:t>vertices.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 marR="6350">
              <a:lnSpc>
                <a:spcPct val="114999"/>
              </a:lnSpc>
            </a:pPr>
            <a:r>
              <a:rPr sz="1600" b="1" i="1" spc="-5" dirty="0">
                <a:latin typeface="Times New Roman"/>
                <a:cs typeface="Times New Roman"/>
              </a:rPr>
              <a:t>Note:</a:t>
            </a:r>
            <a:r>
              <a:rPr sz="1600" b="1" i="1" spc="6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If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we</a:t>
            </a:r>
            <a:r>
              <a:rPr sz="1600" i="1" spc="5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repeat</a:t>
            </a:r>
            <a:r>
              <a:rPr sz="1600" i="1" spc="65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step</a:t>
            </a:r>
            <a:r>
              <a:rPr sz="1600" b="1" i="1" spc="65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2</a:t>
            </a:r>
            <a:r>
              <a:rPr sz="1600" b="1" i="1" spc="6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one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more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than</a:t>
            </a:r>
            <a:r>
              <a:rPr sz="1600" i="1" spc="7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(</a:t>
            </a:r>
            <a:r>
              <a:rPr sz="1600" b="1" i="1" spc="-5" dirty="0">
                <a:latin typeface="Times New Roman"/>
                <a:cs typeface="Times New Roman"/>
              </a:rPr>
              <a:t>n-1</a:t>
            </a:r>
            <a:r>
              <a:rPr sz="1600" i="1" spc="-5" dirty="0">
                <a:latin typeface="Times New Roman"/>
                <a:cs typeface="Times New Roman"/>
              </a:rPr>
              <a:t>)</a:t>
            </a:r>
            <a:r>
              <a:rPr sz="1600" i="1" spc="5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times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and</a:t>
            </a:r>
            <a:r>
              <a:rPr sz="1600" i="1" spc="5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get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shorter</a:t>
            </a:r>
            <a:r>
              <a:rPr sz="1600" i="1" spc="6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path</a:t>
            </a:r>
            <a:r>
              <a:rPr sz="1600" i="1" spc="7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for</a:t>
            </a:r>
            <a:r>
              <a:rPr sz="1600" i="1" spc="4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any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vertex,</a:t>
            </a:r>
            <a:r>
              <a:rPr sz="1600" i="1" spc="5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then </a:t>
            </a:r>
            <a:r>
              <a:rPr sz="1600" i="1" spc="-38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there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is</a:t>
            </a:r>
            <a:r>
              <a:rPr sz="1600" i="1" spc="2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negative</a:t>
            </a:r>
            <a:r>
              <a:rPr sz="1600" i="1" spc="2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weight</a:t>
            </a:r>
            <a:r>
              <a:rPr sz="1600" i="1" spc="1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cycle.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348" y="523748"/>
            <a:ext cx="7588884" cy="1121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Example:</a:t>
            </a:r>
            <a:r>
              <a:rPr sz="1600" b="1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possible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routes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vertex</a:t>
            </a:r>
            <a:r>
              <a:rPr sz="1600" spc="3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</a:t>
            </a:r>
            <a:r>
              <a:rPr sz="1600" b="1" spc="3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to</a:t>
            </a:r>
            <a:r>
              <a:rPr sz="1600" b="1" spc="3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r>
              <a:rPr sz="1600" b="1" spc="3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using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Distance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vectoralgorithm.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600" b="1" spc="-5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600" b="1" spc="-5" dirty="0">
                <a:latin typeface="Times New Roman"/>
                <a:cs typeface="Times New Roman"/>
              </a:rPr>
              <a:t>Routes: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(AB)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(AC)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(AD)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(BE)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(CB)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(CE)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(DC)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(DF)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(EF)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0" y="1776983"/>
            <a:ext cx="5087111" cy="3058667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11" y="396240"/>
            <a:ext cx="4191000" cy="34046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6884" y="618744"/>
            <a:ext cx="3945636" cy="26532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13048</Words>
  <Application>Microsoft Office PowerPoint</Application>
  <PresentationFormat>On-screen Show (16:9)</PresentationFormat>
  <Paragraphs>1033</Paragraphs>
  <Slides>173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173</vt:i4>
      </vt:variant>
    </vt:vector>
  </HeadingPairs>
  <TitlesOfParts>
    <vt:vector size="181" baseType="lpstr">
      <vt:lpstr>Arial MT</vt:lpstr>
      <vt:lpstr>Calibri</vt:lpstr>
      <vt:lpstr>Cambria Math</vt:lpstr>
      <vt:lpstr>Google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Height of tree</vt:lpstr>
      <vt:lpstr>PowerPoint Presentation</vt:lpstr>
      <vt:lpstr>PowerPoint Presentation</vt:lpstr>
      <vt:lpstr>Degree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Binary Tree Representations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Inorder Traversal</vt:lpstr>
      <vt:lpstr>PowerPoint Presentation</vt:lpstr>
      <vt:lpstr>Postorder Traversal : E F D B G H C A</vt:lpstr>
      <vt:lpstr>PowerPoint Presentation</vt:lpstr>
      <vt:lpstr>PowerPoint Presentation</vt:lpstr>
      <vt:lpstr>Balanced binary trees</vt:lpstr>
      <vt:lpstr>Height balanced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example, B-Tree of Order 4 contains a maximum of 3 key values in a node and maximum of 4 children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4: Now assign left child as 0 and right child as 1 to encode the frequencies.</vt:lpstr>
      <vt:lpstr>PowerPoint Presentation</vt:lpstr>
      <vt:lpstr>PowerPoint Presentation</vt:lpstr>
      <vt:lpstr>PowerPoint Presentation</vt:lpstr>
      <vt:lpstr>Step 5: Assign 0 to left branches, 1 to right  branches, Each encoding is a path from the root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 the turn goes to player Max, which take maximum value from node B and C to  node A i.e. 2.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Complete Graph: A graph in which any V node is adjacent to all other nodes present in the  graph is known as a complete graph. An undirected graph contains the edges that are equal to  edges = n(n-1)/2 where n is the number of vertices present in the graph. The following figure  shows a complete graph.</vt:lpstr>
      <vt:lpstr>5. Cycle Graph: A graph having cycle is called cycle graph. In this case the first and last  nodes are the same. A closed simple path is a cycle.</vt:lpstr>
      <vt:lpstr>PowerPoint Presentation</vt:lpstr>
      <vt:lpstr>PowerPoint Presentation</vt:lpstr>
      <vt:lpstr>Representation of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Find the  Warshall’s algorithm.</vt:lpstr>
      <vt:lpstr>PowerPoint Presentation</vt:lpstr>
      <vt:lpstr>Likewise find all the distance between vertices</vt:lpstr>
      <vt:lpstr>Create a distance matrix (D3) for all the vertex of the graph which are connectedvia vertex 3.</vt:lpstr>
      <vt:lpstr>PowerPoint Presentation</vt:lpstr>
      <vt:lpstr>PowerPoint Presentation</vt:lpstr>
      <vt:lpstr>PowerPoint Presentation</vt:lpstr>
      <vt:lpstr>PowerPoint Presentation</vt:lpstr>
      <vt:lpstr>Step 2: Visit all the adjacent vertices of A which are not visited (B,D,E) and insert newly visited  vertices into the queue and delete A from queue.</vt:lpstr>
      <vt:lpstr>PowerPoint Presentation</vt:lpstr>
      <vt:lpstr>Step 6: Visit all the adjacent vertices of C which are not visited (G) and insert newly  visited vertices into the queue and delete C from queue.</vt:lpstr>
      <vt:lpstr>PowerPoint Presentation</vt:lpstr>
      <vt:lpstr>DFS (Depth First Search)</vt:lpstr>
      <vt:lpstr>PowerPoint Presentation</vt:lpstr>
      <vt:lpstr>Example: Visit and display all the value of following graph using DFS traversal.</vt:lpstr>
      <vt:lpstr>PowerPoint Presentation</vt:lpstr>
      <vt:lpstr>Step 4: Visit any one adjacent vertex of C which is not visited (E), push newly visited  vertex E into the stack.</vt:lpstr>
      <vt:lpstr>Step 6: Visit any one adjacent vertex of D which is not visited (no vertex). So, use back  tracking and pop D from the stack.</vt:lpstr>
      <vt:lpstr>Step 8: Visit any one adjacent vertex of F which is not visited (G), push newly visited  vertex G into the stack.</vt:lpstr>
      <vt:lpstr>Step 10: Visit any one adjacent vertex of F which is not visited (no vertex). So, use back  tracking and pop F from the stack.</vt:lpstr>
      <vt:lpstr>Step 12: Visit any one adjacent vertex of C which is not visited (no vertex). So, use back  tracking and pop C from the stack.</vt:lpstr>
      <vt:lpstr>Step 14: Visit any one adjacent vertex of A which is not visited (no vertex). So, use back  tracking and pop A from the stack.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Pseudocode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Step-6: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Update value formula: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 we see there is only one unmarked vertex remaining i.e. F. So marked 5 and putF as Marked.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</dc:title>
  <dc:creator>KAKASHI</dc:creator>
  <cp:lastModifiedBy>Ayush Tuladhar</cp:lastModifiedBy>
  <cp:revision>9</cp:revision>
  <dcterms:created xsi:type="dcterms:W3CDTF">2023-02-03T06:01:29Z</dcterms:created>
  <dcterms:modified xsi:type="dcterms:W3CDTF">2026-03-02T12:52:32Z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2023-02-03T00:00:00Z</vt:filetime>
  </property>
</Properties>
</file>